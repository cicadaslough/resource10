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7" r:id="rId2"/>
    <p:sldId id="260" r:id="rId3"/>
    <p:sldId id="1424" r:id="rId4"/>
    <p:sldId id="1426" r:id="rId5"/>
    <p:sldId id="1427" r:id="rId6"/>
    <p:sldId id="1428" r:id="rId7"/>
    <p:sldId id="1429" r:id="rId8"/>
    <p:sldId id="1430" r:id="rId9"/>
    <p:sldId id="1431" r:id="rId10"/>
    <p:sldId id="1432" r:id="rId11"/>
    <p:sldId id="1425" r:id="rId12"/>
  </p:sldIdLst>
  <p:sldSz cx="12192000" cy="6858000"/>
  <p:notesSz cx="6858000" cy="9144000"/>
  <p:embeddedFontLst>
    <p:embeddedFont>
      <p:font typeface="思源黑体 CN ExtraLight" panose="02010600030101010101" charset="-122"/>
      <p:regular r:id="rId14"/>
    </p:embeddedFont>
    <p:embeddedFont>
      <p:font typeface="思源黑体 CN Heavy" panose="02010600030101010101" charset="-122"/>
      <p:bold r:id="rId15"/>
    </p:embeddedFont>
    <p:embeddedFont>
      <p:font typeface="Impact" panose="020B0806030902050204" pitchFamily="34" charset="0"/>
      <p:regular r:id="rId16"/>
    </p:embeddedFont>
    <p:embeddedFont>
      <p:font typeface="等线" panose="02010600030101010101" pitchFamily="2" charset="-122"/>
      <p:regular r:id="rId17"/>
      <p:bold r:id="rId18"/>
    </p:embeddedFont>
  </p:embeddedFontLst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38" userDrawn="1">
          <p15:clr>
            <a:srgbClr val="A4A3A4"/>
          </p15:clr>
        </p15:guide>
        <p15:guide id="4" pos="7265" userDrawn="1">
          <p15:clr>
            <a:srgbClr val="A4A3A4"/>
          </p15:clr>
        </p15:guide>
        <p15:guide id="5" orient="horz" pos="640" userDrawn="1">
          <p15:clr>
            <a:srgbClr val="A4A3A4"/>
          </p15:clr>
        </p15:guide>
        <p15:guide id="6" orient="horz" pos="754" userDrawn="1">
          <p15:clr>
            <a:srgbClr val="A4A3A4"/>
          </p15:clr>
        </p15:guide>
        <p15:guide id="7" orient="horz" pos="3928" userDrawn="1">
          <p15:clr>
            <a:srgbClr val="A4A3A4"/>
          </p15:clr>
        </p15:guide>
        <p15:guide id="8" orient="horz" pos="3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38" autoAdjust="0"/>
    <p:restoredTop sz="96366" autoAdjust="0"/>
  </p:normalViewPr>
  <p:slideViewPr>
    <p:cSldViewPr snapToGrid="0" showGuides="1">
      <p:cViewPr varScale="1">
        <p:scale>
          <a:sx n="110" d="100"/>
          <a:sy n="110" d="100"/>
        </p:scale>
        <p:origin x="678" y="126"/>
      </p:cViewPr>
      <p:guideLst>
        <p:guide orient="horz" pos="2251"/>
        <p:guide pos="3840"/>
        <p:guide pos="438"/>
        <p:guide pos="7265"/>
        <p:guide orient="horz" pos="640"/>
        <p:guide orient="horz" pos="754"/>
        <p:guide orient="horz" pos="3928"/>
        <p:guide orient="horz" pos="386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37AE68-7457-4C6A-93C4-9D806745E19E}" type="datetimeFigureOut">
              <a:rPr lang="zh-CN" altLang="en-US" smtClean="0"/>
              <a:t>2025/7/13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4D6D7-8E66-4ED8-A73A-468FC76EB3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267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A4D6D7-8E66-4ED8-A73A-468FC76EB38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385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E34DD39-1B40-4493-A796-9E8A1EF0D650}"/>
              </a:ext>
            </a:extLst>
          </p:cNvPr>
          <p:cNvSpPr/>
          <p:nvPr userDrawn="1"/>
        </p:nvSpPr>
        <p:spPr>
          <a:xfrm>
            <a:off x="2156638" y="2222205"/>
            <a:ext cx="7878725" cy="2690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dirty="0"/>
              <a:t>原创作品，请勿搬运转卖</a:t>
            </a:r>
          </a:p>
        </p:txBody>
      </p:sp>
    </p:spTree>
    <p:extLst>
      <p:ext uri="{BB962C8B-B14F-4D97-AF65-F5344CB8AC3E}">
        <p14:creationId xmlns:p14="http://schemas.microsoft.com/office/powerpoint/2010/main" val="139041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0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4969631B-2C89-4FEC-8A99-187A3DD789C2}"/>
              </a:ext>
            </a:extLst>
          </p:cNvPr>
          <p:cNvGrpSpPr/>
          <p:nvPr userDrawn="1"/>
        </p:nvGrpSpPr>
        <p:grpSpPr>
          <a:xfrm>
            <a:off x="0" y="389872"/>
            <a:ext cx="684000" cy="409364"/>
            <a:chOff x="0" y="376811"/>
            <a:chExt cx="684000" cy="409364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81BABCF-106F-41E9-8ACF-150E28B5C025}"/>
                </a:ext>
              </a:extLst>
            </p:cNvPr>
            <p:cNvSpPr/>
            <p:nvPr userDrawn="1"/>
          </p:nvSpPr>
          <p:spPr>
            <a:xfrm>
              <a:off x="0" y="376811"/>
              <a:ext cx="684000" cy="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797DA0E-471A-453B-8798-D46830C26DF0}"/>
                </a:ext>
              </a:extLst>
            </p:cNvPr>
            <p:cNvSpPr/>
            <p:nvPr userDrawn="1"/>
          </p:nvSpPr>
          <p:spPr>
            <a:xfrm>
              <a:off x="0" y="714175"/>
              <a:ext cx="684000" cy="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A12A40C-0A56-476D-A630-F6E5FD72625D}"/>
                </a:ext>
              </a:extLst>
            </p:cNvPr>
            <p:cNvSpPr/>
            <p:nvPr userDrawn="1"/>
          </p:nvSpPr>
          <p:spPr>
            <a:xfrm>
              <a:off x="228700" y="545493"/>
              <a:ext cx="455300" cy="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2703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3789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6" r:id="rId2"/>
    <p:sldLayoutId id="2147483657" r:id="rId3"/>
  </p:sldLayoutIdLst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16" userDrawn="1">
          <p15:clr>
            <a:srgbClr val="F26B43"/>
          </p15:clr>
        </p15:guide>
        <p15:guide id="4" pos="7256" userDrawn="1">
          <p15:clr>
            <a:srgbClr val="F26B43"/>
          </p15:clr>
        </p15:guide>
        <p15:guide id="5" orient="horz" pos="648" userDrawn="1">
          <p15:clr>
            <a:srgbClr val="F26B43"/>
          </p15:clr>
        </p15:guide>
        <p15:guide id="6" orient="horz" pos="712" userDrawn="1">
          <p15:clr>
            <a:srgbClr val="F26B43"/>
          </p15:clr>
        </p15:guide>
        <p15:guide id="7" orient="horz" pos="3928" userDrawn="1">
          <p15:clr>
            <a:srgbClr val="F26B43"/>
          </p15:clr>
        </p15:guide>
        <p15:guide id="8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CF02B9A6-196E-46BA-98CD-6F6086EF19AD}"/>
              </a:ext>
            </a:extLst>
          </p:cNvPr>
          <p:cNvGrpSpPr/>
          <p:nvPr/>
        </p:nvGrpSpPr>
        <p:grpSpPr>
          <a:xfrm>
            <a:off x="0" y="-346816"/>
            <a:ext cx="12192001" cy="7204816"/>
            <a:chOff x="0" y="-346815"/>
            <a:chExt cx="12192001" cy="720481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4167BBC-4265-447E-B485-A1D961AFE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0" y="1"/>
              <a:ext cx="12192000" cy="6858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8E0B7D01-1CE9-4F1B-903B-0DC2D77DE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484"/>
            <a:stretch>
              <a:fillRect/>
            </a:stretch>
          </p:blipFill>
          <p:spPr>
            <a:xfrm>
              <a:off x="3569368" y="-346815"/>
              <a:ext cx="8622633" cy="7204816"/>
            </a:xfrm>
            <a:custGeom>
              <a:avLst/>
              <a:gdLst>
                <a:gd name="connsiteX0" fmla="*/ 0 w 8422105"/>
                <a:gd name="connsiteY0" fmla="*/ 0 h 7037261"/>
                <a:gd name="connsiteX1" fmla="*/ 8422105 w 8422105"/>
                <a:gd name="connsiteY1" fmla="*/ 0 h 7037261"/>
                <a:gd name="connsiteX2" fmla="*/ 8422105 w 8422105"/>
                <a:gd name="connsiteY2" fmla="*/ 7037261 h 7037261"/>
                <a:gd name="connsiteX3" fmla="*/ 0 w 8422105"/>
                <a:gd name="connsiteY3" fmla="*/ 7037261 h 7037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22105" h="7037261">
                  <a:moveTo>
                    <a:pt x="0" y="0"/>
                  </a:moveTo>
                  <a:lnTo>
                    <a:pt x="8422105" y="0"/>
                  </a:lnTo>
                  <a:lnTo>
                    <a:pt x="8422105" y="7037261"/>
                  </a:lnTo>
                  <a:lnTo>
                    <a:pt x="0" y="7037261"/>
                  </a:lnTo>
                  <a:close/>
                </a:path>
              </a:pathLst>
            </a:custGeom>
            <a:ln>
              <a:noFill/>
            </a:ln>
          </p:spPr>
        </p:pic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F4CA7958-FCD9-4A14-B9CD-C843C21392DB}"/>
              </a:ext>
            </a:extLst>
          </p:cNvPr>
          <p:cNvSpPr/>
          <p:nvPr/>
        </p:nvSpPr>
        <p:spPr>
          <a:xfrm>
            <a:off x="922421" y="2741444"/>
            <a:ext cx="6846829" cy="6784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52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合肥迪措机电有限公司业务能力介绍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B54224A-4A9F-4CDE-A590-3109FE7242B1}"/>
              </a:ext>
            </a:extLst>
          </p:cNvPr>
          <p:cNvSpPr/>
          <p:nvPr/>
        </p:nvSpPr>
        <p:spPr>
          <a:xfrm>
            <a:off x="1031135" y="3675674"/>
            <a:ext cx="6629400" cy="6784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zh-CN" sz="1400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BUSINESS COMPANY INTRODUCTION</a:t>
            </a:r>
            <a:endParaRPr lang="zh-CN" altLang="en-US" sz="1400" dirty="0">
              <a:solidFill>
                <a:schemeClr val="bg1"/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F3F9C83-9DE4-4A7B-8CE2-D021EB59CA7B}"/>
              </a:ext>
            </a:extLst>
          </p:cNvPr>
          <p:cNvSpPr/>
          <p:nvPr/>
        </p:nvSpPr>
        <p:spPr>
          <a:xfrm>
            <a:off x="922421" y="4579372"/>
            <a:ext cx="5064865" cy="6784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中国</a:t>
            </a:r>
            <a:r>
              <a:rPr lang="en-US" altLang="zh-CN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-</a:t>
            </a:r>
            <a:r>
              <a:rPr lang="zh-CN" altLang="en-US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合肥          　 </a:t>
            </a:r>
            <a:r>
              <a:rPr lang="en-US" altLang="zh-CN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2025</a:t>
            </a:r>
            <a:r>
              <a:rPr lang="zh-CN" altLang="en-US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年</a:t>
            </a:r>
          </a:p>
        </p:txBody>
      </p:sp>
    </p:spTree>
    <p:extLst>
      <p:ext uri="{BB962C8B-B14F-4D97-AF65-F5344CB8AC3E}">
        <p14:creationId xmlns:p14="http://schemas.microsoft.com/office/powerpoint/2010/main" val="686320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4167BBC-4265-447E-B485-A1D961AFE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DD5D6C7-A171-459E-8DBE-3AD286531F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82" b="2484"/>
          <a:stretch/>
        </p:blipFill>
        <p:spPr>
          <a:xfrm flipH="1">
            <a:off x="0" y="-346816"/>
            <a:ext cx="8141370" cy="7204816"/>
          </a:xfrm>
          <a:custGeom>
            <a:avLst/>
            <a:gdLst>
              <a:gd name="connsiteX0" fmla="*/ 0 w 8422105"/>
              <a:gd name="connsiteY0" fmla="*/ 0 h 7037261"/>
              <a:gd name="connsiteX1" fmla="*/ 8422105 w 8422105"/>
              <a:gd name="connsiteY1" fmla="*/ 0 h 7037261"/>
              <a:gd name="connsiteX2" fmla="*/ 8422105 w 8422105"/>
              <a:gd name="connsiteY2" fmla="*/ 7037261 h 7037261"/>
              <a:gd name="connsiteX3" fmla="*/ 0 w 8422105"/>
              <a:gd name="connsiteY3" fmla="*/ 7037261 h 703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22105" h="7037261">
                <a:moveTo>
                  <a:pt x="0" y="0"/>
                </a:moveTo>
                <a:lnTo>
                  <a:pt x="8422105" y="0"/>
                </a:lnTo>
                <a:lnTo>
                  <a:pt x="8422105" y="7037261"/>
                </a:lnTo>
                <a:lnTo>
                  <a:pt x="0" y="7037261"/>
                </a:lnTo>
                <a:close/>
              </a:path>
            </a:pathLst>
          </a:custGeom>
          <a:ln>
            <a:noFill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A9538A1-5AE3-4EEE-933A-5F4B047AC429}"/>
              </a:ext>
            </a:extLst>
          </p:cNvPr>
          <p:cNvSpPr/>
          <p:nvPr/>
        </p:nvSpPr>
        <p:spPr>
          <a:xfrm>
            <a:off x="7965148" y="1685884"/>
            <a:ext cx="3098520" cy="1955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3900" dirty="0">
                <a:solidFill>
                  <a:schemeClr val="lt1">
                    <a:alpha val="25000"/>
                  </a:schemeClr>
                </a:solidFill>
                <a:latin typeface="Impact" panose="020B0806030902050204" pitchFamily="34" charset="0"/>
                <a:ea typeface="思源黑体 CN Heavy" panose="020B0A00000000000000" pitchFamily="34" charset="-122"/>
              </a:rPr>
              <a:t>01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D5E3A0-6F89-4DF8-99EF-8F5059A611FB}"/>
              </a:ext>
            </a:extLst>
          </p:cNvPr>
          <p:cNvSpPr/>
          <p:nvPr/>
        </p:nvSpPr>
        <p:spPr>
          <a:xfrm>
            <a:off x="7711148" y="2237948"/>
            <a:ext cx="3352520" cy="850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PART ONE</a:t>
            </a:r>
            <a:endParaRPr lang="zh-CN" altLang="en-US" sz="4800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7F893E3-0E6C-465B-BBC5-FA1151755468}"/>
              </a:ext>
            </a:extLst>
          </p:cNvPr>
          <p:cNvGrpSpPr/>
          <p:nvPr/>
        </p:nvGrpSpPr>
        <p:grpSpPr>
          <a:xfrm>
            <a:off x="7886767" y="3875205"/>
            <a:ext cx="3255281" cy="1764583"/>
            <a:chOff x="7759769" y="3648984"/>
            <a:chExt cx="3255281" cy="1764583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8C50049-C212-4620-9361-349067E2FD69}"/>
                </a:ext>
              </a:extLst>
            </p:cNvPr>
            <p:cNvSpPr/>
            <p:nvPr/>
          </p:nvSpPr>
          <p:spPr>
            <a:xfrm>
              <a:off x="7759769" y="3648984"/>
              <a:ext cx="3255281" cy="12232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5400" dirty="0"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经典案例</a:t>
              </a: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6E7F4D4B-07FC-4243-BA45-8A3CEA4C22FE}"/>
                </a:ext>
              </a:extLst>
            </p:cNvPr>
            <p:cNvSpPr/>
            <p:nvPr/>
          </p:nvSpPr>
          <p:spPr>
            <a:xfrm>
              <a:off x="7871896" y="4190355"/>
              <a:ext cx="3031027" cy="12232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思源黑体 CN ExtraLight" panose="020B0200000000000000" pitchFamily="34" charset="-122"/>
                  <a:ea typeface="思源黑体 CN ExtraLight" panose="020B0200000000000000" pitchFamily="34" charset="-122"/>
                </a:rPr>
                <a:t>SUCCESSFUL CASES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E190974C-237C-4B0D-B3EA-2B658F52B9E4}"/>
              </a:ext>
            </a:extLst>
          </p:cNvPr>
          <p:cNvSpPr/>
          <p:nvPr/>
        </p:nvSpPr>
        <p:spPr>
          <a:xfrm rot="1920449">
            <a:off x="97826" y="1131367"/>
            <a:ext cx="2415557" cy="1934625"/>
          </a:xfrm>
          <a:prstGeom prst="rect">
            <a:avLst/>
          </a:prstGeom>
          <a:noFill/>
          <a:ln>
            <a:noFill/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solidFill>
                  <a:schemeClr val="accent1"/>
                </a:solidFill>
                <a:latin typeface="Impact" panose="020B0806030902050204" pitchFamily="34" charset="0"/>
              </a:rPr>
              <a:t>LOGO</a:t>
            </a:r>
            <a:endParaRPr lang="zh-CN" altLang="en-US" sz="60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583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A2099F8F-AAB7-472E-A7EE-367C65514607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(1)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几何建模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306E39F-BED0-3F61-97BE-3C03EDA28096}"/>
              </a:ext>
            </a:extLst>
          </p:cNvPr>
          <p:cNvSpPr txBox="1"/>
          <p:nvPr/>
        </p:nvSpPr>
        <p:spPr>
          <a:xfrm>
            <a:off x="357855" y="1127082"/>
            <a:ext cx="6379543" cy="4615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项目名称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: </a:t>
            </a: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堆芯设计仿真系统前处理几何建模模块</a:t>
            </a:r>
            <a:endParaRPr lang="en-US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前处理几何建模模块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核工业堆芯设计仿真系统中</a:t>
            </a:r>
            <a:r>
              <a:rPr lang="zh-CN" altLang="zh-CN" b="1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跨平台的三维可视化堆芯建模工具，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既支持用户交互式设计堆芯，同时支持堆芯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CGS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格式几何模型渲染。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OCC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几何建模引擎，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VTK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可视化渲染、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Qt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应用框架；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并行处理大规模几何运算和网格离散数据，加速可视化渲染；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针对堆芯业务需求，支持层级显示、材料过滤、模型检查、平面截取信息显示；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支持特定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CGS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文件导入导出，文件格式可扩展；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根据特定堆芯固化参数数据，支持参数化建模；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6A16D95-F63B-902D-C1CA-3986996E9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742" y="273096"/>
            <a:ext cx="4514850" cy="2667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E0FAB60-1BB2-1189-9D61-CBF5FE619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398" y="4168933"/>
            <a:ext cx="2083106" cy="178829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4B63550-F38F-54E3-E64B-1F6394890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0167" y="3645762"/>
            <a:ext cx="2877129" cy="28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410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345DC-12BE-08DE-6980-1707258AE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A2E8BDA2-13AF-723B-32E9-AE08455D23DA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(2)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几何建模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A0816BB-2AB1-B7CA-AD54-FFA19E38958A}"/>
              </a:ext>
            </a:extLst>
          </p:cNvPr>
          <p:cNvSpPr txBox="1"/>
          <p:nvPr/>
        </p:nvSpPr>
        <p:spPr>
          <a:xfrm>
            <a:off x="333436" y="997878"/>
            <a:ext cx="6753164" cy="2163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</a:t>
            </a:r>
            <a:r>
              <a:rPr lang="zh-CN" altLang="zh-CN" kern="100" dirty="0">
                <a:effectLst/>
                <a:latin typeface="+mn-ea"/>
                <a:cs typeface="Times New Roman" panose="02020603050405020304" pitchFamily="18" charset="0"/>
              </a:rPr>
              <a:t>飞机线束三维设计协同平台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飞机机舱内三维线束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可视化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将零件采购、设计所、主机厂等一系列信息链采用整套设计平台底层数据库进行流转，解决信息孤岛和信息传递失真等问题；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端、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Web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端以及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CATIA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对线束三维模型设计和可视化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EC4C342-C830-1EDF-CDDD-ECD45F1AA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14" y="3285933"/>
            <a:ext cx="5555628" cy="34417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BBCD477-3F31-F3D4-0A42-BCFA910AF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257" y="274510"/>
            <a:ext cx="3682607" cy="21666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8239977-A843-1952-A25E-197F51C96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257" y="2617941"/>
            <a:ext cx="3682606" cy="18947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07BCF66-9D19-3EA7-BAD4-697CF86F74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257" y="4689510"/>
            <a:ext cx="3682606" cy="201048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A68F0A0-04A4-938B-F2B4-08B41003727E}"/>
              </a:ext>
            </a:extLst>
          </p:cNvPr>
          <p:cNvSpPr/>
          <p:nvPr/>
        </p:nvSpPr>
        <p:spPr>
          <a:xfrm>
            <a:off x="9008269" y="2390775"/>
            <a:ext cx="633412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D91BC7-7CF0-611F-08FB-AB1865356CD7}"/>
              </a:ext>
            </a:extLst>
          </p:cNvPr>
          <p:cNvSpPr/>
          <p:nvPr/>
        </p:nvSpPr>
        <p:spPr>
          <a:xfrm>
            <a:off x="9008269" y="2451388"/>
            <a:ext cx="633412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8769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88E6B-A6F7-F0B0-A8FB-6A88F1302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7CE95752-D60C-E705-AF79-FAD147F0DBC5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(3)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网格划分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30D5638-F17C-5374-E426-F0BD291797DB}"/>
              </a:ext>
            </a:extLst>
          </p:cNvPr>
          <p:cNvSpPr txBox="1"/>
          <p:nvPr/>
        </p:nvSpPr>
        <p:spPr>
          <a:xfrm>
            <a:off x="333436" y="998827"/>
            <a:ext cx="6753164" cy="1286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</a:t>
            </a: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舰面环境发动机尾喷流噪声场高精度仿真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前处理网格划分模块采用经典的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MVC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分层架构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支持表面网格、贴体结构网格等；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8AE85DB-D6C5-F206-5569-9694B26DB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2632340"/>
            <a:ext cx="5132886" cy="36276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535FE8E-52CA-6689-2856-500E8DCDC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234" y="2384379"/>
            <a:ext cx="3327545" cy="19179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CA24852-315E-5A15-BB4C-1BF8D37C0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233" y="4446154"/>
            <a:ext cx="3327545" cy="21916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B60F840-7947-7F95-A498-14971BED38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233" y="188904"/>
            <a:ext cx="3327544" cy="20689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81985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971FA-D29D-D18C-DC8D-2DB0D89D3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453876F9-04F7-165E-615F-9D66071E1373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(4)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数据可视化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948CB25-FF02-72D5-CE2B-34110D5FF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55" y="3744665"/>
            <a:ext cx="5364254" cy="205926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BF3933A-40C2-956D-60CB-EE9C28088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537" y="873237"/>
            <a:ext cx="5192655" cy="183612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2CB2340-B3F4-A668-E5AD-271A3FCBE7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191"/>
          <a:stretch/>
        </p:blipFill>
        <p:spPr>
          <a:xfrm>
            <a:off x="6342451" y="3458985"/>
            <a:ext cx="5192655" cy="247521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CF69F69-D542-861C-FA9A-AE2066B8AFD8}"/>
              </a:ext>
            </a:extLst>
          </p:cNvPr>
          <p:cNvSpPr txBox="1"/>
          <p:nvPr/>
        </p:nvSpPr>
        <p:spPr>
          <a:xfrm>
            <a:off x="281178" y="1054072"/>
            <a:ext cx="6148360" cy="2117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</a:t>
            </a: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舰面环境发动机尾喷流噪声场高精度仿真</a:t>
            </a:r>
            <a:endParaRPr lang="zh-CN" altLang="en-US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图显示：云图、矢量图、动图等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数据操作：复制、旋转、对称、切片、阈值等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界面操作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点拾取、线拾取、面拾取、单元拾取、框选以及传播拾取等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33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5480B-FBF6-2CE7-B6D3-46261FB25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BE5895C3-F75A-8914-EF5B-9E138C9AEE8E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(5)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界面架构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F0F345-4D13-A8BA-002F-2DCD8063A0CE}"/>
              </a:ext>
            </a:extLst>
          </p:cNvPr>
          <p:cNvSpPr txBox="1"/>
          <p:nvPr/>
        </p:nvSpPr>
        <p:spPr>
          <a:xfrm>
            <a:off x="333436" y="882543"/>
            <a:ext cx="6148360" cy="2163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项目名称：界面定制引擎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界面定制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引擎内核层次化设计，采用标准的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MVC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架构；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内嵌标准的数据格式和通用的服务命令，同时支持扩展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展示层提供控件集，支持用户自由定制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提供拖拽式工具，方便用户定制数据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2190981-33D4-145E-E326-3A398423B4E7}"/>
              </a:ext>
            </a:extLst>
          </p:cNvPr>
          <p:cNvSpPr/>
          <p:nvPr/>
        </p:nvSpPr>
        <p:spPr>
          <a:xfrm>
            <a:off x="1030753" y="5475681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几何数据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837597C-BAC3-E66C-6B0E-64B8E6FD0183}"/>
              </a:ext>
            </a:extLst>
          </p:cNvPr>
          <p:cNvSpPr/>
          <p:nvPr/>
        </p:nvSpPr>
        <p:spPr>
          <a:xfrm>
            <a:off x="2165647" y="5475681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网格数据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F10B7BA-9C03-317C-F7DA-BC0C1136EA95}"/>
              </a:ext>
            </a:extLst>
          </p:cNvPr>
          <p:cNvSpPr/>
          <p:nvPr/>
        </p:nvSpPr>
        <p:spPr>
          <a:xfrm>
            <a:off x="3285448" y="5483938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仿真数据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B48BCFD-B577-FF3B-97C7-EA2A538D3FF8}"/>
              </a:ext>
            </a:extLst>
          </p:cNvPr>
          <p:cNvSpPr/>
          <p:nvPr/>
        </p:nvSpPr>
        <p:spPr>
          <a:xfrm>
            <a:off x="4448614" y="5475680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结果数据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66FA011-33F6-F17C-8A62-0C639768D74A}"/>
              </a:ext>
            </a:extLst>
          </p:cNvPr>
          <p:cNvSpPr/>
          <p:nvPr/>
        </p:nvSpPr>
        <p:spPr>
          <a:xfrm>
            <a:off x="5568415" y="5475679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可视化数据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36576D9-9FE7-47A3-2F86-FB09061E604B}"/>
              </a:ext>
            </a:extLst>
          </p:cNvPr>
          <p:cNvSpPr/>
          <p:nvPr/>
        </p:nvSpPr>
        <p:spPr>
          <a:xfrm>
            <a:off x="1030753" y="4869027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几何服务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0AECC5C-FB7A-E19A-E13E-7ACF922978C0}"/>
              </a:ext>
            </a:extLst>
          </p:cNvPr>
          <p:cNvSpPr/>
          <p:nvPr/>
        </p:nvSpPr>
        <p:spPr>
          <a:xfrm>
            <a:off x="2165647" y="4869027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网格服务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0037390-3D67-1267-F191-9C85E337C483}"/>
              </a:ext>
            </a:extLst>
          </p:cNvPr>
          <p:cNvSpPr/>
          <p:nvPr/>
        </p:nvSpPr>
        <p:spPr>
          <a:xfrm>
            <a:off x="3287362" y="4878667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仿真服务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A5DA11F-B0B7-7276-F070-D5C0C61D9FC0}"/>
              </a:ext>
            </a:extLst>
          </p:cNvPr>
          <p:cNvSpPr/>
          <p:nvPr/>
        </p:nvSpPr>
        <p:spPr>
          <a:xfrm>
            <a:off x="4409077" y="4878666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结果服务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9453815-E786-0FB9-26A5-093F186B7418}"/>
              </a:ext>
            </a:extLst>
          </p:cNvPr>
          <p:cNvSpPr/>
          <p:nvPr/>
        </p:nvSpPr>
        <p:spPr>
          <a:xfrm>
            <a:off x="5570329" y="4878667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可视化服务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83BE647-9702-4948-B74A-02F0A02017C6}"/>
              </a:ext>
            </a:extLst>
          </p:cNvPr>
          <p:cNvSpPr/>
          <p:nvPr/>
        </p:nvSpPr>
        <p:spPr>
          <a:xfrm>
            <a:off x="1017991" y="6024538"/>
            <a:ext cx="5508820" cy="4767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基础设施</a:t>
            </a:r>
            <a:endParaRPr lang="en-US" altLang="zh-CN" sz="1000" dirty="0"/>
          </a:p>
          <a:p>
            <a:pPr algn="ctr"/>
            <a:r>
              <a:rPr lang="en-US" altLang="zh-CN" sz="1000" dirty="0"/>
              <a:t>(</a:t>
            </a:r>
            <a:r>
              <a:rPr lang="zh-CN" altLang="en-US" sz="900" dirty="0"/>
              <a:t>日志、事件总线、权限管理、数据</a:t>
            </a:r>
            <a:r>
              <a:rPr lang="en-US" altLang="zh-CN" sz="900" dirty="0"/>
              <a:t>IO</a:t>
            </a:r>
            <a:r>
              <a:rPr lang="zh-CN" altLang="en-US" sz="900" dirty="0"/>
              <a:t>、脚本化</a:t>
            </a:r>
            <a:r>
              <a:rPr lang="en-US" altLang="zh-CN" sz="1000" dirty="0"/>
              <a:t>)</a:t>
            </a:r>
            <a:endParaRPr lang="zh-CN" altLang="en-US" sz="1000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E0CDF6F-921E-8974-E09C-2C108833A98C}"/>
              </a:ext>
            </a:extLst>
          </p:cNvPr>
          <p:cNvSpPr/>
          <p:nvPr/>
        </p:nvSpPr>
        <p:spPr>
          <a:xfrm>
            <a:off x="1030753" y="4196020"/>
            <a:ext cx="5497972" cy="519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业务流服务</a:t>
            </a:r>
            <a:endParaRPr lang="en-US" altLang="zh-CN" sz="1000" dirty="0"/>
          </a:p>
          <a:p>
            <a:pPr algn="ctr"/>
            <a:r>
              <a:rPr lang="en-US" altLang="zh-CN" sz="1000" dirty="0"/>
              <a:t> </a:t>
            </a:r>
            <a:r>
              <a:rPr lang="zh-CN" altLang="en-US" sz="1000" dirty="0"/>
              <a:t>提供命令、数据子视图、历史服务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717822B-4B7C-4649-49B9-50920A976099}"/>
              </a:ext>
            </a:extLst>
          </p:cNvPr>
          <p:cNvSpPr/>
          <p:nvPr/>
        </p:nvSpPr>
        <p:spPr>
          <a:xfrm>
            <a:off x="1009037" y="3639094"/>
            <a:ext cx="1204047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几何控件集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4B24BCE-ED1B-3B7A-3FB1-6D836EFB8BFF}"/>
              </a:ext>
            </a:extLst>
          </p:cNvPr>
          <p:cNvSpPr/>
          <p:nvPr/>
        </p:nvSpPr>
        <p:spPr>
          <a:xfrm>
            <a:off x="2451740" y="3649486"/>
            <a:ext cx="120404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网格控件集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1F6395C-8BDD-160C-81A4-CC23E6AD490A}"/>
              </a:ext>
            </a:extLst>
          </p:cNvPr>
          <p:cNvSpPr/>
          <p:nvPr/>
        </p:nvSpPr>
        <p:spPr>
          <a:xfrm>
            <a:off x="3860669" y="3646186"/>
            <a:ext cx="120404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仿真控件集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2774E2F-BDBE-ADBC-FBC3-979B00F43448}"/>
              </a:ext>
            </a:extLst>
          </p:cNvPr>
          <p:cNvSpPr/>
          <p:nvPr/>
        </p:nvSpPr>
        <p:spPr>
          <a:xfrm>
            <a:off x="3871967" y="3215262"/>
            <a:ext cx="1192747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主题样式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58EC66F-950D-C98B-CF27-6287691FEB5C}"/>
              </a:ext>
            </a:extLst>
          </p:cNvPr>
          <p:cNvSpPr/>
          <p:nvPr/>
        </p:nvSpPr>
        <p:spPr>
          <a:xfrm>
            <a:off x="5188330" y="3635437"/>
            <a:ext cx="1204045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可视化控件集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357A474A-E4D0-F6AD-EDEC-EA895AD39F02}"/>
              </a:ext>
            </a:extLst>
          </p:cNvPr>
          <p:cNvCxnSpPr>
            <a:cxnSpLocks/>
          </p:cNvCxnSpPr>
          <p:nvPr/>
        </p:nvCxnSpPr>
        <p:spPr>
          <a:xfrm>
            <a:off x="336124" y="5341515"/>
            <a:ext cx="6190687" cy="0"/>
          </a:xfrm>
          <a:prstGeom prst="line">
            <a:avLst/>
          </a:prstGeom>
          <a:ln w="15875" cap="rnd"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BB0D9CB-4219-CF00-D89C-E8488E5C5D9F}"/>
              </a:ext>
            </a:extLst>
          </p:cNvPr>
          <p:cNvCxnSpPr>
            <a:cxnSpLocks/>
          </p:cNvCxnSpPr>
          <p:nvPr/>
        </p:nvCxnSpPr>
        <p:spPr>
          <a:xfrm>
            <a:off x="333436" y="4093836"/>
            <a:ext cx="6148360" cy="0"/>
          </a:xfrm>
          <a:prstGeom prst="line">
            <a:avLst/>
          </a:prstGeom>
          <a:ln w="15875" cap="rnd"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6C4BCD0-1958-4087-6E48-9F15BB734FF2}"/>
              </a:ext>
            </a:extLst>
          </p:cNvPr>
          <p:cNvCxnSpPr>
            <a:cxnSpLocks/>
          </p:cNvCxnSpPr>
          <p:nvPr/>
        </p:nvCxnSpPr>
        <p:spPr>
          <a:xfrm>
            <a:off x="333437" y="5911666"/>
            <a:ext cx="6193374" cy="0"/>
          </a:xfrm>
          <a:prstGeom prst="line">
            <a:avLst/>
          </a:prstGeom>
          <a:ln w="15875" cap="rnd"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E88A95B-3ABA-DE15-CB1F-5FDFB53419F9}"/>
              </a:ext>
            </a:extLst>
          </p:cNvPr>
          <p:cNvSpPr/>
          <p:nvPr/>
        </p:nvSpPr>
        <p:spPr>
          <a:xfrm>
            <a:off x="1017991" y="3196282"/>
            <a:ext cx="1195093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主界面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A9C6119-A72E-9E9A-A3BE-B40D647DAE9A}"/>
              </a:ext>
            </a:extLst>
          </p:cNvPr>
          <p:cNvSpPr/>
          <p:nvPr/>
        </p:nvSpPr>
        <p:spPr>
          <a:xfrm>
            <a:off x="2442114" y="3204053"/>
            <a:ext cx="1204047" cy="3847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布局引擎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2A26484-C598-D05A-A426-174E5149C716}"/>
              </a:ext>
            </a:extLst>
          </p:cNvPr>
          <p:cNvCxnSpPr>
            <a:cxnSpLocks/>
          </p:cNvCxnSpPr>
          <p:nvPr/>
        </p:nvCxnSpPr>
        <p:spPr>
          <a:xfrm>
            <a:off x="333436" y="3109855"/>
            <a:ext cx="6193375" cy="0"/>
          </a:xfrm>
          <a:prstGeom prst="line">
            <a:avLst/>
          </a:prstGeom>
          <a:ln w="15875" cap="rnd"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2497CBDB-0714-7E95-A596-E6F22FEAE501}"/>
              </a:ext>
            </a:extLst>
          </p:cNvPr>
          <p:cNvSpPr txBox="1"/>
          <p:nvPr/>
        </p:nvSpPr>
        <p:spPr>
          <a:xfrm>
            <a:off x="333437" y="5552187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数据层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D0F40F4-4B0C-DF53-FFF6-E44D61C88E96}"/>
              </a:ext>
            </a:extLst>
          </p:cNvPr>
          <p:cNvSpPr txBox="1"/>
          <p:nvPr/>
        </p:nvSpPr>
        <p:spPr>
          <a:xfrm>
            <a:off x="333436" y="4502156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业务层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AC66E0F-36EC-DE05-007C-0BCE8ECF84F7}"/>
              </a:ext>
            </a:extLst>
          </p:cNvPr>
          <p:cNvSpPr txBox="1"/>
          <p:nvPr/>
        </p:nvSpPr>
        <p:spPr>
          <a:xfrm>
            <a:off x="360599" y="337013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展示层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E70DEE70-02F1-EA0A-FDB2-16E738975CB8}"/>
              </a:ext>
            </a:extLst>
          </p:cNvPr>
          <p:cNvCxnSpPr>
            <a:cxnSpLocks/>
          </p:cNvCxnSpPr>
          <p:nvPr/>
        </p:nvCxnSpPr>
        <p:spPr>
          <a:xfrm>
            <a:off x="333437" y="6589360"/>
            <a:ext cx="6179194" cy="0"/>
          </a:xfrm>
          <a:prstGeom prst="line">
            <a:avLst/>
          </a:prstGeom>
          <a:ln w="15875" cap="rnd"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2B7D76A9-2C96-2AB1-FB13-E603A5FE2727}"/>
              </a:ext>
            </a:extLst>
          </p:cNvPr>
          <p:cNvSpPr txBox="1"/>
          <p:nvPr/>
        </p:nvSpPr>
        <p:spPr>
          <a:xfrm>
            <a:off x="385089" y="6122377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基座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BB50FFB3-5F16-EA3C-ADE2-9F8A672E6CD1}"/>
              </a:ext>
            </a:extLst>
          </p:cNvPr>
          <p:cNvSpPr/>
          <p:nvPr/>
        </p:nvSpPr>
        <p:spPr>
          <a:xfrm>
            <a:off x="5199628" y="3227999"/>
            <a:ext cx="1192747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结果控件集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1C4F6749-D05F-4878-6618-40A45B756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0940" y="1822893"/>
            <a:ext cx="4934199" cy="334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252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CE4A0-D4B5-BED9-0CA6-FCC4F6D43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263A188D-4B47-4A50-38FA-A9F82180160D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(6)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求解器集成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4C94BFD-681E-EAD5-C351-7074EC2EFA8F}"/>
              </a:ext>
            </a:extLst>
          </p:cNvPr>
          <p:cNvSpPr txBox="1"/>
          <p:nvPr/>
        </p:nvSpPr>
        <p:spPr>
          <a:xfrm>
            <a:off x="333436" y="1025460"/>
            <a:ext cx="6753164" cy="2578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</a:t>
            </a:r>
            <a:r>
              <a:rPr lang="zh-CN" altLang="zh-CN" kern="100" dirty="0">
                <a:effectLst/>
                <a:latin typeface="+mn-ea"/>
                <a:cs typeface="Times New Roman" panose="02020603050405020304" pitchFamily="18" charset="0"/>
              </a:rPr>
              <a:t>无人系统热学科交互仿真前后处理模块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基于开源框架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FastCAE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登录模块、通讯模块、数据管理、前后处理模块；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二维元器件拖拽式建模，自动映射更新三维模型；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WebAPI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调度求解器，通讯模块返回计算结果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进行可视化分析。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EA5AFF-4408-C255-2082-52A778B32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6" y="3597952"/>
            <a:ext cx="5140977" cy="312969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09A1A56-966B-FE9E-6051-C399786D9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240" y="406540"/>
            <a:ext cx="3800601" cy="22947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96EEFB2-C4CB-430A-BF50-7FEAB4A35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6040" y="2373155"/>
            <a:ext cx="4054480" cy="251494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A5D4FFA-7ECC-6212-4B8A-36A28A4F0B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9457" y="4070524"/>
            <a:ext cx="4177745" cy="251494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425160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E40DD-C6EF-53F5-7548-37B9959BF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8CBD6AC0-20EA-373D-77A8-AA430D19F146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(7)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组件集成扩展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B0D6A3-2834-4968-5E53-F7414BD49674}"/>
              </a:ext>
            </a:extLst>
          </p:cNvPr>
          <p:cNvSpPr txBox="1"/>
          <p:nvPr/>
        </p:nvSpPr>
        <p:spPr>
          <a:xfrm>
            <a:off x="333436" y="1025460"/>
            <a:ext cx="6753164" cy="3409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</a:t>
            </a: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可视化组件集成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QDesigner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提供“可见即可得”界面设计范式；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提供拖拽式和精细化（设置参数）设计操作；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内嵌丰富的组件和布局，支持用户自由扩展；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QDesigner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扩展：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APP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界面定制器：定制界面。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APP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界面逻辑器：定制界面之间的显隐、激活等逻辑。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APP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界面交互器：定制控件之间的交互响应。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B877A7-DBBC-E171-EB2D-964A931E8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1755" y="3682876"/>
            <a:ext cx="5162996" cy="290418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239F389-BCDF-7957-825D-3A5125CF7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65" y="184139"/>
            <a:ext cx="5171685" cy="319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7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BEB55-D58B-0D9D-6151-A2CC975F9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36C72F0C-C7BE-2AC1-F455-DE5B40A364AA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(8)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云原生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89122A6-F179-43AB-B1AD-B9503815CDBA}"/>
              </a:ext>
            </a:extLst>
          </p:cNvPr>
          <p:cNvSpPr txBox="1"/>
          <p:nvPr/>
        </p:nvSpPr>
        <p:spPr>
          <a:xfrm>
            <a:off x="333435" y="1025460"/>
            <a:ext cx="5429189" cy="2578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</a:t>
            </a:r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+mn-ea"/>
                <a:cs typeface="Source Han Sans CN Bold"/>
              </a:rPr>
              <a:t>Cloud 3D </a:t>
            </a:r>
            <a:r>
              <a:rPr kumimoji="1" lang="zh-CN" altLang="en-US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+mn-ea"/>
                <a:cs typeface="Source Han Sans CN Bold"/>
              </a:rPr>
              <a:t>三维建模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基于云原生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+OCC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建模实现三维建模；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核心算法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C++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实现，采用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WASM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编译，实现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JS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调用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C++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库，解决性能瓶颈；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基础建模功能：草图、拉伸、布尔运算等；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等模型导入；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1ACBB7D-885B-2491-E64E-8986391699E7}"/>
              </a:ext>
            </a:extLst>
          </p:cNvPr>
          <p:cNvSpPr/>
          <p:nvPr/>
        </p:nvSpPr>
        <p:spPr>
          <a:xfrm>
            <a:off x="719936" y="3808847"/>
            <a:ext cx="3834642" cy="2578911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5E81EAF-5F89-958C-6336-BE7083241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637" y="2674004"/>
            <a:ext cx="5526260" cy="37623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645B945-1BB8-5900-BBDA-96F8BE6D7F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36" y="406540"/>
            <a:ext cx="4302317" cy="1896269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19D04219-D3E1-3E92-3D68-72A43F50E8E0}"/>
              </a:ext>
            </a:extLst>
          </p:cNvPr>
          <p:cNvSpPr/>
          <p:nvPr/>
        </p:nvSpPr>
        <p:spPr>
          <a:xfrm>
            <a:off x="1813519" y="5917880"/>
            <a:ext cx="2474732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OCC</a:t>
            </a:r>
            <a:endParaRPr lang="zh-CN" altLang="en-US" sz="1000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C05D6CA-D13D-8172-80DF-AF52E2473486}"/>
              </a:ext>
            </a:extLst>
          </p:cNvPr>
          <p:cNvSpPr/>
          <p:nvPr/>
        </p:nvSpPr>
        <p:spPr>
          <a:xfrm>
            <a:off x="1813519" y="5483911"/>
            <a:ext cx="2474732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核心算法库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6EE3B31-97D2-2F94-311D-2E59CCB32180}"/>
              </a:ext>
            </a:extLst>
          </p:cNvPr>
          <p:cNvSpPr/>
          <p:nvPr/>
        </p:nvSpPr>
        <p:spPr>
          <a:xfrm>
            <a:off x="1811764" y="4557520"/>
            <a:ext cx="2474732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JS </a:t>
            </a:r>
            <a:r>
              <a:rPr lang="zh-CN" altLang="en-US" sz="1000" dirty="0"/>
              <a:t>库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E064551-EC3F-F30B-6640-FB627C3B7BBC}"/>
              </a:ext>
            </a:extLst>
          </p:cNvPr>
          <p:cNvSpPr/>
          <p:nvPr/>
        </p:nvSpPr>
        <p:spPr>
          <a:xfrm>
            <a:off x="1811764" y="4056418"/>
            <a:ext cx="2474732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UI</a:t>
            </a:r>
            <a:endParaRPr lang="zh-CN" altLang="en-US" sz="1000" dirty="0"/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62BF51F2-F65C-1DE7-49D4-7DF16E6E11A0}"/>
              </a:ext>
            </a:extLst>
          </p:cNvPr>
          <p:cNvSpPr/>
          <p:nvPr/>
        </p:nvSpPr>
        <p:spPr>
          <a:xfrm flipV="1">
            <a:off x="2975107" y="5020715"/>
            <a:ext cx="148046" cy="35106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B2FA7DB-9794-46D4-801A-D7082A6EBC27}"/>
              </a:ext>
            </a:extLst>
          </p:cNvPr>
          <p:cNvSpPr txBox="1"/>
          <p:nvPr/>
        </p:nvSpPr>
        <p:spPr>
          <a:xfrm>
            <a:off x="3166982" y="5047141"/>
            <a:ext cx="7374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WASM</a:t>
            </a:r>
            <a:endParaRPr lang="zh-CN" altLang="en-US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1CC000C-E796-0B69-25AF-A9741D1CFBCC}"/>
              </a:ext>
            </a:extLst>
          </p:cNvPr>
          <p:cNvSpPr txBox="1"/>
          <p:nvPr/>
        </p:nvSpPr>
        <p:spPr>
          <a:xfrm>
            <a:off x="897127" y="429966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前端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608C473-C3F2-343A-F5A9-6C296D7E213D}"/>
              </a:ext>
            </a:extLst>
          </p:cNvPr>
          <p:cNvSpPr txBox="1"/>
          <p:nvPr/>
        </p:nvSpPr>
        <p:spPr>
          <a:xfrm>
            <a:off x="876206" y="561010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后端</a:t>
            </a:r>
          </a:p>
        </p:txBody>
      </p:sp>
    </p:spTree>
    <p:extLst>
      <p:ext uri="{BB962C8B-B14F-4D97-AF65-F5344CB8AC3E}">
        <p14:creationId xmlns:p14="http://schemas.microsoft.com/office/powerpoint/2010/main" val="81778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CF02B9A6-196E-46BA-98CD-6F6086EF19AD}"/>
              </a:ext>
            </a:extLst>
          </p:cNvPr>
          <p:cNvGrpSpPr/>
          <p:nvPr/>
        </p:nvGrpSpPr>
        <p:grpSpPr>
          <a:xfrm>
            <a:off x="0" y="-346816"/>
            <a:ext cx="12192001" cy="7204816"/>
            <a:chOff x="0" y="-346815"/>
            <a:chExt cx="12192001" cy="720481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4167BBC-4265-447E-B485-A1D961AFE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0" y="1"/>
              <a:ext cx="12192000" cy="6858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8E0B7D01-1CE9-4F1B-903B-0DC2D77DE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484"/>
            <a:stretch>
              <a:fillRect/>
            </a:stretch>
          </p:blipFill>
          <p:spPr>
            <a:xfrm>
              <a:off x="3569368" y="-346815"/>
              <a:ext cx="8622633" cy="7204816"/>
            </a:xfrm>
            <a:custGeom>
              <a:avLst/>
              <a:gdLst>
                <a:gd name="connsiteX0" fmla="*/ 0 w 8422105"/>
                <a:gd name="connsiteY0" fmla="*/ 0 h 7037261"/>
                <a:gd name="connsiteX1" fmla="*/ 8422105 w 8422105"/>
                <a:gd name="connsiteY1" fmla="*/ 0 h 7037261"/>
                <a:gd name="connsiteX2" fmla="*/ 8422105 w 8422105"/>
                <a:gd name="connsiteY2" fmla="*/ 7037261 h 7037261"/>
                <a:gd name="connsiteX3" fmla="*/ 0 w 8422105"/>
                <a:gd name="connsiteY3" fmla="*/ 7037261 h 7037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22105" h="7037261">
                  <a:moveTo>
                    <a:pt x="0" y="0"/>
                  </a:moveTo>
                  <a:lnTo>
                    <a:pt x="8422105" y="0"/>
                  </a:lnTo>
                  <a:lnTo>
                    <a:pt x="8422105" y="7037261"/>
                  </a:lnTo>
                  <a:lnTo>
                    <a:pt x="0" y="7037261"/>
                  </a:lnTo>
                  <a:close/>
                </a:path>
              </a:pathLst>
            </a:custGeom>
            <a:ln>
              <a:noFill/>
            </a:ln>
          </p:spPr>
        </p:pic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7F95F0DE-FF9B-4480-97AE-A08D16FB13DB}"/>
              </a:ext>
            </a:extLst>
          </p:cNvPr>
          <p:cNvSpPr/>
          <p:nvPr/>
        </p:nvSpPr>
        <p:spPr>
          <a:xfrm>
            <a:off x="3360057" y="2566947"/>
            <a:ext cx="1177109" cy="8417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3600" dirty="0">
                <a:latin typeface="+mj-ea"/>
                <a:ea typeface="+mj-ea"/>
              </a:rPr>
              <a:t>谢谢</a:t>
            </a:r>
            <a:endParaRPr lang="en-US" altLang="zh-CN" sz="3600" dirty="0">
              <a:latin typeface="+mj-ea"/>
              <a:ea typeface="+mj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8C09B1-670E-6228-02A8-CB74916CFC7E}"/>
              </a:ext>
            </a:extLst>
          </p:cNvPr>
          <p:cNvSpPr/>
          <p:nvPr/>
        </p:nvSpPr>
        <p:spPr>
          <a:xfrm>
            <a:off x="2363652" y="3161211"/>
            <a:ext cx="3384006" cy="12061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3600" dirty="0">
                <a:latin typeface="+mj-ea"/>
                <a:ea typeface="+mj-ea"/>
              </a:rPr>
              <a:t>欢迎提问交流</a:t>
            </a:r>
            <a:endParaRPr lang="en-US" altLang="zh-CN" sz="3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0170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自定义 3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C97"/>
      </a:accent1>
      <a:accent2>
        <a:srgbClr val="363795"/>
      </a:accent2>
      <a:accent3>
        <a:srgbClr val="005C97"/>
      </a:accent3>
      <a:accent4>
        <a:srgbClr val="363795"/>
      </a:accent4>
      <a:accent5>
        <a:srgbClr val="005C97"/>
      </a:accent5>
      <a:accent6>
        <a:srgbClr val="363795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思源黑体 CN Heavy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1692</TotalTime>
  <Words>706</Words>
  <Application>Microsoft Office PowerPoint</Application>
  <PresentationFormat>宽屏</PresentationFormat>
  <Paragraphs>94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Calibri</vt:lpstr>
      <vt:lpstr>思源黑体 CN Heavy</vt:lpstr>
      <vt:lpstr>Wingdings</vt:lpstr>
      <vt:lpstr>Times New Roman</vt:lpstr>
      <vt:lpstr>Impact</vt:lpstr>
      <vt:lpstr>等线</vt:lpstr>
      <vt:lpstr>思源黑体 CN ExtraLight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无名</dc:creator>
  <cp:lastModifiedBy>ziqiang ye</cp:lastModifiedBy>
  <cp:revision>288</cp:revision>
  <dcterms:created xsi:type="dcterms:W3CDTF">2021-01-11T11:22:14Z</dcterms:created>
  <dcterms:modified xsi:type="dcterms:W3CDTF">2025-07-13T11:48:01Z</dcterms:modified>
</cp:coreProperties>
</file>