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media/image5.JPG" ContentType="image/jpeg"/>
  <Override PartName="/ppt/media/image11.JPG" ContentType="image/jpeg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60" r:id="rId4"/>
    <p:sldId id="263" r:id="rId5"/>
    <p:sldId id="262" r:id="rId6"/>
    <p:sldId id="264" r:id="rId7"/>
    <p:sldId id="270" r:id="rId8"/>
    <p:sldId id="274" r:id="rId9"/>
    <p:sldId id="1424" r:id="rId10"/>
    <p:sldId id="1426" r:id="rId11"/>
    <p:sldId id="1427" r:id="rId12"/>
    <p:sldId id="1428" r:id="rId13"/>
    <p:sldId id="1429" r:id="rId14"/>
    <p:sldId id="1430" r:id="rId15"/>
    <p:sldId id="1431" r:id="rId16"/>
    <p:sldId id="1432" r:id="rId17"/>
    <p:sldId id="1425" r:id="rId18"/>
  </p:sldIdLst>
  <p:sldSz cx="12192000" cy="6858000"/>
  <p:notesSz cx="6858000" cy="9144000"/>
  <p:embeddedFontLst>
    <p:embeddedFont>
      <p:font typeface="思源黑体 CN ExtraLight" panose="02010600030101010101" charset="-122"/>
      <p:regular r:id="rId20"/>
    </p:embeddedFont>
    <p:embeddedFont>
      <p:font typeface="思源黑体 CN Heavy" panose="02010600030101010101" charset="-122"/>
      <p:bold r:id="rId21"/>
    </p:embeddedFont>
    <p:embeddedFont>
      <p:font typeface="Impact" panose="020B0806030902050204" pitchFamily="34" charset="0"/>
      <p:regular r:id="rId22"/>
    </p:embeddedFont>
    <p:embeddedFont>
      <p:font typeface="等线" panose="02010600030101010101" pitchFamily="2" charset="-122"/>
      <p:regular r:id="rId23"/>
      <p:bold r:id="rId24"/>
    </p:embeddedFont>
    <p:embeddedFont>
      <p:font typeface="微软雅黑" panose="020B0503020204020204" pitchFamily="34" charset="-122"/>
      <p:regular r:id="rId25"/>
      <p:bold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265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  <p15:guide id="6" orient="horz" pos="754" userDrawn="1">
          <p15:clr>
            <a:srgbClr val="A4A3A4"/>
          </p15:clr>
        </p15:guide>
        <p15:guide id="7" orient="horz" pos="3928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8" autoAdjust="0"/>
    <p:restoredTop sz="96366" autoAdjust="0"/>
  </p:normalViewPr>
  <p:slideViewPr>
    <p:cSldViewPr snapToGrid="0" showGuides="1">
      <p:cViewPr varScale="1">
        <p:scale>
          <a:sx n="110" d="100"/>
          <a:sy n="110" d="100"/>
        </p:scale>
        <p:origin x="678" y="180"/>
      </p:cViewPr>
      <p:guideLst>
        <p:guide orient="horz" pos="2251"/>
        <p:guide pos="3840"/>
        <p:guide pos="438"/>
        <p:guide pos="7265"/>
        <p:guide orient="horz" pos="640"/>
        <p:guide orient="horz" pos="754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7AE68-7457-4C6A-93C4-9D806745E19E}" type="datetimeFigureOut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4D6D7-8E66-4ED8-A73A-468FC76EB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2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4D6D7-8E66-4ED8-A73A-468FC76EB38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385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E34DD39-1B40-4493-A796-9E8A1EF0D650}"/>
              </a:ext>
            </a:extLst>
          </p:cNvPr>
          <p:cNvSpPr/>
          <p:nvPr userDrawn="1"/>
        </p:nvSpPr>
        <p:spPr>
          <a:xfrm>
            <a:off x="2156638" y="2222205"/>
            <a:ext cx="7878725" cy="2690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/>
              <a:t>原创作品，请勿搬运转卖</a:t>
            </a:r>
          </a:p>
        </p:txBody>
      </p:sp>
    </p:spTree>
    <p:extLst>
      <p:ext uri="{BB962C8B-B14F-4D97-AF65-F5344CB8AC3E}">
        <p14:creationId xmlns:p14="http://schemas.microsoft.com/office/powerpoint/2010/main" val="13904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969631B-2C89-4FEC-8A99-187A3DD789C2}"/>
              </a:ext>
            </a:extLst>
          </p:cNvPr>
          <p:cNvGrpSpPr/>
          <p:nvPr userDrawn="1"/>
        </p:nvGrpSpPr>
        <p:grpSpPr>
          <a:xfrm>
            <a:off x="0" y="389872"/>
            <a:ext cx="684000" cy="409364"/>
            <a:chOff x="0" y="376811"/>
            <a:chExt cx="684000" cy="409364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81BABCF-106F-41E9-8ACF-150E28B5C025}"/>
                </a:ext>
              </a:extLst>
            </p:cNvPr>
            <p:cNvSpPr/>
            <p:nvPr userDrawn="1"/>
          </p:nvSpPr>
          <p:spPr>
            <a:xfrm>
              <a:off x="0" y="376811"/>
              <a:ext cx="6840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797DA0E-471A-453B-8798-D46830C26DF0}"/>
                </a:ext>
              </a:extLst>
            </p:cNvPr>
            <p:cNvSpPr/>
            <p:nvPr userDrawn="1"/>
          </p:nvSpPr>
          <p:spPr>
            <a:xfrm>
              <a:off x="0" y="714175"/>
              <a:ext cx="6840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A12A40C-0A56-476D-A630-F6E5FD72625D}"/>
                </a:ext>
              </a:extLst>
            </p:cNvPr>
            <p:cNvSpPr/>
            <p:nvPr userDrawn="1"/>
          </p:nvSpPr>
          <p:spPr>
            <a:xfrm>
              <a:off x="228700" y="545493"/>
              <a:ext cx="4553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703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78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</p:sldLayoutIdLst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6" userDrawn="1">
          <p15:clr>
            <a:srgbClr val="F26B43"/>
          </p15:clr>
        </p15:guide>
        <p15:guide id="4" pos="7256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  <p15:guide id="6" orient="horz" pos="712" userDrawn="1">
          <p15:clr>
            <a:srgbClr val="F26B43"/>
          </p15:clr>
        </p15:guide>
        <p15:guide id="7" orient="horz" pos="3928" userDrawn="1">
          <p15:clr>
            <a:srgbClr val="F26B43"/>
          </p15:clr>
        </p15:guide>
        <p15:guide id="8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CF02B9A6-196E-46BA-98CD-6F6086EF19AD}"/>
              </a:ext>
            </a:extLst>
          </p:cNvPr>
          <p:cNvGrpSpPr/>
          <p:nvPr/>
        </p:nvGrpSpPr>
        <p:grpSpPr>
          <a:xfrm>
            <a:off x="0" y="-346816"/>
            <a:ext cx="12192001" cy="7204816"/>
            <a:chOff x="0" y="-346815"/>
            <a:chExt cx="12192001" cy="720481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4167BBC-4265-447E-B485-A1D961AFE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12192000" cy="685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E0B7D01-1CE9-4F1B-903B-0DC2D77DE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84"/>
            <a:stretch>
              <a:fillRect/>
            </a:stretch>
          </p:blipFill>
          <p:spPr>
            <a:xfrm>
              <a:off x="3569368" y="-346815"/>
              <a:ext cx="8622633" cy="7204816"/>
            </a:xfrm>
            <a:custGeom>
              <a:avLst/>
              <a:gdLst>
                <a:gd name="connsiteX0" fmla="*/ 0 w 8422105"/>
                <a:gd name="connsiteY0" fmla="*/ 0 h 7037261"/>
                <a:gd name="connsiteX1" fmla="*/ 8422105 w 8422105"/>
                <a:gd name="connsiteY1" fmla="*/ 0 h 7037261"/>
                <a:gd name="connsiteX2" fmla="*/ 8422105 w 8422105"/>
                <a:gd name="connsiteY2" fmla="*/ 7037261 h 7037261"/>
                <a:gd name="connsiteX3" fmla="*/ 0 w 8422105"/>
                <a:gd name="connsiteY3" fmla="*/ 7037261 h 7037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22105" h="7037261">
                  <a:moveTo>
                    <a:pt x="0" y="0"/>
                  </a:moveTo>
                  <a:lnTo>
                    <a:pt x="8422105" y="0"/>
                  </a:lnTo>
                  <a:lnTo>
                    <a:pt x="8422105" y="7037261"/>
                  </a:lnTo>
                  <a:lnTo>
                    <a:pt x="0" y="7037261"/>
                  </a:lnTo>
                  <a:close/>
                </a:path>
              </a:pathLst>
            </a:custGeom>
            <a:ln>
              <a:noFill/>
            </a:ln>
          </p:spPr>
        </p:pic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F4CA7958-FCD9-4A14-B9CD-C843C21392DB}"/>
              </a:ext>
            </a:extLst>
          </p:cNvPr>
          <p:cNvSpPr/>
          <p:nvPr/>
        </p:nvSpPr>
        <p:spPr>
          <a:xfrm>
            <a:off x="922421" y="2741444"/>
            <a:ext cx="6846829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52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合肥迪措机电有限公司业务能力介绍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54224A-4A9F-4CDE-A590-3109FE7242B1}"/>
              </a:ext>
            </a:extLst>
          </p:cNvPr>
          <p:cNvSpPr/>
          <p:nvPr/>
        </p:nvSpPr>
        <p:spPr>
          <a:xfrm>
            <a:off x="1031135" y="3675674"/>
            <a:ext cx="6629400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BUSINESS COMPANY INTRODUCTION</a:t>
            </a:r>
            <a:endParaRPr lang="zh-CN" altLang="en-US" sz="1400" dirty="0">
              <a:solidFill>
                <a:schemeClr val="bg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3F9C83-9DE4-4A7B-8CE2-D021EB59CA7B}"/>
              </a:ext>
            </a:extLst>
          </p:cNvPr>
          <p:cNvSpPr/>
          <p:nvPr/>
        </p:nvSpPr>
        <p:spPr>
          <a:xfrm>
            <a:off x="922421" y="4579372"/>
            <a:ext cx="5064865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中国</a:t>
            </a:r>
            <a:r>
              <a:rPr lang="en-US" altLang="zh-CN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-</a:t>
            </a:r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合肥          　 </a:t>
            </a:r>
            <a:r>
              <a:rPr lang="en-US" altLang="zh-CN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2025</a:t>
            </a:r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年</a:t>
            </a:r>
          </a:p>
        </p:txBody>
      </p:sp>
    </p:spTree>
    <p:extLst>
      <p:ext uri="{BB962C8B-B14F-4D97-AF65-F5344CB8AC3E}">
        <p14:creationId xmlns:p14="http://schemas.microsoft.com/office/powerpoint/2010/main" val="68632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1660355" y="638259"/>
            <a:ext cx="2446423" cy="13635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80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目录</a:t>
            </a:r>
            <a:endParaRPr lang="en-US" altLang="zh-CN" sz="80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F3F060E-E84C-4368-9D40-3EE67B81EE8E}"/>
              </a:ext>
            </a:extLst>
          </p:cNvPr>
          <p:cNvGrpSpPr/>
          <p:nvPr/>
        </p:nvGrpSpPr>
        <p:grpSpPr>
          <a:xfrm>
            <a:off x="1660355" y="1795037"/>
            <a:ext cx="3446137" cy="830997"/>
            <a:chOff x="1660355" y="1795037"/>
            <a:chExt cx="3446137" cy="830997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A013158-ED79-480A-9545-2EC38C623298}"/>
                </a:ext>
              </a:extLst>
            </p:cNvPr>
            <p:cNvSpPr/>
            <p:nvPr/>
          </p:nvSpPr>
          <p:spPr>
            <a:xfrm>
              <a:off x="1660355" y="1795037"/>
              <a:ext cx="595035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 dirty="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C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80CA593-2983-4D49-A552-804BE987DDD4}"/>
                </a:ext>
              </a:extLst>
            </p:cNvPr>
            <p:cNvSpPr/>
            <p:nvPr/>
          </p:nvSpPr>
          <p:spPr>
            <a:xfrm>
              <a:off x="2057045" y="1795037"/>
              <a:ext cx="668773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O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921CA00-0123-42F6-8C18-5B577D29B50B}"/>
                </a:ext>
              </a:extLst>
            </p:cNvPr>
            <p:cNvSpPr/>
            <p:nvPr/>
          </p:nvSpPr>
          <p:spPr>
            <a:xfrm>
              <a:off x="2502894" y="1795037"/>
              <a:ext cx="654346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N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71CA273-64A0-4BAD-9BA2-BBAE2CE6FD0F}"/>
                </a:ext>
              </a:extLst>
            </p:cNvPr>
            <p:cNvSpPr/>
            <p:nvPr/>
          </p:nvSpPr>
          <p:spPr>
            <a:xfrm>
              <a:off x="2939124" y="1795037"/>
              <a:ext cx="579005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T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DE120A8-EA78-4877-B721-8D8D2F8AC993}"/>
                </a:ext>
              </a:extLst>
            </p:cNvPr>
            <p:cNvSpPr/>
            <p:nvPr/>
          </p:nvSpPr>
          <p:spPr>
            <a:xfrm>
              <a:off x="3325128" y="1795037"/>
              <a:ext cx="572593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 dirty="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E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74A3E3F-A62A-4EE1-B533-5EA10F9D0C8F}"/>
                </a:ext>
              </a:extLst>
            </p:cNvPr>
            <p:cNvSpPr/>
            <p:nvPr/>
          </p:nvSpPr>
          <p:spPr>
            <a:xfrm>
              <a:off x="3706856" y="1795037"/>
              <a:ext cx="654346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N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D67C578-9311-4E4B-8870-80338613FBC5}"/>
                </a:ext>
              </a:extLst>
            </p:cNvPr>
            <p:cNvSpPr/>
            <p:nvPr/>
          </p:nvSpPr>
          <p:spPr>
            <a:xfrm>
              <a:off x="4143087" y="1795037"/>
              <a:ext cx="579005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T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10C8E54-CE11-49E6-BBA2-E98083135AD7}"/>
                </a:ext>
              </a:extLst>
            </p:cNvPr>
            <p:cNvSpPr/>
            <p:nvPr/>
          </p:nvSpPr>
          <p:spPr>
            <a:xfrm>
              <a:off x="4529090" y="1795037"/>
              <a:ext cx="577402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S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B66C391E-E712-48AA-845D-2274E4073326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CFDFA99-2934-415F-9843-6C8F776CBFD9}"/>
              </a:ext>
            </a:extLst>
          </p:cNvPr>
          <p:cNvGrpSpPr/>
          <p:nvPr/>
        </p:nvGrpSpPr>
        <p:grpSpPr>
          <a:xfrm>
            <a:off x="7221807" y="2150081"/>
            <a:ext cx="4335007" cy="770068"/>
            <a:chOff x="6986333" y="1571881"/>
            <a:chExt cx="4335007" cy="77006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80F14F90-6263-45DD-BDF2-586CF7F5CBD7}"/>
                </a:ext>
              </a:extLst>
            </p:cNvPr>
            <p:cNvGrpSpPr/>
            <p:nvPr/>
          </p:nvGrpSpPr>
          <p:grpSpPr>
            <a:xfrm>
              <a:off x="7831385" y="1571881"/>
              <a:ext cx="3489955" cy="770068"/>
              <a:chOff x="7593729" y="1893193"/>
              <a:chExt cx="3489955" cy="770068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F061185-8A88-46C7-8F4D-ECED3EB9A2CD}"/>
                  </a:ext>
                </a:extLst>
              </p:cNvPr>
              <p:cNvSpPr txBox="1"/>
              <p:nvPr/>
            </p:nvSpPr>
            <p:spPr>
              <a:xfrm flipH="1">
                <a:off x="7593730" y="1893193"/>
                <a:ext cx="17158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公司团队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0EF2A691-5E87-4162-BCA0-218FBD8B5340}"/>
                  </a:ext>
                </a:extLst>
              </p:cNvPr>
              <p:cNvSpPr/>
              <p:nvPr/>
            </p:nvSpPr>
            <p:spPr>
              <a:xfrm flipH="1">
                <a:off x="7593729" y="2318167"/>
                <a:ext cx="3489955" cy="3450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COMPANY TEAM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D7F3985-C71A-4B04-B442-45D13344DE15}"/>
                </a:ext>
              </a:extLst>
            </p:cNvPr>
            <p:cNvSpPr txBox="1"/>
            <p:nvPr/>
          </p:nvSpPr>
          <p:spPr>
            <a:xfrm>
              <a:off x="6986333" y="1602972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微软雅黑"/>
                </a:rPr>
                <a:t>01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D899599-2CDA-45B3-8036-0E2039E6E222}"/>
              </a:ext>
            </a:extLst>
          </p:cNvPr>
          <p:cNvGrpSpPr/>
          <p:nvPr/>
        </p:nvGrpSpPr>
        <p:grpSpPr>
          <a:xfrm>
            <a:off x="7221807" y="3327170"/>
            <a:ext cx="4172447" cy="806232"/>
            <a:chOff x="6986333" y="2738711"/>
            <a:chExt cx="4172447" cy="806232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AC4F8A79-745D-494C-904F-1EEA288C3CC6}"/>
                </a:ext>
              </a:extLst>
            </p:cNvPr>
            <p:cNvGrpSpPr/>
            <p:nvPr/>
          </p:nvGrpSpPr>
          <p:grpSpPr>
            <a:xfrm>
              <a:off x="7831385" y="2738711"/>
              <a:ext cx="3327395" cy="806232"/>
              <a:chOff x="7753443" y="3003882"/>
              <a:chExt cx="3327395" cy="806232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0CE338B-4446-4688-9387-A93057E5A835}"/>
                  </a:ext>
                </a:extLst>
              </p:cNvPr>
              <p:cNvSpPr txBox="1"/>
              <p:nvPr/>
            </p:nvSpPr>
            <p:spPr>
              <a:xfrm flipH="1">
                <a:off x="7753445" y="3003882"/>
                <a:ext cx="2682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业务能力</a:t>
                </a: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47F76CF2-D97A-4C98-8F4D-D4E47E6A2492}"/>
                  </a:ext>
                </a:extLst>
              </p:cNvPr>
              <p:cNvSpPr/>
              <p:nvPr/>
            </p:nvSpPr>
            <p:spPr>
              <a:xfrm flipH="1">
                <a:off x="7753443" y="3428856"/>
                <a:ext cx="3327395" cy="3812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SERVICE CAPABILITY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6FC5BA8-7AF7-4C94-B86C-4881ACB3B128}"/>
                </a:ext>
              </a:extLst>
            </p:cNvPr>
            <p:cNvSpPr txBox="1"/>
            <p:nvPr/>
          </p:nvSpPr>
          <p:spPr>
            <a:xfrm>
              <a:off x="6986333" y="2787884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微软雅黑"/>
                </a:rPr>
                <a:t>02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24921C0-1CDC-4B55-927F-9D6B45895138}"/>
              </a:ext>
            </a:extLst>
          </p:cNvPr>
          <p:cNvGrpSpPr/>
          <p:nvPr/>
        </p:nvGrpSpPr>
        <p:grpSpPr>
          <a:xfrm>
            <a:off x="7221808" y="4540423"/>
            <a:ext cx="4172446" cy="806232"/>
            <a:chOff x="6986333" y="3962425"/>
            <a:chExt cx="4172446" cy="80623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49AB6D5-24D1-44B3-A66E-630757D21C5C}"/>
                </a:ext>
              </a:extLst>
            </p:cNvPr>
            <p:cNvGrpSpPr/>
            <p:nvPr/>
          </p:nvGrpSpPr>
          <p:grpSpPr>
            <a:xfrm>
              <a:off x="7831385" y="3962425"/>
              <a:ext cx="3327394" cy="806232"/>
              <a:chOff x="7883595" y="4114571"/>
              <a:chExt cx="3327394" cy="806232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14C8C2F-A9AE-49F6-9A87-072416862C7C}"/>
                  </a:ext>
                </a:extLst>
              </p:cNvPr>
              <p:cNvSpPr txBox="1"/>
              <p:nvPr/>
            </p:nvSpPr>
            <p:spPr>
              <a:xfrm flipH="1">
                <a:off x="7883596" y="4114571"/>
                <a:ext cx="2682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经典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案例</a:t>
                </a: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FEB2FCBE-719C-4507-9BB7-3C2F12B7E6E5}"/>
                  </a:ext>
                </a:extLst>
              </p:cNvPr>
              <p:cNvSpPr/>
              <p:nvPr/>
            </p:nvSpPr>
            <p:spPr>
              <a:xfrm flipH="1">
                <a:off x="7883595" y="4539545"/>
                <a:ext cx="3327394" cy="3812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SUCCESSFUL CASES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36D93EC-D904-4078-B46D-6103F619A17E}"/>
                </a:ext>
              </a:extLst>
            </p:cNvPr>
            <p:cNvSpPr txBox="1"/>
            <p:nvPr/>
          </p:nvSpPr>
          <p:spPr>
            <a:xfrm>
              <a:off x="6986333" y="4011598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微软雅黑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511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7965148" y="1685884"/>
            <a:ext cx="3098520" cy="1955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3900" dirty="0">
                <a:solidFill>
                  <a:schemeClr val="lt1">
                    <a:alpha val="25000"/>
                  </a:schemeClr>
                </a:solidFill>
                <a:latin typeface="Impact" panose="020B0806030902050204" pitchFamily="34" charset="0"/>
                <a:ea typeface="思源黑体 CN Heavy" panose="020B0A00000000000000" pitchFamily="34" charset="-122"/>
              </a:rPr>
              <a:t>01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D5E3A0-6F89-4DF8-99EF-8F5059A611FB}"/>
              </a:ext>
            </a:extLst>
          </p:cNvPr>
          <p:cNvSpPr/>
          <p:nvPr/>
        </p:nvSpPr>
        <p:spPr>
          <a:xfrm>
            <a:off x="7711148" y="2237948"/>
            <a:ext cx="3352520" cy="850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 ONE</a:t>
            </a:r>
            <a:endParaRPr lang="zh-CN" altLang="en-US" sz="48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F893E3-0E6C-465B-BBC5-FA1151755468}"/>
              </a:ext>
            </a:extLst>
          </p:cNvPr>
          <p:cNvGrpSpPr/>
          <p:nvPr/>
        </p:nvGrpSpPr>
        <p:grpSpPr>
          <a:xfrm>
            <a:off x="7886767" y="3875205"/>
            <a:ext cx="3255281" cy="1764583"/>
            <a:chOff x="7759769" y="3648984"/>
            <a:chExt cx="3255281" cy="176458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C50049-C212-4620-9361-349067E2FD69}"/>
                </a:ext>
              </a:extLst>
            </p:cNvPr>
            <p:cNvSpPr/>
            <p:nvPr/>
          </p:nvSpPr>
          <p:spPr>
            <a:xfrm>
              <a:off x="7759769" y="3648984"/>
              <a:ext cx="3255281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公司团队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E7F4D4B-07FC-4243-BA45-8A3CEA4C22FE}"/>
                </a:ext>
              </a:extLst>
            </p:cNvPr>
            <p:cNvSpPr/>
            <p:nvPr/>
          </p:nvSpPr>
          <p:spPr>
            <a:xfrm>
              <a:off x="7871896" y="4190355"/>
              <a:ext cx="3031027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</a:rPr>
                <a:t>COMPANY  TEAM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E190974C-237C-4B0D-B3EA-2B658F52B9E4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58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AA07C4-4160-43AE-8765-80F62019D308}"/>
              </a:ext>
            </a:extLst>
          </p:cNvPr>
          <p:cNvSpPr/>
          <p:nvPr/>
        </p:nvSpPr>
        <p:spPr>
          <a:xfrm>
            <a:off x="660400" y="340035"/>
            <a:ext cx="54356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核心团队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COMPANY TEAM</a:t>
            </a:r>
            <a:endParaRPr lang="en-US" altLang="zh-CN" sz="24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C6A34C-EBB0-4868-B830-1A5BFF7CA75B}"/>
              </a:ext>
            </a:extLst>
          </p:cNvPr>
          <p:cNvSpPr/>
          <p:nvPr/>
        </p:nvSpPr>
        <p:spPr>
          <a:xfrm>
            <a:off x="0" y="4992772"/>
            <a:ext cx="12192000" cy="186522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男人和女人站在一起&#10;&#10;描述已自动生成">
            <a:extLst>
              <a:ext uri="{FF2B5EF4-FFF2-40B4-BE49-F238E27FC236}">
                <a16:creationId xmlns:a16="http://schemas.microsoft.com/office/drawing/2014/main" id="{9B75A997-C811-4DE5-A50A-356556D83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8395" y="840785"/>
            <a:ext cx="5081205" cy="6017215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5E2206B7-A6D6-4B8A-892A-75F8CE51AF39}"/>
              </a:ext>
            </a:extLst>
          </p:cNvPr>
          <p:cNvGrpSpPr/>
          <p:nvPr/>
        </p:nvGrpSpPr>
        <p:grpSpPr>
          <a:xfrm>
            <a:off x="1208091" y="1218086"/>
            <a:ext cx="6147055" cy="1947071"/>
            <a:chOff x="1253259" y="1663024"/>
            <a:chExt cx="6147055" cy="1947071"/>
          </a:xfrm>
        </p:grpSpPr>
        <p:sp>
          <p:nvSpPr>
            <p:cNvPr id="9" name="KOPPT">
              <a:extLst>
                <a:ext uri="{FF2B5EF4-FFF2-40B4-BE49-F238E27FC236}">
                  <a16:creationId xmlns:a16="http://schemas.microsoft.com/office/drawing/2014/main" id="{A7A3D442-1987-4BF8-85D5-16D884B395B5}"/>
                </a:ext>
              </a:extLst>
            </p:cNvPr>
            <p:cNvSpPr txBox="1"/>
            <p:nvPr/>
          </p:nvSpPr>
          <p:spPr>
            <a:xfrm>
              <a:off x="2044627" y="1663024"/>
              <a:ext cx="5355687" cy="1947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叶自强</a:t>
              </a:r>
              <a:endParaRPr lang="en-US" altLang="zh-CN" b="1" dirty="0"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大连理工大学能动专业硕士、十年仿真开发经验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航空发动机一维二维几何建模、网格划分、求解器开发；核工业反应堆仿真系统前处理建模与可视化；航空制造线束协同设计平台设计与开发；界面定制引擎架构设计与研发；以及求解器集成、云原生探索等。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KOPPT">
              <a:extLst>
                <a:ext uri="{FF2B5EF4-FFF2-40B4-BE49-F238E27FC236}">
                  <a16:creationId xmlns:a16="http://schemas.microsoft.com/office/drawing/2014/main" id="{17CC7EA0-FAEE-42DD-979D-5A012B86A127}"/>
                </a:ext>
              </a:extLst>
            </p:cNvPr>
            <p:cNvSpPr/>
            <p:nvPr/>
          </p:nvSpPr>
          <p:spPr>
            <a:xfrm>
              <a:off x="1253259" y="1699479"/>
              <a:ext cx="720000" cy="720000"/>
            </a:xfrm>
            <a:prstGeom prst="round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01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CB0991E-EBC2-45CF-AAB1-9F251F730A45}"/>
              </a:ext>
            </a:extLst>
          </p:cNvPr>
          <p:cNvGrpSpPr/>
          <p:nvPr/>
        </p:nvGrpSpPr>
        <p:grpSpPr>
          <a:xfrm>
            <a:off x="1208091" y="3066147"/>
            <a:ext cx="5973944" cy="1352358"/>
            <a:chOff x="1253259" y="1663025"/>
            <a:chExt cx="5973944" cy="1352358"/>
          </a:xfrm>
        </p:grpSpPr>
        <p:sp>
          <p:nvSpPr>
            <p:cNvPr id="13" name="KOPPT">
              <a:extLst>
                <a:ext uri="{FF2B5EF4-FFF2-40B4-BE49-F238E27FC236}">
                  <a16:creationId xmlns:a16="http://schemas.microsoft.com/office/drawing/2014/main" id="{D9F97D7B-9901-4086-ACE6-C952B07FBEBD}"/>
                </a:ext>
              </a:extLst>
            </p:cNvPr>
            <p:cNvSpPr txBox="1"/>
            <p:nvPr/>
          </p:nvSpPr>
          <p:spPr>
            <a:xfrm>
              <a:off x="2044627" y="1663025"/>
              <a:ext cx="5182576" cy="135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李文</a:t>
              </a:r>
              <a:endParaRPr lang="en-US" altLang="zh-CN" b="1" dirty="0"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华中科技大学材料专业硕士、八年仿真开发经验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网格划分和科学数据可视化，主要聚焦航空发动机的流体域网格划分和流场可视化、舰面环境发动机尾喷流噪声域网格划分和可视化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KOPPT">
              <a:extLst>
                <a:ext uri="{FF2B5EF4-FFF2-40B4-BE49-F238E27FC236}">
                  <a16:creationId xmlns:a16="http://schemas.microsoft.com/office/drawing/2014/main" id="{EDF67F63-C3C5-4C08-898E-4E165088292A}"/>
                </a:ext>
              </a:extLst>
            </p:cNvPr>
            <p:cNvSpPr/>
            <p:nvPr/>
          </p:nvSpPr>
          <p:spPr>
            <a:xfrm>
              <a:off x="1253259" y="1699479"/>
              <a:ext cx="720000" cy="720000"/>
            </a:xfrm>
            <a:prstGeom prst="round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851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65E2AEA-D664-448B-ACF5-6B593D61CAA1}"/>
              </a:ext>
            </a:extLst>
          </p:cNvPr>
          <p:cNvSpPr/>
          <p:nvPr/>
        </p:nvSpPr>
        <p:spPr>
          <a:xfrm>
            <a:off x="660400" y="340035"/>
            <a:ext cx="54356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团队荣誉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TEAM HONOR</a:t>
            </a:r>
            <a:endParaRPr lang="en-US" altLang="zh-CN" sz="24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51" name="www.koppt.cn">
            <a:extLst>
              <a:ext uri="{FF2B5EF4-FFF2-40B4-BE49-F238E27FC236}">
                <a16:creationId xmlns:a16="http://schemas.microsoft.com/office/drawing/2014/main" id="{EAED8603-968C-4527-8A4E-90C715A2EFEF}"/>
              </a:ext>
            </a:extLst>
          </p:cNvPr>
          <p:cNvSpPr txBox="1"/>
          <p:nvPr/>
        </p:nvSpPr>
        <p:spPr>
          <a:xfrm>
            <a:off x="1421289" y="3621869"/>
            <a:ext cx="1620931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敏捷开发培训证书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C7CA2BF0-C716-4B35-A387-759B6BCCC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0" r="23970"/>
          <a:stretch/>
        </p:blipFill>
        <p:spPr>
          <a:xfrm rot="5400000">
            <a:off x="1353551" y="1925486"/>
            <a:ext cx="1756407" cy="1219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54" name="组合 53">
            <a:extLst>
              <a:ext uri="{FF2B5EF4-FFF2-40B4-BE49-F238E27FC236}">
                <a16:creationId xmlns:a16="http://schemas.microsoft.com/office/drawing/2014/main" id="{A9901D29-A1E8-4A83-A9BB-9D27DCC70AB4}"/>
              </a:ext>
            </a:extLst>
          </p:cNvPr>
          <p:cNvGrpSpPr/>
          <p:nvPr/>
        </p:nvGrpSpPr>
        <p:grpSpPr>
          <a:xfrm>
            <a:off x="801722" y="1492009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52" name="www.koppt.cn">
              <a:extLst>
                <a:ext uri="{FF2B5EF4-FFF2-40B4-BE49-F238E27FC236}">
                  <a16:creationId xmlns:a16="http://schemas.microsoft.com/office/drawing/2014/main" id="{01708BE0-E42E-4758-8B7B-3822E108D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53" name="www.koppt.cn">
              <a:extLst>
                <a:ext uri="{FF2B5EF4-FFF2-40B4-BE49-F238E27FC236}">
                  <a16:creationId xmlns:a16="http://schemas.microsoft.com/office/drawing/2014/main" id="{7F1FEAA9-7655-43DB-B3A4-69A03839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D352917A-0F0F-44EF-BF76-13A0A16A2EEC}"/>
              </a:ext>
            </a:extLst>
          </p:cNvPr>
          <p:cNvGrpSpPr/>
          <p:nvPr/>
        </p:nvGrpSpPr>
        <p:grpSpPr>
          <a:xfrm>
            <a:off x="4658149" y="1492009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61" name="www.koppt.cn">
              <a:extLst>
                <a:ext uri="{FF2B5EF4-FFF2-40B4-BE49-F238E27FC236}">
                  <a16:creationId xmlns:a16="http://schemas.microsoft.com/office/drawing/2014/main" id="{49083DCC-D995-4B3C-BE64-D382BB68F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62" name="www.koppt.cn">
              <a:extLst>
                <a:ext uri="{FF2B5EF4-FFF2-40B4-BE49-F238E27FC236}">
                  <a16:creationId xmlns:a16="http://schemas.microsoft.com/office/drawing/2014/main" id="{543A66D3-5F4C-477A-ADA3-1F84A195C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sp>
        <p:nvSpPr>
          <p:cNvPr id="68" name="www.koppt.cn">
            <a:extLst>
              <a:ext uri="{FF2B5EF4-FFF2-40B4-BE49-F238E27FC236}">
                <a16:creationId xmlns:a16="http://schemas.microsoft.com/office/drawing/2014/main" id="{AF07813D-91B5-4091-AD30-4AA56AF350F1}"/>
              </a:ext>
            </a:extLst>
          </p:cNvPr>
          <p:cNvSpPr txBox="1"/>
          <p:nvPr/>
        </p:nvSpPr>
        <p:spPr>
          <a:xfrm>
            <a:off x="5122850" y="3441701"/>
            <a:ext cx="1981661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一种基于通流计算的透平机械叶型优化方法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CC6E0FA-EE2E-4645-8F06-FD7A2854E42C}"/>
              </a:ext>
            </a:extLst>
          </p:cNvPr>
          <p:cNvGrpSpPr/>
          <p:nvPr/>
        </p:nvGrpSpPr>
        <p:grpSpPr>
          <a:xfrm>
            <a:off x="8514576" y="1492009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66" name="www.koppt.cn">
              <a:extLst>
                <a:ext uri="{FF2B5EF4-FFF2-40B4-BE49-F238E27FC236}">
                  <a16:creationId xmlns:a16="http://schemas.microsoft.com/office/drawing/2014/main" id="{3634D001-DF3E-41C3-B964-BDD512AAA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67" name="www.koppt.cn">
              <a:extLst>
                <a:ext uri="{FF2B5EF4-FFF2-40B4-BE49-F238E27FC236}">
                  <a16:creationId xmlns:a16="http://schemas.microsoft.com/office/drawing/2014/main" id="{2445229F-06D0-4B60-BB78-2BDEEDC60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sp>
        <p:nvSpPr>
          <p:cNvPr id="69" name="www.koppt.cn">
            <a:extLst>
              <a:ext uri="{FF2B5EF4-FFF2-40B4-BE49-F238E27FC236}">
                <a16:creationId xmlns:a16="http://schemas.microsoft.com/office/drawing/2014/main" id="{E17BE41F-03C7-4518-8488-7FA1E2E65F37}"/>
              </a:ext>
            </a:extLst>
          </p:cNvPr>
          <p:cNvSpPr txBox="1"/>
          <p:nvPr/>
        </p:nvSpPr>
        <p:spPr>
          <a:xfrm>
            <a:off x="8928278" y="3416387"/>
            <a:ext cx="2281561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一种基于两面流理论的透平机械二维流动仿真方法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www.koppt.cn">
            <a:extLst>
              <a:ext uri="{FF2B5EF4-FFF2-40B4-BE49-F238E27FC236}">
                <a16:creationId xmlns:a16="http://schemas.microsoft.com/office/drawing/2014/main" id="{8EF7FB34-98BD-4410-99AE-4F249B47F035}"/>
              </a:ext>
            </a:extLst>
          </p:cNvPr>
          <p:cNvSpPr txBox="1"/>
          <p:nvPr/>
        </p:nvSpPr>
        <p:spPr>
          <a:xfrm>
            <a:off x="8959518" y="6040414"/>
            <a:ext cx="2159332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一种高温高压环境下测量动态接触角的方法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0FF8DFBC-AF0A-4EAF-A006-7F83C093A771}"/>
              </a:ext>
            </a:extLst>
          </p:cNvPr>
          <p:cNvGrpSpPr/>
          <p:nvPr/>
        </p:nvGrpSpPr>
        <p:grpSpPr>
          <a:xfrm>
            <a:off x="8514576" y="3975472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76" name="www.koppt.cn">
              <a:extLst>
                <a:ext uri="{FF2B5EF4-FFF2-40B4-BE49-F238E27FC236}">
                  <a16:creationId xmlns:a16="http://schemas.microsoft.com/office/drawing/2014/main" id="{4463BAB5-440D-4503-B25D-3561157C9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77" name="www.koppt.cn">
              <a:extLst>
                <a:ext uri="{FF2B5EF4-FFF2-40B4-BE49-F238E27FC236}">
                  <a16:creationId xmlns:a16="http://schemas.microsoft.com/office/drawing/2014/main" id="{B3BF1323-CF0F-4F29-81B7-3D2376EE2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sp>
        <p:nvSpPr>
          <p:cNvPr id="79" name="www.koppt.cn">
            <a:extLst>
              <a:ext uri="{FF2B5EF4-FFF2-40B4-BE49-F238E27FC236}">
                <a16:creationId xmlns:a16="http://schemas.microsoft.com/office/drawing/2014/main" id="{AC21E0E1-ED90-4204-88B2-CFAC7F5CCF7F}"/>
              </a:ext>
            </a:extLst>
          </p:cNvPr>
          <p:cNvSpPr txBox="1"/>
          <p:nvPr/>
        </p:nvSpPr>
        <p:spPr>
          <a:xfrm>
            <a:off x="4885388" y="6068796"/>
            <a:ext cx="2456584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基于知识库数据统一管理的透平机械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CAE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集成平台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FBE59E12-0459-425C-9449-55547EA9A514}"/>
              </a:ext>
            </a:extLst>
          </p:cNvPr>
          <p:cNvGrpSpPr/>
          <p:nvPr/>
        </p:nvGrpSpPr>
        <p:grpSpPr>
          <a:xfrm>
            <a:off x="4658149" y="3975472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83" name="www.koppt.cn">
              <a:extLst>
                <a:ext uri="{FF2B5EF4-FFF2-40B4-BE49-F238E27FC236}">
                  <a16:creationId xmlns:a16="http://schemas.microsoft.com/office/drawing/2014/main" id="{067BFFE2-0F4A-41AA-853E-162BCD239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84" name="www.koppt.cn">
              <a:extLst>
                <a:ext uri="{FF2B5EF4-FFF2-40B4-BE49-F238E27FC236}">
                  <a16:creationId xmlns:a16="http://schemas.microsoft.com/office/drawing/2014/main" id="{F5D527D3-70C1-44ED-8C3D-442E15C86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sp>
        <p:nvSpPr>
          <p:cNvPr id="86" name="www.koppt.cn">
            <a:extLst>
              <a:ext uri="{FF2B5EF4-FFF2-40B4-BE49-F238E27FC236}">
                <a16:creationId xmlns:a16="http://schemas.microsoft.com/office/drawing/2014/main" id="{AB404108-29AA-4092-99BF-CF83E7474D80}"/>
              </a:ext>
            </a:extLst>
          </p:cNvPr>
          <p:cNvSpPr txBox="1"/>
          <p:nvPr/>
        </p:nvSpPr>
        <p:spPr>
          <a:xfrm>
            <a:off x="1157987" y="6040414"/>
            <a:ext cx="2147534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一种基于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CAE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集成平台的离心式多级压缩热力系统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09A85F8E-AB18-4025-8182-E1E62EDE2CF9}"/>
              </a:ext>
            </a:extLst>
          </p:cNvPr>
          <p:cNvGrpSpPr/>
          <p:nvPr/>
        </p:nvGrpSpPr>
        <p:grpSpPr>
          <a:xfrm>
            <a:off x="801722" y="3975472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90" name="www.koppt.cn">
              <a:extLst>
                <a:ext uri="{FF2B5EF4-FFF2-40B4-BE49-F238E27FC236}">
                  <a16:creationId xmlns:a16="http://schemas.microsoft.com/office/drawing/2014/main" id="{921CA576-0324-4672-B3E9-0DCD9CC1F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91" name="www.koppt.cn">
              <a:extLst>
                <a:ext uri="{FF2B5EF4-FFF2-40B4-BE49-F238E27FC236}">
                  <a16:creationId xmlns:a16="http://schemas.microsoft.com/office/drawing/2014/main" id="{EF2D11E6-EF27-4FD5-A00B-AA8790928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AB4D23BD-F845-ACAA-BE84-8668799A5C8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" r="910"/>
          <a:stretch/>
        </p:blipFill>
        <p:spPr>
          <a:xfrm>
            <a:off x="9335008" y="4140346"/>
            <a:ext cx="1219200" cy="175640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80476DF-CE73-9AF4-95C0-C6A8F3A6B26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" r="914"/>
          <a:stretch/>
        </p:blipFill>
        <p:spPr>
          <a:xfrm>
            <a:off x="5478581" y="1656883"/>
            <a:ext cx="1219200" cy="175640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B0BF05D-9178-DB35-64B6-3FD66C2AEC1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" r="914"/>
          <a:stretch/>
        </p:blipFill>
        <p:spPr>
          <a:xfrm>
            <a:off x="9335008" y="1656883"/>
            <a:ext cx="1219200" cy="175640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54F9332-6237-2F4D-CF57-95E70A06738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" r="914"/>
          <a:stretch/>
        </p:blipFill>
        <p:spPr>
          <a:xfrm>
            <a:off x="1622154" y="4140346"/>
            <a:ext cx="1219200" cy="175640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DE87ED9-99B3-1FF4-F8E2-0F1F0EA5C687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" r="914"/>
          <a:stretch/>
        </p:blipFill>
        <p:spPr>
          <a:xfrm>
            <a:off x="5478581" y="4140346"/>
            <a:ext cx="1219200" cy="175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9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7838148" y="1685884"/>
            <a:ext cx="3352520" cy="1955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3900" dirty="0">
                <a:solidFill>
                  <a:schemeClr val="lt1">
                    <a:alpha val="25000"/>
                  </a:schemeClr>
                </a:solidFill>
                <a:latin typeface="Impact" panose="020B0806030902050204" pitchFamily="34" charset="0"/>
                <a:ea typeface="思源黑体 CN Heavy" panose="020B0A00000000000000" pitchFamily="34" charset="-122"/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D5E3A0-6F89-4DF8-99EF-8F5059A611FB}"/>
              </a:ext>
            </a:extLst>
          </p:cNvPr>
          <p:cNvSpPr/>
          <p:nvPr/>
        </p:nvSpPr>
        <p:spPr>
          <a:xfrm>
            <a:off x="7711148" y="2237948"/>
            <a:ext cx="3606520" cy="850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 TWO</a:t>
            </a:r>
            <a:endParaRPr lang="zh-CN" altLang="en-US" sz="48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F893E3-0E6C-465B-BBC5-FA1151755468}"/>
              </a:ext>
            </a:extLst>
          </p:cNvPr>
          <p:cNvGrpSpPr/>
          <p:nvPr/>
        </p:nvGrpSpPr>
        <p:grpSpPr>
          <a:xfrm>
            <a:off x="7886767" y="3875205"/>
            <a:ext cx="3255281" cy="1764583"/>
            <a:chOff x="7759769" y="3648984"/>
            <a:chExt cx="3255281" cy="176458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C50049-C212-4620-9361-349067E2FD69}"/>
                </a:ext>
              </a:extLst>
            </p:cNvPr>
            <p:cNvSpPr/>
            <p:nvPr/>
          </p:nvSpPr>
          <p:spPr>
            <a:xfrm>
              <a:off x="7759769" y="3648984"/>
              <a:ext cx="3255281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业务能力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E7F4D4B-07FC-4243-BA45-8A3CEA4C22FE}"/>
                </a:ext>
              </a:extLst>
            </p:cNvPr>
            <p:cNvSpPr/>
            <p:nvPr/>
          </p:nvSpPr>
          <p:spPr>
            <a:xfrm>
              <a:off x="7871896" y="4190355"/>
              <a:ext cx="3031027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>
                <a:lnSpc>
                  <a:spcPct val="130000"/>
                </a:lnSpc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SERVICE CAPABILIT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26A777CE-F3F9-4002-A71E-A4FFFD80AE7B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22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KOPPT">
            <a:extLst>
              <a:ext uri="{FF2B5EF4-FFF2-40B4-BE49-F238E27FC236}">
                <a16:creationId xmlns:a16="http://schemas.microsoft.com/office/drawing/2014/main" id="{E335C634-C886-43D9-9BCA-EBE7B71E13BD}"/>
              </a:ext>
            </a:extLst>
          </p:cNvPr>
          <p:cNvSpPr txBox="1"/>
          <p:nvPr/>
        </p:nvSpPr>
        <p:spPr>
          <a:xfrm>
            <a:off x="660400" y="4166337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几何建模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96" name="KOPPT">
            <a:extLst>
              <a:ext uri="{FF2B5EF4-FFF2-40B4-BE49-F238E27FC236}">
                <a16:creationId xmlns:a16="http://schemas.microsoft.com/office/drawing/2014/main" id="{BDB560EC-7827-4867-A538-7DC31DBBDA2C}"/>
              </a:ext>
            </a:extLst>
          </p:cNvPr>
          <p:cNvSpPr txBox="1"/>
          <p:nvPr/>
        </p:nvSpPr>
        <p:spPr>
          <a:xfrm>
            <a:off x="3812337" y="4166337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网格划分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20" name="KOPPT">
            <a:extLst>
              <a:ext uri="{FF2B5EF4-FFF2-40B4-BE49-F238E27FC236}">
                <a16:creationId xmlns:a16="http://schemas.microsoft.com/office/drawing/2014/main" id="{1AE94321-079B-498A-8CA7-6C6D17250041}"/>
              </a:ext>
            </a:extLst>
          </p:cNvPr>
          <p:cNvSpPr txBox="1"/>
          <p:nvPr/>
        </p:nvSpPr>
        <p:spPr>
          <a:xfrm>
            <a:off x="6600478" y="4289943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数据可视化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44" name="KOPPT">
            <a:extLst>
              <a:ext uri="{FF2B5EF4-FFF2-40B4-BE49-F238E27FC236}">
                <a16:creationId xmlns:a16="http://schemas.microsoft.com/office/drawing/2014/main" id="{CDEB659F-4A11-4E0F-AA1C-B88E624E7226}"/>
              </a:ext>
            </a:extLst>
          </p:cNvPr>
          <p:cNvSpPr txBox="1"/>
          <p:nvPr/>
        </p:nvSpPr>
        <p:spPr>
          <a:xfrm>
            <a:off x="9489423" y="4300343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界面架构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5E68918D-0BC5-4B7A-86F1-983B7C437966}"/>
              </a:ext>
            </a:extLst>
          </p:cNvPr>
          <p:cNvSpPr/>
          <p:nvPr/>
        </p:nvSpPr>
        <p:spPr>
          <a:xfrm>
            <a:off x="660400" y="340035"/>
            <a:ext cx="54356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业务能力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SERVICE CAPABILIT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25E2FDB-20B7-ABBF-F02A-6C420BA51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291" y="2377150"/>
            <a:ext cx="3152523" cy="178918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C4E752F-E53D-A6D3-8567-2045143FC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29" y="2432178"/>
            <a:ext cx="2410335" cy="159243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4BA97C9-0074-71AE-5BAD-BDA35887A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480" y="2432979"/>
            <a:ext cx="2492092" cy="15183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5A30064-4983-4EEE-EA44-03E866C287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740" r="10442"/>
          <a:stretch/>
        </p:blipFill>
        <p:spPr>
          <a:xfrm>
            <a:off x="6402525" y="2432178"/>
            <a:ext cx="2102284" cy="156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5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7792194" y="1656829"/>
            <a:ext cx="3479520" cy="1955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3900" dirty="0">
                <a:solidFill>
                  <a:schemeClr val="lt1">
                    <a:alpha val="25000"/>
                  </a:schemeClr>
                </a:solidFill>
                <a:latin typeface="Impact" panose="020B0806030902050204" pitchFamily="34" charset="0"/>
                <a:ea typeface="思源黑体 CN Heavy" panose="020B0A00000000000000" pitchFamily="34" charset="-122"/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D5E3A0-6F89-4DF8-99EF-8F5059A611FB}"/>
              </a:ext>
            </a:extLst>
          </p:cNvPr>
          <p:cNvSpPr/>
          <p:nvPr/>
        </p:nvSpPr>
        <p:spPr>
          <a:xfrm>
            <a:off x="7530720" y="2208893"/>
            <a:ext cx="4002468" cy="850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 THREE</a:t>
            </a:r>
            <a:endParaRPr lang="zh-CN" altLang="en-US" sz="48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F893E3-0E6C-465B-BBC5-FA1151755468}"/>
              </a:ext>
            </a:extLst>
          </p:cNvPr>
          <p:cNvGrpSpPr/>
          <p:nvPr/>
        </p:nvGrpSpPr>
        <p:grpSpPr>
          <a:xfrm>
            <a:off x="7904314" y="3875205"/>
            <a:ext cx="3255281" cy="1764583"/>
            <a:chOff x="7759769" y="3648984"/>
            <a:chExt cx="3255281" cy="176458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C50049-C212-4620-9361-349067E2FD69}"/>
                </a:ext>
              </a:extLst>
            </p:cNvPr>
            <p:cNvSpPr/>
            <p:nvPr/>
          </p:nvSpPr>
          <p:spPr>
            <a:xfrm>
              <a:off x="7759769" y="3648984"/>
              <a:ext cx="3255281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经典案例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E7F4D4B-07FC-4243-BA45-8A3CEA4C22FE}"/>
                </a:ext>
              </a:extLst>
            </p:cNvPr>
            <p:cNvSpPr/>
            <p:nvPr/>
          </p:nvSpPr>
          <p:spPr>
            <a:xfrm>
              <a:off x="7871896" y="4190355"/>
              <a:ext cx="3031027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</a:rPr>
                <a:t>SUCCESSFUL CASES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FB8CBFB0-54C3-4454-9034-DFC061F99D61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34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A2099F8F-AAB7-472E-A7EE-367C65514607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(1)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几何建模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06E39F-BED0-3F61-97BE-3C03EDA28096}"/>
              </a:ext>
            </a:extLst>
          </p:cNvPr>
          <p:cNvSpPr txBox="1"/>
          <p:nvPr/>
        </p:nvSpPr>
        <p:spPr>
          <a:xfrm>
            <a:off x="357855" y="1127082"/>
            <a:ext cx="6379543" cy="4615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项目名称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 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堆芯设计仿真系统前处理几何建模模块</a:t>
            </a: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前处理几何建模模块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核工业堆芯设计仿真系统中</a:t>
            </a:r>
            <a:r>
              <a:rPr lang="zh-CN" altLang="zh-CN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跨平台的三维可视化堆芯建模工具，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既支持用户交互式设计堆芯，同时支持堆芯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CGS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格式几何模型渲染。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OCC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几何建模引擎，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VTK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可视化渲染、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Qt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应用框架；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并行处理大规模几何运算和网格离散数据，加速可视化渲染；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针对堆芯业务需求，支持层级显示、材料过滤、模型检查、平面截取信息显示；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支持特定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CGS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文件导入导出，文件格式可扩展；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根据特定堆芯固化参数数据，支持参数化建模；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6A16D95-F63B-902D-C1CA-3986996E9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742" y="273096"/>
            <a:ext cx="4514850" cy="2667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E0FAB60-1BB2-1189-9D61-CBF5FE619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398" y="4168933"/>
            <a:ext cx="2083106" cy="17882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4B63550-F38F-54E3-E64B-1F6394890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167" y="3645762"/>
            <a:ext cx="2877129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41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45DC-12BE-08DE-6980-1707258A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A2E8BDA2-13AF-723B-32E9-AE08455D23DA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(2)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几何建模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0816BB-2AB1-B7CA-AD54-FFA19E38958A}"/>
              </a:ext>
            </a:extLst>
          </p:cNvPr>
          <p:cNvSpPr txBox="1"/>
          <p:nvPr/>
        </p:nvSpPr>
        <p:spPr>
          <a:xfrm>
            <a:off x="333436" y="997878"/>
            <a:ext cx="6753164" cy="216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飞机线束三维设计协同平台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飞机机舱内三维线束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可视化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将零件采购、设计所、主机厂等一系列信息链采用整套设计平台底层数据库进行流转，解决信息孤岛和信息传递失真等问题；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Web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端以及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CATIA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对线束三维模型设计和可视化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C4C342-C830-1EDF-CDDD-ECD45F1A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14" y="3285933"/>
            <a:ext cx="5555628" cy="3441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BBCD477-3F31-F3D4-0A42-BCFA910AF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257" y="274510"/>
            <a:ext cx="3682607" cy="21666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8239977-A843-1952-A25E-197F51C96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257" y="2617941"/>
            <a:ext cx="3682606" cy="18947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07BCF66-9D19-3EA7-BAD4-697CF86F7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257" y="4689510"/>
            <a:ext cx="3682606" cy="201048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A68F0A0-04A4-938B-F2B4-08B41003727E}"/>
              </a:ext>
            </a:extLst>
          </p:cNvPr>
          <p:cNvSpPr/>
          <p:nvPr/>
        </p:nvSpPr>
        <p:spPr>
          <a:xfrm>
            <a:off x="9008269" y="2390775"/>
            <a:ext cx="633412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D91BC7-7CF0-611F-08FB-AB1865356CD7}"/>
              </a:ext>
            </a:extLst>
          </p:cNvPr>
          <p:cNvSpPr/>
          <p:nvPr/>
        </p:nvSpPr>
        <p:spPr>
          <a:xfrm>
            <a:off x="9008269" y="2451388"/>
            <a:ext cx="633412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876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8E6B-A6F7-F0B0-A8FB-6A88F130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7CE95752-D60C-E705-AF79-FAD147F0DBC5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(3)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网格划分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0D5638-F17C-5374-E426-F0BD291797DB}"/>
              </a:ext>
            </a:extLst>
          </p:cNvPr>
          <p:cNvSpPr txBox="1"/>
          <p:nvPr/>
        </p:nvSpPr>
        <p:spPr>
          <a:xfrm>
            <a:off x="333436" y="998827"/>
            <a:ext cx="6753164" cy="1286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舰面环境发动机尾喷流噪声场高精度仿真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前处理网格划分模块采用经典的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MVC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分层架构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支持表面网格、贴体结构网格等；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AE85DB-D6C5-F206-5569-9694B26DB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632340"/>
            <a:ext cx="5132886" cy="36276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535FE8E-52CA-6689-2856-500E8DCDC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34" y="2384379"/>
            <a:ext cx="3327545" cy="19179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CA24852-315E-5A15-BB4C-1BF8D37C0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233" y="4446154"/>
            <a:ext cx="3327545" cy="21916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B60F840-7947-7F95-A498-14971BED3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33" y="188904"/>
            <a:ext cx="3327544" cy="2068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8198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71FA-D29D-D18C-DC8D-2DB0D89D3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453876F9-04F7-165E-615F-9D66071E1373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(4)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数据可视化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48CB25-FF02-72D5-CE2B-34110D5FF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55" y="3744665"/>
            <a:ext cx="5364254" cy="205926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BF3933A-40C2-956D-60CB-EE9C28088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537" y="873237"/>
            <a:ext cx="5192655" cy="18361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CB2340-B3F4-A668-E5AD-271A3FCBE7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191"/>
          <a:stretch/>
        </p:blipFill>
        <p:spPr>
          <a:xfrm>
            <a:off x="6342451" y="3458985"/>
            <a:ext cx="5192655" cy="24752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CF69F69-D542-861C-FA9A-AE2066B8AFD8}"/>
              </a:ext>
            </a:extLst>
          </p:cNvPr>
          <p:cNvSpPr txBox="1"/>
          <p:nvPr/>
        </p:nvSpPr>
        <p:spPr>
          <a:xfrm>
            <a:off x="281178" y="1054072"/>
            <a:ext cx="6148360" cy="2117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舰面环境发动机尾喷流噪声场高精度仿真</a:t>
            </a:r>
            <a:endParaRPr lang="zh-CN" altLang="en-US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图显示：云图、矢量图、动图等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数据操作：复制、旋转、对称、切片、阈值等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界面操作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点拾取、线拾取、面拾取、单元拾取、框选以及传播拾取等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33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480B-FBF6-2CE7-B6D3-46261FB2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BE5895C3-F75A-8914-EF5B-9E138C9AEE8E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(5)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界面架构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F0F345-4D13-A8BA-002F-2DCD8063A0CE}"/>
              </a:ext>
            </a:extLst>
          </p:cNvPr>
          <p:cNvSpPr txBox="1"/>
          <p:nvPr/>
        </p:nvSpPr>
        <p:spPr>
          <a:xfrm>
            <a:off x="333436" y="882543"/>
            <a:ext cx="6148360" cy="216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项目名称：界面定制引擎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界面定制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引擎内核层次化设计，采用标准的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MVC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架构；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内嵌标准的数据格式和通用的服务命令，同时支持扩展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展示层提供控件集，支持用户自由定制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提供拖拽式工具，方便用户定制数据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2190981-33D4-145E-E326-3A398423B4E7}"/>
              </a:ext>
            </a:extLst>
          </p:cNvPr>
          <p:cNvSpPr/>
          <p:nvPr/>
        </p:nvSpPr>
        <p:spPr>
          <a:xfrm>
            <a:off x="1030753" y="5475681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几何数据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837597C-BAC3-E66C-6B0E-64B8E6FD0183}"/>
              </a:ext>
            </a:extLst>
          </p:cNvPr>
          <p:cNvSpPr/>
          <p:nvPr/>
        </p:nvSpPr>
        <p:spPr>
          <a:xfrm>
            <a:off x="2165647" y="5475681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网格数据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F10B7BA-9C03-317C-F7DA-BC0C1136EA95}"/>
              </a:ext>
            </a:extLst>
          </p:cNvPr>
          <p:cNvSpPr/>
          <p:nvPr/>
        </p:nvSpPr>
        <p:spPr>
          <a:xfrm>
            <a:off x="3285448" y="5483938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仿真数据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48BCFD-B577-FF3B-97C7-EA2A538D3FF8}"/>
              </a:ext>
            </a:extLst>
          </p:cNvPr>
          <p:cNvSpPr/>
          <p:nvPr/>
        </p:nvSpPr>
        <p:spPr>
          <a:xfrm>
            <a:off x="4448614" y="5475680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结果数据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66FA011-33F6-F17C-8A62-0C639768D74A}"/>
              </a:ext>
            </a:extLst>
          </p:cNvPr>
          <p:cNvSpPr/>
          <p:nvPr/>
        </p:nvSpPr>
        <p:spPr>
          <a:xfrm>
            <a:off x="5568415" y="5475679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可视化数据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36576D9-9FE7-47A3-2F86-FB09061E604B}"/>
              </a:ext>
            </a:extLst>
          </p:cNvPr>
          <p:cNvSpPr/>
          <p:nvPr/>
        </p:nvSpPr>
        <p:spPr>
          <a:xfrm>
            <a:off x="1030753" y="486902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几何服务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0AECC5C-FB7A-E19A-E13E-7ACF922978C0}"/>
              </a:ext>
            </a:extLst>
          </p:cNvPr>
          <p:cNvSpPr/>
          <p:nvPr/>
        </p:nvSpPr>
        <p:spPr>
          <a:xfrm>
            <a:off x="2165647" y="486902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网格服务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0037390-3D67-1267-F191-9C85E337C483}"/>
              </a:ext>
            </a:extLst>
          </p:cNvPr>
          <p:cNvSpPr/>
          <p:nvPr/>
        </p:nvSpPr>
        <p:spPr>
          <a:xfrm>
            <a:off x="3287362" y="487866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仿真服务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5DA11F-B0B7-7276-F070-D5C0C61D9FC0}"/>
              </a:ext>
            </a:extLst>
          </p:cNvPr>
          <p:cNvSpPr/>
          <p:nvPr/>
        </p:nvSpPr>
        <p:spPr>
          <a:xfrm>
            <a:off x="4409077" y="4878666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结果服务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9453815-E786-0FB9-26A5-093F186B7418}"/>
              </a:ext>
            </a:extLst>
          </p:cNvPr>
          <p:cNvSpPr/>
          <p:nvPr/>
        </p:nvSpPr>
        <p:spPr>
          <a:xfrm>
            <a:off x="5570329" y="487866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可视化服务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3BE647-9702-4948-B74A-02F0A02017C6}"/>
              </a:ext>
            </a:extLst>
          </p:cNvPr>
          <p:cNvSpPr/>
          <p:nvPr/>
        </p:nvSpPr>
        <p:spPr>
          <a:xfrm>
            <a:off x="1017991" y="6024538"/>
            <a:ext cx="5508820" cy="4767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基础设施</a:t>
            </a:r>
            <a:endParaRPr lang="en-US" altLang="zh-CN" sz="1000" dirty="0"/>
          </a:p>
          <a:p>
            <a:pPr algn="ctr"/>
            <a:r>
              <a:rPr lang="en-US" altLang="zh-CN" sz="1000" dirty="0"/>
              <a:t>(</a:t>
            </a:r>
            <a:r>
              <a:rPr lang="zh-CN" altLang="en-US" sz="900" dirty="0"/>
              <a:t>日志、事件总线、权限管理、数据</a:t>
            </a:r>
            <a:r>
              <a:rPr lang="en-US" altLang="zh-CN" sz="900" dirty="0"/>
              <a:t>IO</a:t>
            </a:r>
            <a:r>
              <a:rPr lang="zh-CN" altLang="en-US" sz="900" dirty="0"/>
              <a:t>、脚本化</a:t>
            </a:r>
            <a:r>
              <a:rPr lang="en-US" altLang="zh-CN" sz="1000" dirty="0"/>
              <a:t>)</a:t>
            </a:r>
            <a:endParaRPr lang="zh-CN" altLang="en-US" sz="1000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E0CDF6F-921E-8974-E09C-2C108833A98C}"/>
              </a:ext>
            </a:extLst>
          </p:cNvPr>
          <p:cNvSpPr/>
          <p:nvPr/>
        </p:nvSpPr>
        <p:spPr>
          <a:xfrm>
            <a:off x="1030753" y="4196020"/>
            <a:ext cx="5497972" cy="519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业务流服务</a:t>
            </a:r>
            <a:endParaRPr lang="en-US" altLang="zh-CN" sz="1000" dirty="0"/>
          </a:p>
          <a:p>
            <a:pPr algn="ctr"/>
            <a:r>
              <a:rPr lang="en-US" altLang="zh-CN" sz="1000" dirty="0"/>
              <a:t> </a:t>
            </a:r>
            <a:r>
              <a:rPr lang="zh-CN" altLang="en-US" sz="1000" dirty="0"/>
              <a:t>提供命令、数据子视图、历史服务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717822B-4B7C-4649-49B9-50920A976099}"/>
              </a:ext>
            </a:extLst>
          </p:cNvPr>
          <p:cNvSpPr/>
          <p:nvPr/>
        </p:nvSpPr>
        <p:spPr>
          <a:xfrm>
            <a:off x="1009037" y="3639094"/>
            <a:ext cx="12040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几何控件集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4B24BCE-ED1B-3B7A-3FB1-6D836EFB8BFF}"/>
              </a:ext>
            </a:extLst>
          </p:cNvPr>
          <p:cNvSpPr/>
          <p:nvPr/>
        </p:nvSpPr>
        <p:spPr>
          <a:xfrm>
            <a:off x="2451740" y="3649486"/>
            <a:ext cx="120404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网格控件集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1F6395C-8BDD-160C-81A4-CC23E6AD490A}"/>
              </a:ext>
            </a:extLst>
          </p:cNvPr>
          <p:cNvSpPr/>
          <p:nvPr/>
        </p:nvSpPr>
        <p:spPr>
          <a:xfrm>
            <a:off x="3860669" y="3646186"/>
            <a:ext cx="120404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仿真控件集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2774E2F-BDBE-ADBC-FBC3-979B00F43448}"/>
              </a:ext>
            </a:extLst>
          </p:cNvPr>
          <p:cNvSpPr/>
          <p:nvPr/>
        </p:nvSpPr>
        <p:spPr>
          <a:xfrm>
            <a:off x="3871967" y="3215262"/>
            <a:ext cx="11927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主题样式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58EC66F-950D-C98B-CF27-6287691FEB5C}"/>
              </a:ext>
            </a:extLst>
          </p:cNvPr>
          <p:cNvSpPr/>
          <p:nvPr/>
        </p:nvSpPr>
        <p:spPr>
          <a:xfrm>
            <a:off x="5188330" y="3635437"/>
            <a:ext cx="1204045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可视化控件集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57A474A-E4D0-F6AD-EDEC-EA895AD39F02}"/>
              </a:ext>
            </a:extLst>
          </p:cNvPr>
          <p:cNvCxnSpPr>
            <a:cxnSpLocks/>
          </p:cNvCxnSpPr>
          <p:nvPr/>
        </p:nvCxnSpPr>
        <p:spPr>
          <a:xfrm>
            <a:off x="336124" y="5341515"/>
            <a:ext cx="6190687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BB0D9CB-4219-CF00-D89C-E8488E5C5D9F}"/>
              </a:ext>
            </a:extLst>
          </p:cNvPr>
          <p:cNvCxnSpPr>
            <a:cxnSpLocks/>
          </p:cNvCxnSpPr>
          <p:nvPr/>
        </p:nvCxnSpPr>
        <p:spPr>
          <a:xfrm>
            <a:off x="333436" y="4093836"/>
            <a:ext cx="6148360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6C4BCD0-1958-4087-6E48-9F15BB734FF2}"/>
              </a:ext>
            </a:extLst>
          </p:cNvPr>
          <p:cNvCxnSpPr>
            <a:cxnSpLocks/>
          </p:cNvCxnSpPr>
          <p:nvPr/>
        </p:nvCxnSpPr>
        <p:spPr>
          <a:xfrm>
            <a:off x="333437" y="5911666"/>
            <a:ext cx="6193374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E88A95B-3ABA-DE15-CB1F-5FDFB53419F9}"/>
              </a:ext>
            </a:extLst>
          </p:cNvPr>
          <p:cNvSpPr/>
          <p:nvPr/>
        </p:nvSpPr>
        <p:spPr>
          <a:xfrm>
            <a:off x="1017991" y="3196282"/>
            <a:ext cx="1195093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主界面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A9C6119-A72E-9E9A-A3BE-B40D647DAE9A}"/>
              </a:ext>
            </a:extLst>
          </p:cNvPr>
          <p:cNvSpPr/>
          <p:nvPr/>
        </p:nvSpPr>
        <p:spPr>
          <a:xfrm>
            <a:off x="2442114" y="3204053"/>
            <a:ext cx="1204047" cy="3847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布局引擎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2A26484-C598-D05A-A426-174E5149C716}"/>
              </a:ext>
            </a:extLst>
          </p:cNvPr>
          <p:cNvCxnSpPr>
            <a:cxnSpLocks/>
          </p:cNvCxnSpPr>
          <p:nvPr/>
        </p:nvCxnSpPr>
        <p:spPr>
          <a:xfrm>
            <a:off x="333436" y="3109855"/>
            <a:ext cx="6193375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497CBDB-0714-7E95-A596-E6F22FEAE501}"/>
              </a:ext>
            </a:extLst>
          </p:cNvPr>
          <p:cNvSpPr txBox="1"/>
          <p:nvPr/>
        </p:nvSpPr>
        <p:spPr>
          <a:xfrm>
            <a:off x="333437" y="555218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数据层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0F40F4-4B0C-DF53-FFF6-E44D61C88E96}"/>
              </a:ext>
            </a:extLst>
          </p:cNvPr>
          <p:cNvSpPr txBox="1"/>
          <p:nvPr/>
        </p:nvSpPr>
        <p:spPr>
          <a:xfrm>
            <a:off x="333436" y="450215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业务层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AC66E0F-36EC-DE05-007C-0BCE8ECF84F7}"/>
              </a:ext>
            </a:extLst>
          </p:cNvPr>
          <p:cNvSpPr txBox="1"/>
          <p:nvPr/>
        </p:nvSpPr>
        <p:spPr>
          <a:xfrm>
            <a:off x="360599" y="337013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展示层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70DEE70-02F1-EA0A-FDB2-16E738975CB8}"/>
              </a:ext>
            </a:extLst>
          </p:cNvPr>
          <p:cNvCxnSpPr>
            <a:cxnSpLocks/>
          </p:cNvCxnSpPr>
          <p:nvPr/>
        </p:nvCxnSpPr>
        <p:spPr>
          <a:xfrm>
            <a:off x="333437" y="6589360"/>
            <a:ext cx="6179194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B7D76A9-2C96-2AB1-FB13-E603A5FE2727}"/>
              </a:ext>
            </a:extLst>
          </p:cNvPr>
          <p:cNvSpPr txBox="1"/>
          <p:nvPr/>
        </p:nvSpPr>
        <p:spPr>
          <a:xfrm>
            <a:off x="385089" y="612237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基座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B50FFB3-5F16-EA3C-ADE2-9F8A672E6CD1}"/>
              </a:ext>
            </a:extLst>
          </p:cNvPr>
          <p:cNvSpPr/>
          <p:nvPr/>
        </p:nvSpPr>
        <p:spPr>
          <a:xfrm>
            <a:off x="5199628" y="3227999"/>
            <a:ext cx="11927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结果控件集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1C4F6749-D05F-4878-6618-40A45B756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940" y="1822893"/>
            <a:ext cx="4934199" cy="334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5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E4A0-D4B5-BED9-0CA6-FCC4F6D4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263A188D-4B47-4A50-38FA-A9F82180160D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(6)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求解器集成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C94BFD-681E-EAD5-C351-7074EC2EFA8F}"/>
              </a:ext>
            </a:extLst>
          </p:cNvPr>
          <p:cNvSpPr txBox="1"/>
          <p:nvPr/>
        </p:nvSpPr>
        <p:spPr>
          <a:xfrm>
            <a:off x="333436" y="1025460"/>
            <a:ext cx="6753164" cy="2578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无人系统热学科交互仿真前后处理模块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基于开源框架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FastCAE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登录模块、通讯模块、数据管理、前后处理模块；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二维元器件拖拽式建模，自动映射更新三维模型；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WebAPI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调度求解器，通讯模块返回计算结果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进行可视化分析。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EA5AFF-4408-C255-2082-52A778B32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6" y="3597952"/>
            <a:ext cx="5140977" cy="31296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09A1A56-966B-FE9E-6051-C399786D9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240" y="406540"/>
            <a:ext cx="3800601" cy="22947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6EEFB2-C4CB-430A-BF50-7FEAB4A35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040" y="2373155"/>
            <a:ext cx="4054480" cy="25149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A5D4FFA-7ECC-6212-4B8A-36A28A4F0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457" y="4070524"/>
            <a:ext cx="4177745" cy="25149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2516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40DD-C6EF-53F5-7548-37B9959B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8CBD6AC0-20EA-373D-77A8-AA430D19F146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(7)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组件集成扩展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B0D6A3-2834-4968-5E53-F7414BD49674}"/>
              </a:ext>
            </a:extLst>
          </p:cNvPr>
          <p:cNvSpPr txBox="1"/>
          <p:nvPr/>
        </p:nvSpPr>
        <p:spPr>
          <a:xfrm>
            <a:off x="333436" y="1025460"/>
            <a:ext cx="6753164" cy="3409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可视化组件集成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QDesigner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提供“可见即可得”界面设计范式；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提供拖拽式和精细化（设置参数）设计操作；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内嵌丰富的组件和布局，支持用户自由扩展；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QDesigner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扩展：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界面定制器：定制界面。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界面逻辑器：定制界面之间的显隐、激活等逻辑。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界面交互器：定制控件之间的交互响应。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B877A7-DBBC-E171-EB2D-964A931E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755" y="3682876"/>
            <a:ext cx="5162996" cy="29041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239F389-BCDF-7957-825D-3A5125CF7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65" y="184139"/>
            <a:ext cx="5171685" cy="319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EB55-D58B-0D9D-6151-A2CC975F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6C72F0C-C7BE-2AC1-F455-DE5B40A364AA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(8)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云原生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9122A6-F179-43AB-B1AD-B9503815CDBA}"/>
              </a:ext>
            </a:extLst>
          </p:cNvPr>
          <p:cNvSpPr txBox="1"/>
          <p:nvPr/>
        </p:nvSpPr>
        <p:spPr>
          <a:xfrm>
            <a:off x="333435" y="1025460"/>
            <a:ext cx="5429189" cy="2578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cs typeface="Source Han Sans CN Bold"/>
              </a:rPr>
              <a:t>Cloud 3D </a:t>
            </a:r>
            <a:r>
              <a:rPr kumimoji="1" lang="zh-CN" altLang="en-US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cs typeface="Source Han Sans CN Bold"/>
              </a:rPr>
              <a:t>三维建模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基于云原生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+OCC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建模实现三维建模；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核心算法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实现，采用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WASM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编译，实现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库，解决性能瓶颈；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基础建模功能：草图、拉伸、布尔运算等；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等模型导入；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1ACBB7D-885B-2491-E64E-8986391699E7}"/>
              </a:ext>
            </a:extLst>
          </p:cNvPr>
          <p:cNvSpPr/>
          <p:nvPr/>
        </p:nvSpPr>
        <p:spPr>
          <a:xfrm>
            <a:off x="719936" y="3808847"/>
            <a:ext cx="3834642" cy="257891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E81EAF-5F89-958C-6336-BE708324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637" y="2674004"/>
            <a:ext cx="5526260" cy="37623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645B945-1BB8-5900-BBDA-96F8BE6D7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36" y="406540"/>
            <a:ext cx="4302317" cy="1896269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19D04219-D3E1-3E92-3D68-72A43F50E8E0}"/>
              </a:ext>
            </a:extLst>
          </p:cNvPr>
          <p:cNvSpPr/>
          <p:nvPr/>
        </p:nvSpPr>
        <p:spPr>
          <a:xfrm>
            <a:off x="1813519" y="5917880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OCC</a:t>
            </a:r>
            <a:endParaRPr lang="zh-CN" altLang="en-US" sz="1000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C05D6CA-D13D-8172-80DF-AF52E2473486}"/>
              </a:ext>
            </a:extLst>
          </p:cNvPr>
          <p:cNvSpPr/>
          <p:nvPr/>
        </p:nvSpPr>
        <p:spPr>
          <a:xfrm>
            <a:off x="1813519" y="5483911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核心算法库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6EE3B31-97D2-2F94-311D-2E59CCB32180}"/>
              </a:ext>
            </a:extLst>
          </p:cNvPr>
          <p:cNvSpPr/>
          <p:nvPr/>
        </p:nvSpPr>
        <p:spPr>
          <a:xfrm>
            <a:off x="1811764" y="4557520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JS </a:t>
            </a:r>
            <a:r>
              <a:rPr lang="zh-CN" altLang="en-US" sz="1000" dirty="0"/>
              <a:t>库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E064551-EC3F-F30B-6640-FB627C3B7BBC}"/>
              </a:ext>
            </a:extLst>
          </p:cNvPr>
          <p:cNvSpPr/>
          <p:nvPr/>
        </p:nvSpPr>
        <p:spPr>
          <a:xfrm>
            <a:off x="1811764" y="4056418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UI</a:t>
            </a:r>
            <a:endParaRPr lang="zh-CN" altLang="en-US" sz="1000" dirty="0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62BF51F2-F65C-1DE7-49D4-7DF16E6E11A0}"/>
              </a:ext>
            </a:extLst>
          </p:cNvPr>
          <p:cNvSpPr/>
          <p:nvPr/>
        </p:nvSpPr>
        <p:spPr>
          <a:xfrm flipV="1">
            <a:off x="2975107" y="5020715"/>
            <a:ext cx="148046" cy="3510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2FA7DB-9794-46D4-801A-D7082A6EBC27}"/>
              </a:ext>
            </a:extLst>
          </p:cNvPr>
          <p:cNvSpPr txBox="1"/>
          <p:nvPr/>
        </p:nvSpPr>
        <p:spPr>
          <a:xfrm>
            <a:off x="3166982" y="5047141"/>
            <a:ext cx="737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WASM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CC000C-E796-0B69-25AF-A9741D1CFBCC}"/>
              </a:ext>
            </a:extLst>
          </p:cNvPr>
          <p:cNvSpPr txBox="1"/>
          <p:nvPr/>
        </p:nvSpPr>
        <p:spPr>
          <a:xfrm>
            <a:off x="897127" y="429966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前端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08C473-C3F2-343A-F5A9-6C296D7E213D}"/>
              </a:ext>
            </a:extLst>
          </p:cNvPr>
          <p:cNvSpPr txBox="1"/>
          <p:nvPr/>
        </p:nvSpPr>
        <p:spPr>
          <a:xfrm>
            <a:off x="876206" y="561010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后端</a:t>
            </a:r>
          </a:p>
        </p:txBody>
      </p:sp>
    </p:spTree>
    <p:extLst>
      <p:ext uri="{BB962C8B-B14F-4D97-AF65-F5344CB8AC3E}">
        <p14:creationId xmlns:p14="http://schemas.microsoft.com/office/powerpoint/2010/main" val="81778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CF02B9A6-196E-46BA-98CD-6F6086EF19AD}"/>
              </a:ext>
            </a:extLst>
          </p:cNvPr>
          <p:cNvGrpSpPr/>
          <p:nvPr/>
        </p:nvGrpSpPr>
        <p:grpSpPr>
          <a:xfrm>
            <a:off x="0" y="-346816"/>
            <a:ext cx="12192001" cy="7204816"/>
            <a:chOff x="0" y="-346815"/>
            <a:chExt cx="12192001" cy="720481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4167BBC-4265-447E-B485-A1D961AFE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12192000" cy="685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E0B7D01-1CE9-4F1B-903B-0DC2D77DE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84"/>
            <a:stretch>
              <a:fillRect/>
            </a:stretch>
          </p:blipFill>
          <p:spPr>
            <a:xfrm>
              <a:off x="3569368" y="-346815"/>
              <a:ext cx="8622633" cy="7204816"/>
            </a:xfrm>
            <a:custGeom>
              <a:avLst/>
              <a:gdLst>
                <a:gd name="connsiteX0" fmla="*/ 0 w 8422105"/>
                <a:gd name="connsiteY0" fmla="*/ 0 h 7037261"/>
                <a:gd name="connsiteX1" fmla="*/ 8422105 w 8422105"/>
                <a:gd name="connsiteY1" fmla="*/ 0 h 7037261"/>
                <a:gd name="connsiteX2" fmla="*/ 8422105 w 8422105"/>
                <a:gd name="connsiteY2" fmla="*/ 7037261 h 7037261"/>
                <a:gd name="connsiteX3" fmla="*/ 0 w 8422105"/>
                <a:gd name="connsiteY3" fmla="*/ 7037261 h 7037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22105" h="7037261">
                  <a:moveTo>
                    <a:pt x="0" y="0"/>
                  </a:moveTo>
                  <a:lnTo>
                    <a:pt x="8422105" y="0"/>
                  </a:lnTo>
                  <a:lnTo>
                    <a:pt x="8422105" y="7037261"/>
                  </a:lnTo>
                  <a:lnTo>
                    <a:pt x="0" y="7037261"/>
                  </a:lnTo>
                  <a:close/>
                </a:path>
              </a:pathLst>
            </a:custGeom>
            <a:ln>
              <a:noFill/>
            </a:ln>
          </p:spPr>
        </p:pic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7F95F0DE-FF9B-4480-97AE-A08D16FB13DB}"/>
              </a:ext>
            </a:extLst>
          </p:cNvPr>
          <p:cNvSpPr/>
          <p:nvPr/>
        </p:nvSpPr>
        <p:spPr>
          <a:xfrm>
            <a:off x="3360057" y="2566947"/>
            <a:ext cx="1177109" cy="8417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3600" dirty="0">
                <a:latin typeface="+mj-ea"/>
                <a:ea typeface="+mj-ea"/>
              </a:rPr>
              <a:t>谢谢</a:t>
            </a:r>
            <a:endParaRPr lang="en-US" altLang="zh-CN" sz="3600" dirty="0">
              <a:latin typeface="+mj-ea"/>
              <a:ea typeface="+mj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8C09B1-670E-6228-02A8-CB74916CFC7E}"/>
              </a:ext>
            </a:extLst>
          </p:cNvPr>
          <p:cNvSpPr/>
          <p:nvPr/>
        </p:nvSpPr>
        <p:spPr>
          <a:xfrm>
            <a:off x="2363652" y="3161211"/>
            <a:ext cx="3384006" cy="1206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3600" dirty="0">
                <a:latin typeface="+mj-ea"/>
                <a:ea typeface="+mj-ea"/>
              </a:rPr>
              <a:t>欢迎提问交流</a:t>
            </a:r>
            <a:endParaRPr lang="en-US" altLang="zh-CN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0170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自定义 3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C97"/>
      </a:accent1>
      <a:accent2>
        <a:srgbClr val="363795"/>
      </a:accent2>
      <a:accent3>
        <a:srgbClr val="005C97"/>
      </a:accent3>
      <a:accent4>
        <a:srgbClr val="363795"/>
      </a:accent4>
      <a:accent5>
        <a:srgbClr val="005C97"/>
      </a:accent5>
      <a:accent6>
        <a:srgbClr val="363795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思源黑体 CN Heavy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942</Words>
  <Application>Microsoft Office PowerPoint</Application>
  <PresentationFormat>宽屏</PresentationFormat>
  <Paragraphs>144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Calibri</vt:lpstr>
      <vt:lpstr>微软雅黑</vt:lpstr>
      <vt:lpstr>Times New Roman</vt:lpstr>
      <vt:lpstr>Wingdings</vt:lpstr>
      <vt:lpstr>Impact</vt:lpstr>
      <vt:lpstr>等线</vt:lpstr>
      <vt:lpstr>思源黑体 CN Heavy</vt:lpstr>
      <vt:lpstr>Arial</vt:lpstr>
      <vt:lpstr>思源黑体 CN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无名</dc:creator>
  <cp:lastModifiedBy>ziqiang ye</cp:lastModifiedBy>
  <cp:revision>285</cp:revision>
  <dcterms:created xsi:type="dcterms:W3CDTF">2021-01-11T11:22:14Z</dcterms:created>
  <dcterms:modified xsi:type="dcterms:W3CDTF">2025-07-13T11:41:05Z</dcterms:modified>
</cp:coreProperties>
</file>