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9"/>
  </p:notesMasterIdLst>
  <p:sldIdLst>
    <p:sldId id="256" r:id="rId2"/>
    <p:sldId id="257" r:id="rId3"/>
    <p:sldId id="311" r:id="rId4"/>
    <p:sldId id="318" r:id="rId5"/>
    <p:sldId id="312" r:id="rId6"/>
    <p:sldId id="313" r:id="rId7"/>
    <p:sldId id="316" r:id="rId8"/>
    <p:sldId id="315" r:id="rId9"/>
    <p:sldId id="317" r:id="rId10"/>
    <p:sldId id="298" r:id="rId11"/>
    <p:sldId id="310" r:id="rId12"/>
    <p:sldId id="314" r:id="rId13"/>
    <p:sldId id="299" r:id="rId14"/>
    <p:sldId id="300" r:id="rId15"/>
    <p:sldId id="309" r:id="rId16"/>
    <p:sldId id="306" r:id="rId17"/>
    <p:sldId id="264" r:id="rId18"/>
  </p:sldIdLst>
  <p:sldSz cx="9144000" cy="5143500" type="screen16x9"/>
  <p:notesSz cx="6858000" cy="9144000"/>
  <p:embeddedFontLst>
    <p:embeddedFont>
      <p:font typeface="Calibri" panose="020F0502020204030204" pitchFamily="34" charset="0"/>
      <p:regular r:id="rId20"/>
      <p:bold r:id="rId21"/>
      <p:italic r:id="rId22"/>
      <p:boldItalic r:id="rId23"/>
    </p:embeddedFont>
    <p:embeddedFont>
      <p:font typeface="Roboto" panose="02000000000000000000" pitchFamily="2" charset="0"/>
      <p:regular r:id="rId24"/>
      <p:bold r:id="rId25"/>
      <p:italic r:id="rId26"/>
      <p:boldItalic r:id="rId27"/>
    </p:embeddedFont>
    <p:embeddedFont>
      <p:font typeface="黑体" panose="02010609060101010101" pitchFamily="49" charset="-122"/>
      <p:regular r:id="rId28"/>
    </p:embeddedFont>
    <p:embeddedFont>
      <p:font typeface="微软雅黑" panose="020B0503020204020204" pitchFamily="34" charset="-122"/>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1" d="100"/>
          <a:sy n="121" d="100"/>
        </p:scale>
        <p:origin x="88"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256705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Shape 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5" name="Shape 65"/>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dirty="0"/>
          </a:p>
        </p:txBody>
      </p:sp>
    </p:spTree>
    <p:extLst>
      <p:ext uri="{BB962C8B-B14F-4D97-AF65-F5344CB8AC3E}">
        <p14:creationId xmlns:p14="http://schemas.microsoft.com/office/powerpoint/2010/main" val="3278514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Shape 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1" name="Shape 7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835064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946667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4178735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084451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786409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673994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325293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557985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89146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328122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119777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946919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266270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682419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5290571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Shape 1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3" name="Shape 143"/>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1296481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Shape 10"/>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11" name="Shape 11"/>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12" name="Shape 12"/>
          <p:cNvSpPr txBox="1">
            <a:spLocks noGrp="1"/>
          </p:cNvSpPr>
          <p:nvPr>
            <p:ph type="ctrTitle"/>
          </p:nvPr>
        </p:nvSpPr>
        <p:spPr>
          <a:xfrm>
            <a:off x="390526" y="1819275"/>
            <a:ext cx="8222100" cy="933600"/>
          </a:xfrm>
          <a:prstGeom prst="rect">
            <a:avLst/>
          </a:prstGeom>
        </p:spPr>
        <p:txBody>
          <a:bodyPr spcFirstLastPara="1" wrap="square" lIns="91425" tIns="91425" rIns="91425" bIns="91425" anchor="b"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Shape 13"/>
          <p:cNvSpPr txBox="1">
            <a:spLocks noGrp="1"/>
          </p:cNvSpPr>
          <p:nvPr>
            <p:ph type="subTitle" idx="1"/>
          </p:nvPr>
        </p:nvSpPr>
        <p:spPr>
          <a:xfrm>
            <a:off x="390526" y="2789130"/>
            <a:ext cx="8222100" cy="432900"/>
          </a:xfrm>
          <a:prstGeom prst="rect">
            <a:avLst/>
          </a:prstGeom>
        </p:spPr>
        <p:txBody>
          <a:bodyPr spcFirstLastPara="1" wrap="square" lIns="91425" tIns="91425" rIns="91425" bIns="91425" anchor="t" anchorCtr="0"/>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Shape 14"/>
          <p:cNvSpPr txBox="1">
            <a:spLocks noGrp="1"/>
          </p:cNvSpPr>
          <p:nvPr>
            <p:ph type="sldNum" idx="12"/>
          </p:nvPr>
        </p:nvSpPr>
        <p:spPr>
          <a:xfrm>
            <a:off x="8523542"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Shape 19"/>
          <p:cNvSpPr/>
          <p:nvPr/>
        </p:nvSpPr>
        <p:spPr>
          <a:xfrm rot="10800000" flipH="1">
            <a:off x="0" y="666749"/>
            <a:ext cx="9144000" cy="4476748"/>
          </a:xfrm>
          <a:prstGeom prst="rect">
            <a:avLst/>
          </a:prstGeom>
          <a:solidFill>
            <a:schemeClr val="accent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21" name="Shape 21"/>
          <p:cNvSpPr txBox="1">
            <a:spLocks noGrp="1"/>
          </p:cNvSpPr>
          <p:nvPr>
            <p:ph type="title"/>
          </p:nvPr>
        </p:nvSpPr>
        <p:spPr>
          <a:xfrm>
            <a:off x="114458" y="32400"/>
            <a:ext cx="8222100" cy="634350"/>
          </a:xfrm>
          <a:prstGeom prst="rect">
            <a:avLst/>
          </a:prstGeom>
        </p:spPr>
        <p:txBody>
          <a:bodyPr spcFirstLastPara="1" wrap="square" lIns="91425" tIns="91425" rIns="91425" bIns="91425" anchor="b" anchorCtr="0"/>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dirty="0"/>
          </a:p>
        </p:txBody>
      </p:sp>
      <p:sp>
        <p:nvSpPr>
          <p:cNvPr id="22" name="Shape 22"/>
          <p:cNvSpPr txBox="1">
            <a:spLocks noGrp="1"/>
          </p:cNvSpPr>
          <p:nvPr>
            <p:ph type="body" idx="1"/>
          </p:nvPr>
        </p:nvSpPr>
        <p:spPr>
          <a:xfrm>
            <a:off x="471901" y="1248697"/>
            <a:ext cx="8222100" cy="3380578"/>
          </a:xfrm>
          <a:prstGeom prst="rect">
            <a:avLst/>
          </a:prstGeom>
        </p:spPr>
        <p:txBody>
          <a:bodyPr spcFirstLastPara="1" wrap="square" lIns="91425" tIns="91425" rIns="91425" bIns="91425" anchor="t" anchorCtr="0"/>
          <a:lstStyle>
            <a:lvl1pPr marL="457189" lvl="0" indent="-342891">
              <a:spcBef>
                <a:spcPts val="0"/>
              </a:spcBef>
              <a:spcAft>
                <a:spcPts val="0"/>
              </a:spcAft>
              <a:buSzPts val="1800"/>
              <a:buChar char="●"/>
              <a:defRPr/>
            </a:lvl1pPr>
            <a:lvl2pPr marL="914377"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1"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dirty="0"/>
          </a:p>
        </p:txBody>
      </p:sp>
      <p:sp>
        <p:nvSpPr>
          <p:cNvPr id="23" name="Shape 23"/>
          <p:cNvSpPr txBox="1">
            <a:spLocks noGrp="1"/>
          </p:cNvSpPr>
          <p:nvPr>
            <p:ph type="sldNum" idx="12"/>
          </p:nvPr>
        </p:nvSpPr>
        <p:spPr>
          <a:xfrm>
            <a:off x="8084557" y="4695623"/>
            <a:ext cx="987685" cy="393600"/>
          </a:xfrm>
          <a:prstGeom prst="rect">
            <a:avLst/>
          </a:prstGeom>
        </p:spPr>
        <p:txBody>
          <a:bodyPr spcFirstLastPara="1" wrap="square" lIns="91425" tIns="91425" rIns="91425" bIns="91425" anchor="ctr" anchorCtr="0">
            <a:noAutofit/>
          </a:bodyPr>
          <a:lstStyle>
            <a:lvl1pPr lvl="0">
              <a:buNone/>
              <a:defRPr sz="1500"/>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r>
              <a:rPr lang="en-US" altLang="zh-CN" dirty="0"/>
              <a:t>/18</a:t>
            </a:r>
            <a:endParaRPr lang="e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Shape 32"/>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33" name="Shape 33"/>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34" name="Shape 34"/>
          <p:cNvSpPr txBox="1">
            <a:spLocks noGrp="1"/>
          </p:cNvSpPr>
          <p:nvPr>
            <p:ph type="title"/>
          </p:nvPr>
        </p:nvSpPr>
        <p:spPr>
          <a:xfrm>
            <a:off x="98251" y="16350"/>
            <a:ext cx="8826600" cy="602700"/>
          </a:xfrm>
          <a:prstGeom prst="rect">
            <a:avLst/>
          </a:prstGeom>
        </p:spPr>
        <p:txBody>
          <a:bodyPr spcFirstLastPara="1" wrap="square" lIns="91425" tIns="91425" rIns="91425" bIns="91425" anchor="ctr" anchorCtr="0"/>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Shape 35"/>
          <p:cNvSpPr txBox="1">
            <a:spLocks noGrp="1"/>
          </p:cNvSpPr>
          <p:nvPr>
            <p:ph type="sldNum" idx="12"/>
          </p:nvPr>
        </p:nvSpPr>
        <p:spPr>
          <a:xfrm>
            <a:off x="8523542"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r>
              <a:rPr lang="en-US" altLang="zh-CN" dirty="0"/>
              <a:t>/20</a:t>
            </a:r>
            <a:endParaRPr lang="e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Shape 3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38" name="Shape 38"/>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39" name="Shape 39"/>
          <p:cNvSpPr txBox="1">
            <a:spLocks noGrp="1"/>
          </p:cNvSpPr>
          <p:nvPr>
            <p:ph type="title"/>
          </p:nvPr>
        </p:nvSpPr>
        <p:spPr>
          <a:xfrm>
            <a:off x="226079" y="357800"/>
            <a:ext cx="2808000" cy="9534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Shape 40"/>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lstStyle>
            <a:lvl1pPr marL="457189" lvl="0" indent="-304792">
              <a:spcBef>
                <a:spcPts val="0"/>
              </a:spcBef>
              <a:spcAft>
                <a:spcPts val="0"/>
              </a:spcAft>
              <a:buClr>
                <a:schemeClr val="lt1"/>
              </a:buClr>
              <a:buSzPts val="1200"/>
              <a:buChar char="●"/>
              <a:defRPr sz="1200">
                <a:solidFill>
                  <a:schemeClr val="lt1"/>
                </a:solidFill>
              </a:defRPr>
            </a:lvl1pPr>
            <a:lvl2pPr marL="914377" lvl="1" indent="-304792">
              <a:spcBef>
                <a:spcPts val="1600"/>
              </a:spcBef>
              <a:spcAft>
                <a:spcPts val="0"/>
              </a:spcAft>
              <a:buClr>
                <a:schemeClr val="lt1"/>
              </a:buClr>
              <a:buSzPts val="1200"/>
              <a:buChar char="○"/>
              <a:defRPr sz="1200">
                <a:solidFill>
                  <a:schemeClr val="lt1"/>
                </a:solidFill>
              </a:defRPr>
            </a:lvl2pPr>
            <a:lvl3pPr marL="1371566" lvl="2" indent="-304792">
              <a:spcBef>
                <a:spcPts val="1600"/>
              </a:spcBef>
              <a:spcAft>
                <a:spcPts val="0"/>
              </a:spcAft>
              <a:buClr>
                <a:schemeClr val="lt1"/>
              </a:buClr>
              <a:buSzPts val="1200"/>
              <a:buChar char="■"/>
              <a:defRPr sz="1200">
                <a:solidFill>
                  <a:schemeClr val="lt1"/>
                </a:solidFill>
              </a:defRPr>
            </a:lvl3pPr>
            <a:lvl4pPr marL="1828754" lvl="3" indent="-304792">
              <a:spcBef>
                <a:spcPts val="1600"/>
              </a:spcBef>
              <a:spcAft>
                <a:spcPts val="0"/>
              </a:spcAft>
              <a:buClr>
                <a:schemeClr val="lt1"/>
              </a:buClr>
              <a:buSzPts val="1200"/>
              <a:buChar char="●"/>
              <a:defRPr sz="1200">
                <a:solidFill>
                  <a:schemeClr val="lt1"/>
                </a:solidFill>
              </a:defRPr>
            </a:lvl4pPr>
            <a:lvl5pPr marL="2285943" lvl="4" indent="-304792">
              <a:spcBef>
                <a:spcPts val="1600"/>
              </a:spcBef>
              <a:spcAft>
                <a:spcPts val="0"/>
              </a:spcAft>
              <a:buClr>
                <a:schemeClr val="lt1"/>
              </a:buClr>
              <a:buSzPts val="1200"/>
              <a:buChar char="○"/>
              <a:defRPr sz="1200">
                <a:solidFill>
                  <a:schemeClr val="lt1"/>
                </a:solidFill>
              </a:defRPr>
            </a:lvl5pPr>
            <a:lvl6pPr marL="2743131" lvl="5" indent="-304792">
              <a:spcBef>
                <a:spcPts val="1600"/>
              </a:spcBef>
              <a:spcAft>
                <a:spcPts val="0"/>
              </a:spcAft>
              <a:buClr>
                <a:schemeClr val="lt1"/>
              </a:buClr>
              <a:buSzPts val="1200"/>
              <a:buChar char="■"/>
              <a:defRPr sz="1200">
                <a:solidFill>
                  <a:schemeClr val="lt1"/>
                </a:solidFill>
              </a:defRPr>
            </a:lvl6pPr>
            <a:lvl7pPr marL="3200320" lvl="6" indent="-304792">
              <a:spcBef>
                <a:spcPts val="1600"/>
              </a:spcBef>
              <a:spcAft>
                <a:spcPts val="0"/>
              </a:spcAft>
              <a:buClr>
                <a:schemeClr val="lt1"/>
              </a:buClr>
              <a:buSzPts val="1200"/>
              <a:buChar char="●"/>
              <a:defRPr sz="1200">
                <a:solidFill>
                  <a:schemeClr val="lt1"/>
                </a:solidFill>
              </a:defRPr>
            </a:lvl7pPr>
            <a:lvl8pPr marL="3657509" lvl="7" indent="-304792">
              <a:spcBef>
                <a:spcPts val="1600"/>
              </a:spcBef>
              <a:spcAft>
                <a:spcPts val="0"/>
              </a:spcAft>
              <a:buClr>
                <a:schemeClr val="lt1"/>
              </a:buClr>
              <a:buSzPts val="1200"/>
              <a:buChar char="○"/>
              <a:defRPr sz="1200">
                <a:solidFill>
                  <a:schemeClr val="lt1"/>
                </a:solidFill>
              </a:defRPr>
            </a:lvl8pPr>
            <a:lvl9pPr marL="4114697" lvl="8" indent="-304792">
              <a:spcBef>
                <a:spcPts val="1600"/>
              </a:spcBef>
              <a:spcAft>
                <a:spcPts val="1600"/>
              </a:spcAft>
              <a:buClr>
                <a:schemeClr val="lt1"/>
              </a:buClr>
              <a:buSzPts val="1200"/>
              <a:buChar char="■"/>
              <a:defRPr sz="1200">
                <a:solidFill>
                  <a:schemeClr val="lt1"/>
                </a:solidFill>
              </a:defRPr>
            </a:lvl9pPr>
          </a:lstStyle>
          <a:p>
            <a:endParaRPr/>
          </a:p>
        </p:txBody>
      </p:sp>
      <p:sp>
        <p:nvSpPr>
          <p:cNvPr id="41" name="Shape 41"/>
          <p:cNvSpPr txBox="1">
            <a:spLocks noGrp="1"/>
          </p:cNvSpPr>
          <p:nvPr>
            <p:ph type="sldNum" idx="12"/>
          </p:nvPr>
        </p:nvSpPr>
        <p:spPr>
          <a:xfrm>
            <a:off x="8523542"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Shape 43"/>
          <p:cNvSpPr txBox="1">
            <a:spLocks noGrp="1"/>
          </p:cNvSpPr>
          <p:nvPr>
            <p:ph type="title"/>
          </p:nvPr>
        </p:nvSpPr>
        <p:spPr>
          <a:xfrm>
            <a:off x="490251" y="488250"/>
            <a:ext cx="6227100" cy="4090800"/>
          </a:xfrm>
          <a:prstGeom prst="rect">
            <a:avLst/>
          </a:prstGeom>
        </p:spPr>
        <p:txBody>
          <a:bodyPr spcFirstLastPara="1" wrap="square" lIns="91425" tIns="91425" rIns="91425" bIns="91425" anchor="ctr" anchorCtr="0"/>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Shape 44"/>
          <p:cNvSpPr txBox="1">
            <a:spLocks noGrp="1"/>
          </p:cNvSpPr>
          <p:nvPr>
            <p:ph type="sldNum" idx="12"/>
          </p:nvPr>
        </p:nvSpPr>
        <p:spPr>
          <a:xfrm>
            <a:off x="8523542"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Shape 4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47" name="Shape 47"/>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48" name="Shape 4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Shape 4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Shape 50"/>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lstStyle>
            <a:lvl1pPr marL="457189" lvl="0" indent="-342891">
              <a:spcBef>
                <a:spcPts val="0"/>
              </a:spcBef>
              <a:spcAft>
                <a:spcPts val="0"/>
              </a:spcAft>
              <a:buClr>
                <a:schemeClr val="lt1"/>
              </a:buClr>
              <a:buSzPts val="1800"/>
              <a:buChar char="●"/>
              <a:defRPr>
                <a:solidFill>
                  <a:schemeClr val="lt1"/>
                </a:solidFill>
              </a:defRPr>
            </a:lvl1pPr>
            <a:lvl2pPr marL="914377" lvl="1" indent="-317492">
              <a:spcBef>
                <a:spcPts val="1600"/>
              </a:spcBef>
              <a:spcAft>
                <a:spcPts val="0"/>
              </a:spcAft>
              <a:buClr>
                <a:schemeClr val="lt1"/>
              </a:buClr>
              <a:buSzPts val="1400"/>
              <a:buChar char="○"/>
              <a:defRPr>
                <a:solidFill>
                  <a:schemeClr val="lt1"/>
                </a:solidFill>
              </a:defRPr>
            </a:lvl2pPr>
            <a:lvl3pPr marL="1371566" lvl="2" indent="-317492">
              <a:spcBef>
                <a:spcPts val="1600"/>
              </a:spcBef>
              <a:spcAft>
                <a:spcPts val="0"/>
              </a:spcAft>
              <a:buClr>
                <a:schemeClr val="lt1"/>
              </a:buClr>
              <a:buSzPts val="1400"/>
              <a:buChar char="■"/>
              <a:defRPr>
                <a:solidFill>
                  <a:schemeClr val="lt1"/>
                </a:solidFill>
              </a:defRPr>
            </a:lvl3pPr>
            <a:lvl4pPr marL="1828754" lvl="3" indent="-317492">
              <a:spcBef>
                <a:spcPts val="1600"/>
              </a:spcBef>
              <a:spcAft>
                <a:spcPts val="0"/>
              </a:spcAft>
              <a:buClr>
                <a:schemeClr val="lt1"/>
              </a:buClr>
              <a:buSzPts val="1400"/>
              <a:buChar char="●"/>
              <a:defRPr>
                <a:solidFill>
                  <a:schemeClr val="lt1"/>
                </a:solidFill>
              </a:defRPr>
            </a:lvl4pPr>
            <a:lvl5pPr marL="2285943" lvl="4" indent="-317492">
              <a:spcBef>
                <a:spcPts val="1600"/>
              </a:spcBef>
              <a:spcAft>
                <a:spcPts val="0"/>
              </a:spcAft>
              <a:buClr>
                <a:schemeClr val="lt1"/>
              </a:buClr>
              <a:buSzPts val="1400"/>
              <a:buChar char="○"/>
              <a:defRPr>
                <a:solidFill>
                  <a:schemeClr val="lt1"/>
                </a:solidFill>
              </a:defRPr>
            </a:lvl5pPr>
            <a:lvl6pPr marL="2743131" lvl="5" indent="-317492">
              <a:spcBef>
                <a:spcPts val="1600"/>
              </a:spcBef>
              <a:spcAft>
                <a:spcPts val="0"/>
              </a:spcAft>
              <a:buClr>
                <a:schemeClr val="lt1"/>
              </a:buClr>
              <a:buSzPts val="1400"/>
              <a:buChar char="■"/>
              <a:defRPr>
                <a:solidFill>
                  <a:schemeClr val="lt1"/>
                </a:solidFill>
              </a:defRPr>
            </a:lvl6pPr>
            <a:lvl7pPr marL="3200320" lvl="6" indent="-317492">
              <a:spcBef>
                <a:spcPts val="1600"/>
              </a:spcBef>
              <a:spcAft>
                <a:spcPts val="0"/>
              </a:spcAft>
              <a:buClr>
                <a:schemeClr val="lt1"/>
              </a:buClr>
              <a:buSzPts val="1400"/>
              <a:buChar char="●"/>
              <a:defRPr>
                <a:solidFill>
                  <a:schemeClr val="lt1"/>
                </a:solidFill>
              </a:defRPr>
            </a:lvl7pPr>
            <a:lvl8pPr marL="3657509" lvl="7" indent="-317492">
              <a:spcBef>
                <a:spcPts val="1600"/>
              </a:spcBef>
              <a:spcAft>
                <a:spcPts val="0"/>
              </a:spcAft>
              <a:buClr>
                <a:schemeClr val="lt1"/>
              </a:buClr>
              <a:buSzPts val="1400"/>
              <a:buChar char="○"/>
              <a:defRPr>
                <a:solidFill>
                  <a:schemeClr val="lt1"/>
                </a:solidFill>
              </a:defRPr>
            </a:lvl8pPr>
            <a:lvl9pPr marL="4114697" lvl="8" indent="-317492">
              <a:spcBef>
                <a:spcPts val="1600"/>
              </a:spcBef>
              <a:spcAft>
                <a:spcPts val="1600"/>
              </a:spcAft>
              <a:buClr>
                <a:schemeClr val="lt1"/>
              </a:buClr>
              <a:buSzPts val="1400"/>
              <a:buChar char="■"/>
              <a:defRPr>
                <a:solidFill>
                  <a:schemeClr val="lt1"/>
                </a:solidFill>
              </a:defRPr>
            </a:lvl9pPr>
          </a:lstStyle>
          <a:p>
            <a:endParaRPr/>
          </a:p>
        </p:txBody>
      </p:sp>
      <p:sp>
        <p:nvSpPr>
          <p:cNvPr id="51" name="Shape 51"/>
          <p:cNvSpPr txBox="1">
            <a:spLocks noGrp="1"/>
          </p:cNvSpPr>
          <p:nvPr>
            <p:ph type="sldNum" idx="12"/>
          </p:nvPr>
        </p:nvSpPr>
        <p:spPr>
          <a:xfrm>
            <a:off x="8523542"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Shape 53"/>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54" name="Shape 54"/>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spcBef>
                <a:spcPts val="0"/>
              </a:spcBef>
              <a:spcAft>
                <a:spcPts val="0"/>
              </a:spcAft>
              <a:buNone/>
            </a:pPr>
            <a:endParaRPr sz="1400"/>
          </a:p>
        </p:txBody>
      </p:sp>
      <p:sp>
        <p:nvSpPr>
          <p:cNvPr id="55" name="Shape 55"/>
          <p:cNvSpPr txBox="1">
            <a:spLocks noGrp="1"/>
          </p:cNvSpPr>
          <p:nvPr>
            <p:ph type="body" idx="1"/>
          </p:nvPr>
        </p:nvSpPr>
        <p:spPr>
          <a:xfrm>
            <a:off x="57151" y="4696825"/>
            <a:ext cx="8382000" cy="446700"/>
          </a:xfrm>
          <a:prstGeom prst="rect">
            <a:avLst/>
          </a:prstGeom>
        </p:spPr>
        <p:txBody>
          <a:bodyPr spcFirstLastPara="1" wrap="square" lIns="91425" tIns="91425" rIns="91425" bIns="91425" anchor="ctr" anchorCtr="0"/>
          <a:lstStyle>
            <a:lvl1pPr marL="457189" lvl="0" indent="-228594">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Shape 56"/>
          <p:cNvSpPr txBox="1">
            <a:spLocks noGrp="1"/>
          </p:cNvSpPr>
          <p:nvPr>
            <p:ph type="sldNum" idx="12"/>
          </p:nvPr>
        </p:nvSpPr>
        <p:spPr>
          <a:xfrm>
            <a:off x="8523542"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Shape 58"/>
          <p:cNvSpPr txBox="1">
            <a:spLocks noGrp="1"/>
          </p:cNvSpPr>
          <p:nvPr>
            <p:ph type="title"/>
          </p:nvPr>
        </p:nvSpPr>
        <p:spPr>
          <a:xfrm>
            <a:off x="475501" y="1258525"/>
            <a:ext cx="8222100" cy="1963500"/>
          </a:xfrm>
          <a:prstGeom prst="rect">
            <a:avLst/>
          </a:prstGeom>
        </p:spPr>
        <p:txBody>
          <a:bodyPr spcFirstLastPara="1" wrap="square" lIns="91425" tIns="91425" rIns="91425" bIns="91425" anchor="b" anchorCtr="0"/>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endParaRPr/>
          </a:p>
        </p:txBody>
      </p:sp>
      <p:sp>
        <p:nvSpPr>
          <p:cNvPr id="59" name="Shape 59"/>
          <p:cNvSpPr txBox="1">
            <a:spLocks noGrp="1"/>
          </p:cNvSpPr>
          <p:nvPr>
            <p:ph type="body" idx="1"/>
          </p:nvPr>
        </p:nvSpPr>
        <p:spPr>
          <a:xfrm>
            <a:off x="475501" y="3304625"/>
            <a:ext cx="8222100" cy="1300800"/>
          </a:xfrm>
          <a:prstGeom prst="rect">
            <a:avLst/>
          </a:prstGeom>
        </p:spPr>
        <p:txBody>
          <a:bodyPr spcFirstLastPara="1" wrap="square" lIns="91425" tIns="91425" rIns="91425" bIns="91425" anchor="t" anchorCtr="0"/>
          <a:lstStyle>
            <a:lvl1pPr marL="457189" lvl="0" indent="-342891" algn="ctr">
              <a:spcBef>
                <a:spcPts val="0"/>
              </a:spcBef>
              <a:spcAft>
                <a:spcPts val="0"/>
              </a:spcAft>
              <a:buSzPts val="1800"/>
              <a:buChar char="●"/>
              <a:defRPr/>
            </a:lvl1pPr>
            <a:lvl2pPr marL="914377" lvl="1" indent="-317492" algn="ctr">
              <a:spcBef>
                <a:spcPts val="1600"/>
              </a:spcBef>
              <a:spcAft>
                <a:spcPts val="0"/>
              </a:spcAft>
              <a:buSzPts val="1400"/>
              <a:buChar char="○"/>
              <a:defRPr/>
            </a:lvl2pPr>
            <a:lvl3pPr marL="1371566" lvl="2" indent="-317492" algn="ctr">
              <a:spcBef>
                <a:spcPts val="1600"/>
              </a:spcBef>
              <a:spcAft>
                <a:spcPts val="0"/>
              </a:spcAft>
              <a:buSzPts val="1400"/>
              <a:buChar char="■"/>
              <a:defRPr/>
            </a:lvl3pPr>
            <a:lvl4pPr marL="1828754" lvl="3" indent="-317492" algn="ctr">
              <a:spcBef>
                <a:spcPts val="1600"/>
              </a:spcBef>
              <a:spcAft>
                <a:spcPts val="0"/>
              </a:spcAft>
              <a:buSzPts val="1400"/>
              <a:buChar char="●"/>
              <a:defRPr/>
            </a:lvl4pPr>
            <a:lvl5pPr marL="2285943" lvl="4" indent="-317492" algn="ctr">
              <a:spcBef>
                <a:spcPts val="1600"/>
              </a:spcBef>
              <a:spcAft>
                <a:spcPts val="0"/>
              </a:spcAft>
              <a:buSzPts val="1400"/>
              <a:buChar char="○"/>
              <a:defRPr/>
            </a:lvl5pPr>
            <a:lvl6pPr marL="2743131" lvl="5" indent="-317492" algn="ctr">
              <a:spcBef>
                <a:spcPts val="1600"/>
              </a:spcBef>
              <a:spcAft>
                <a:spcPts val="0"/>
              </a:spcAft>
              <a:buSzPts val="1400"/>
              <a:buChar char="■"/>
              <a:defRPr/>
            </a:lvl6pPr>
            <a:lvl7pPr marL="3200320" lvl="6" indent="-317492" algn="ctr">
              <a:spcBef>
                <a:spcPts val="1600"/>
              </a:spcBef>
              <a:spcAft>
                <a:spcPts val="0"/>
              </a:spcAft>
              <a:buSzPts val="1400"/>
              <a:buChar char="●"/>
              <a:defRPr/>
            </a:lvl7pPr>
            <a:lvl8pPr marL="3657509" lvl="7" indent="-317492" algn="ctr">
              <a:spcBef>
                <a:spcPts val="1600"/>
              </a:spcBef>
              <a:spcAft>
                <a:spcPts val="0"/>
              </a:spcAft>
              <a:buSzPts val="1400"/>
              <a:buChar char="○"/>
              <a:defRPr/>
            </a:lvl8pPr>
            <a:lvl9pPr marL="4114697" lvl="8" indent="-317492" algn="ctr">
              <a:spcBef>
                <a:spcPts val="1600"/>
              </a:spcBef>
              <a:spcAft>
                <a:spcPts val="1600"/>
              </a:spcAft>
              <a:buSzPts val="1400"/>
              <a:buChar char="■"/>
              <a:defRPr/>
            </a:lvl9pPr>
          </a:lstStyle>
          <a:p>
            <a:endParaRPr/>
          </a:p>
        </p:txBody>
      </p:sp>
      <p:sp>
        <p:nvSpPr>
          <p:cNvPr id="60" name="Shape 60"/>
          <p:cNvSpPr txBox="1">
            <a:spLocks noGrp="1"/>
          </p:cNvSpPr>
          <p:nvPr>
            <p:ph type="sldNum" idx="12"/>
          </p:nvPr>
        </p:nvSpPr>
        <p:spPr>
          <a:xfrm>
            <a:off x="8523542"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1" y="738725"/>
            <a:ext cx="8222100" cy="767700"/>
          </a:xfrm>
          <a:prstGeom prst="rect">
            <a:avLst/>
          </a:prstGeom>
          <a:noFill/>
          <a:ln>
            <a:noFill/>
          </a:ln>
        </p:spPr>
        <p:txBody>
          <a:bodyPr spcFirstLastPara="1" wrap="square" lIns="91425" tIns="91425" rIns="91425" bIns="91425" anchor="b" anchorCtr="0"/>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1" y="1919075"/>
            <a:ext cx="8222100" cy="27102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Shape 8"/>
          <p:cNvSpPr txBox="1">
            <a:spLocks noGrp="1"/>
          </p:cNvSpPr>
          <p:nvPr>
            <p:ph type="sldNum" idx="12"/>
          </p:nvPr>
        </p:nvSpPr>
        <p:spPr>
          <a:xfrm>
            <a:off x="8523542" y="4695623"/>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57"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8.jp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0.JPG"/><Relationship Id="rId5" Type="http://schemas.openxmlformats.org/officeDocument/2006/relationships/image" Target="../media/image39.JP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3.emf"/><Relationship Id="rId4" Type="http://schemas.openxmlformats.org/officeDocument/2006/relationships/image" Target="../media/image42.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Shape 67"/>
          <p:cNvSpPr txBox="1">
            <a:spLocks noGrp="1"/>
          </p:cNvSpPr>
          <p:nvPr>
            <p:ph type="ctrTitle"/>
          </p:nvPr>
        </p:nvSpPr>
        <p:spPr>
          <a:xfrm>
            <a:off x="390526" y="1819275"/>
            <a:ext cx="8222100" cy="933600"/>
          </a:xfrm>
          <a:prstGeom prst="rect">
            <a:avLst/>
          </a:prstGeom>
        </p:spPr>
        <p:txBody>
          <a:bodyPr spcFirstLastPara="1" wrap="square" lIns="91425" tIns="91425" rIns="91425" bIns="91425" anchor="b" anchorCtr="0">
            <a:noAutofit/>
          </a:bodyPr>
          <a:lstStyle/>
          <a:p>
            <a:pPr algn="ctr"/>
            <a:r>
              <a:rPr lang="zh-CN" altLang="en-US" b="1"/>
              <a:t>工作</a:t>
            </a:r>
            <a:r>
              <a:rPr lang="zh-CN" altLang="en-US" b="1" dirty="0"/>
              <a:t>经验</a:t>
            </a:r>
            <a:r>
              <a:rPr lang="en" b="1" dirty="0"/>
              <a:t>	</a:t>
            </a:r>
            <a:endParaRPr sz="3600" b="1" dirty="0"/>
          </a:p>
        </p:txBody>
      </p:sp>
      <p:sp>
        <p:nvSpPr>
          <p:cNvPr id="68" name="Shape 68"/>
          <p:cNvSpPr txBox="1">
            <a:spLocks noGrp="1"/>
          </p:cNvSpPr>
          <p:nvPr>
            <p:ph type="subTitle" idx="1"/>
          </p:nvPr>
        </p:nvSpPr>
        <p:spPr>
          <a:xfrm>
            <a:off x="231500" y="3097244"/>
            <a:ext cx="8222100" cy="432900"/>
          </a:xfrm>
          <a:prstGeom prst="rect">
            <a:avLst/>
          </a:prstGeom>
        </p:spPr>
        <p:txBody>
          <a:bodyPr spcFirstLastPara="1" wrap="square" lIns="91425" tIns="91425" rIns="91425" bIns="91425" anchor="t" anchorCtr="0">
            <a:noAutofit/>
          </a:bodyPr>
          <a:lstStyle/>
          <a:p>
            <a:pPr marL="0" indent="0" algn="ctr"/>
            <a:r>
              <a:rPr lang="zh-CN" altLang="en-US" sz="2000" dirty="0"/>
              <a:t>叶自强</a:t>
            </a:r>
            <a:r>
              <a:rPr lang="en" sz="2000" dirty="0"/>
              <a:t>• </a:t>
            </a:r>
            <a:r>
              <a:rPr lang="en-US" altLang="zh-CN" sz="2000" dirty="0"/>
              <a:t>2022/03/30</a:t>
            </a:r>
            <a:endParaRPr sz="2000" dirty="0"/>
          </a:p>
        </p:txBody>
      </p:sp>
    </p:spTree>
  </p:cSld>
  <p:clrMapOvr>
    <a:masterClrMapping/>
  </p:clrMapOvr>
  <mc:AlternateContent xmlns:mc="http://schemas.openxmlformats.org/markup-compatibility/2006" xmlns:p14="http://schemas.microsoft.com/office/powerpoint/2010/main">
    <mc:Choice Requires="p14">
      <p:transition spd="slow" p14:dur="2000" advTm="1611"/>
    </mc:Choice>
    <mc:Fallback xmlns="">
      <p:transition spd="slow" advTm="161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265500" y="1912650"/>
            <a:ext cx="4045200" cy="1318200"/>
          </a:xfrm>
          <a:prstGeom prst="rect">
            <a:avLst/>
          </a:prstGeom>
        </p:spPr>
        <p:txBody>
          <a:bodyPr spcFirstLastPara="1" wrap="square" lIns="91425" tIns="91425" rIns="91425" bIns="91425" anchor="ctr" anchorCtr="0">
            <a:noAutofit/>
          </a:bodyPr>
          <a:lstStyle/>
          <a:p>
            <a:r>
              <a:rPr lang="zh-CN" altLang="en-US" dirty="0"/>
              <a:t>目录</a:t>
            </a:r>
            <a:endParaRPr dirty="0"/>
          </a:p>
        </p:txBody>
      </p:sp>
      <p:sp>
        <p:nvSpPr>
          <p:cNvPr id="74" name="Shape 74"/>
          <p:cNvSpPr txBox="1">
            <a:spLocks noGrp="1"/>
          </p:cNvSpPr>
          <p:nvPr>
            <p:ph type="body" idx="2"/>
          </p:nvPr>
        </p:nvSpPr>
        <p:spPr>
          <a:xfrm>
            <a:off x="4939500" y="724201"/>
            <a:ext cx="3837000" cy="3695100"/>
          </a:xfrm>
          <a:prstGeom prst="rect">
            <a:avLst/>
          </a:prstGeom>
        </p:spPr>
        <p:txBody>
          <a:bodyPr spcFirstLastPara="1" wrap="square" lIns="91425" tIns="91425" rIns="91425" bIns="91425" anchor="ctr" anchorCtr="0">
            <a:noAutofit/>
          </a:bodyPr>
          <a:lstStyle/>
          <a:p>
            <a:pPr marL="0" indent="0">
              <a:lnSpc>
                <a:spcPct val="200000"/>
              </a:lnSpc>
              <a:buNone/>
            </a:pPr>
            <a:r>
              <a:rPr lang="zh-CN" altLang="en-US" sz="2000" b="1" dirty="0"/>
              <a:t>１．基本信息</a:t>
            </a:r>
            <a:endParaRPr lang="en-US" altLang="zh-CN" sz="2000" b="1" dirty="0"/>
          </a:p>
          <a:p>
            <a:pPr marL="0" indent="0">
              <a:lnSpc>
                <a:spcPct val="200000"/>
              </a:lnSpc>
              <a:buNone/>
            </a:pPr>
            <a:r>
              <a:rPr lang="zh-CN" altLang="en-US" sz="2000" b="1" dirty="0"/>
              <a:t>２．项目经历</a:t>
            </a:r>
            <a:endParaRPr lang="en-US" altLang="zh-CN" sz="2000" b="1" dirty="0"/>
          </a:p>
          <a:p>
            <a:pPr marL="0" indent="0">
              <a:lnSpc>
                <a:spcPct val="200000"/>
              </a:lnSpc>
              <a:buNone/>
            </a:pPr>
            <a:r>
              <a:rPr lang="zh-CN" altLang="en-US" sz="2000" b="1" dirty="0"/>
              <a:t>３．科研经历</a:t>
            </a:r>
            <a:endParaRPr lang="en-US" altLang="zh-CN" sz="2000" b="1" dirty="0"/>
          </a:p>
          <a:p>
            <a:pPr marL="0" indent="0">
              <a:lnSpc>
                <a:spcPct val="200000"/>
              </a:lnSpc>
              <a:buNone/>
            </a:pPr>
            <a:r>
              <a:rPr lang="zh-CN" altLang="en-US" sz="2000" b="1" dirty="0"/>
              <a:t>４．其他信息</a:t>
            </a:r>
            <a:endParaRPr lang="en-US" altLang="zh-CN" sz="20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358"/>
    </mc:Choice>
    <mc:Fallback xmlns="">
      <p:transition spd="slow" advTm="35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Shape 139"/>
          <p:cNvSpPr txBox="1">
            <a:spLocks noGrp="1"/>
          </p:cNvSpPr>
          <p:nvPr>
            <p:ph type="title"/>
          </p:nvPr>
        </p:nvSpPr>
        <p:spPr>
          <a:xfrm>
            <a:off x="0" y="0"/>
            <a:ext cx="8222100" cy="660400"/>
          </a:xfrm>
          <a:prstGeom prst="rect">
            <a:avLst/>
          </a:prstGeom>
        </p:spPr>
        <p:txBody>
          <a:bodyPr spcFirstLastPara="1" wrap="square" lIns="91425" tIns="91425" rIns="91425" bIns="91425" anchor="b" anchorCtr="0">
            <a:noAutofit/>
          </a:bodyPr>
          <a:lstStyle/>
          <a:p>
            <a:r>
              <a:rPr lang="zh-CN" altLang="en-US" b="1" dirty="0">
                <a:latin typeface="微软雅黑" panose="020B0503020204020204" pitchFamily="34" charset="-122"/>
                <a:ea typeface="微软雅黑" panose="020B0503020204020204" pitchFamily="34" charset="-122"/>
              </a:rPr>
              <a:t>２</a:t>
            </a:r>
            <a:r>
              <a:rPr lang="zh-CN" altLang="en-US" b="1" dirty="0">
                <a:latin typeface="黑体" panose="02010609060101010101" pitchFamily="49" charset="-122"/>
                <a:ea typeface="黑体" panose="02010609060101010101" pitchFamily="49" charset="-122"/>
              </a:rPr>
              <a:t>项目经历</a:t>
            </a:r>
            <a:endParaRPr b="1" dirty="0">
              <a:latin typeface="黑体" panose="02010609060101010101" pitchFamily="49" charset="-122"/>
              <a:ea typeface="黑体" panose="02010609060101010101" pitchFamily="49" charset="-122"/>
            </a:endParaRPr>
          </a:p>
        </p:txBody>
      </p:sp>
      <p:sp>
        <p:nvSpPr>
          <p:cNvPr id="4" name="灯片编号占位符 3">
            <a:extLst>
              <a:ext uri="{FF2B5EF4-FFF2-40B4-BE49-F238E27FC236}">
                <a16:creationId xmlns:a16="http://schemas.microsoft.com/office/drawing/2014/main" id="{2697A461-3BD9-46FE-BA49-D6859806B7C1}"/>
              </a:ext>
            </a:extLst>
          </p:cNvPr>
          <p:cNvSpPr>
            <a:spLocks noGrp="1"/>
          </p:cNvSpPr>
          <p:nvPr>
            <p:ph type="sldNum" idx="12"/>
          </p:nvPr>
        </p:nvSpPr>
        <p:spPr/>
        <p:txBody>
          <a:bodyPr/>
          <a:lstStyle/>
          <a:p>
            <a:fld id="{00000000-1234-1234-1234-123412341234}" type="slidenum">
              <a:rPr lang="en" smtClean="0"/>
              <a:pPr/>
              <a:t>3</a:t>
            </a:fld>
            <a:r>
              <a:rPr lang="en-US" altLang="zh-CN"/>
              <a:t>/18</a:t>
            </a:r>
            <a:endParaRPr lang="en" dirty="0"/>
          </a:p>
        </p:txBody>
      </p:sp>
      <p:graphicFrame>
        <p:nvGraphicFramePr>
          <p:cNvPr id="2" name="表格 2">
            <a:extLst>
              <a:ext uri="{FF2B5EF4-FFF2-40B4-BE49-F238E27FC236}">
                <a16:creationId xmlns:a16="http://schemas.microsoft.com/office/drawing/2014/main" id="{FD113B52-09B3-4BF3-A969-19E5937D83FB}"/>
              </a:ext>
            </a:extLst>
          </p:cNvPr>
          <p:cNvGraphicFramePr>
            <a:graphicFrameLocks noGrp="1"/>
          </p:cNvGraphicFramePr>
          <p:nvPr>
            <p:extLst>
              <p:ext uri="{D42A27DB-BD31-4B8C-83A1-F6EECF244321}">
                <p14:modId xmlns:p14="http://schemas.microsoft.com/office/powerpoint/2010/main" val="3959436127"/>
              </p:ext>
            </p:extLst>
          </p:nvPr>
        </p:nvGraphicFramePr>
        <p:xfrm>
          <a:off x="595217" y="970293"/>
          <a:ext cx="7804504" cy="3438672"/>
        </p:xfrm>
        <a:graphic>
          <a:graphicData uri="http://schemas.openxmlformats.org/drawingml/2006/table">
            <a:tbl>
              <a:tblPr firstRow="1" bandRow="1">
                <a:tableStyleId>{5C22544A-7EE6-4342-B048-85BDC9FD1C3A}</a:tableStyleId>
              </a:tblPr>
              <a:tblGrid>
                <a:gridCol w="1510030">
                  <a:extLst>
                    <a:ext uri="{9D8B030D-6E8A-4147-A177-3AD203B41FA5}">
                      <a16:colId xmlns:a16="http://schemas.microsoft.com/office/drawing/2014/main" val="3281085047"/>
                    </a:ext>
                  </a:extLst>
                </a:gridCol>
                <a:gridCol w="4555769">
                  <a:extLst>
                    <a:ext uri="{9D8B030D-6E8A-4147-A177-3AD203B41FA5}">
                      <a16:colId xmlns:a16="http://schemas.microsoft.com/office/drawing/2014/main" val="2393235690"/>
                    </a:ext>
                  </a:extLst>
                </a:gridCol>
                <a:gridCol w="1738705">
                  <a:extLst>
                    <a:ext uri="{9D8B030D-6E8A-4147-A177-3AD203B41FA5}">
                      <a16:colId xmlns:a16="http://schemas.microsoft.com/office/drawing/2014/main" val="168289864"/>
                    </a:ext>
                  </a:extLst>
                </a:gridCol>
              </a:tblGrid>
              <a:tr h="573112">
                <a:tc>
                  <a:txBody>
                    <a:bodyPr/>
                    <a:lstStyle/>
                    <a:p>
                      <a:pPr algn="ctr"/>
                      <a:r>
                        <a:rPr lang="zh-CN" altLang="en-US" sz="1800" b="1" dirty="0">
                          <a:latin typeface="+mn-ea"/>
                          <a:ea typeface="+mn-ea"/>
                        </a:rPr>
                        <a:t>序号</a:t>
                      </a:r>
                    </a:p>
                  </a:txBody>
                  <a:tcPr anchor="ctr"/>
                </a:tc>
                <a:tc>
                  <a:txBody>
                    <a:bodyPr/>
                    <a:lstStyle/>
                    <a:p>
                      <a:pPr algn="ctr"/>
                      <a:r>
                        <a:rPr lang="zh-CN" altLang="en-US" sz="1800" b="1" dirty="0">
                          <a:latin typeface="+mn-ea"/>
                          <a:ea typeface="+mn-ea"/>
                        </a:rPr>
                        <a:t>项目名称</a:t>
                      </a:r>
                    </a:p>
                  </a:txBody>
                  <a:tcPr anchor="ctr"/>
                </a:tc>
                <a:tc>
                  <a:txBody>
                    <a:bodyPr/>
                    <a:lstStyle/>
                    <a:p>
                      <a:pPr algn="ctr"/>
                      <a:r>
                        <a:rPr lang="zh-CN" altLang="en-US" sz="1800" b="1" dirty="0">
                          <a:latin typeface="+mn-ea"/>
                          <a:ea typeface="+mn-ea"/>
                        </a:rPr>
                        <a:t>与岗位相关</a:t>
                      </a:r>
                    </a:p>
                  </a:txBody>
                  <a:tcPr anchor="ctr"/>
                </a:tc>
                <a:extLst>
                  <a:ext uri="{0D108BD9-81ED-4DB2-BD59-A6C34878D82A}">
                    <a16:rowId xmlns:a16="http://schemas.microsoft.com/office/drawing/2014/main" val="2280730005"/>
                  </a:ext>
                </a:extLst>
              </a:tr>
              <a:tr h="573112">
                <a:tc>
                  <a:txBody>
                    <a:bodyPr/>
                    <a:lstStyle/>
                    <a:p>
                      <a:pPr algn="ctr"/>
                      <a:r>
                        <a:rPr lang="en-US" altLang="zh-CN" dirty="0">
                          <a:solidFill>
                            <a:schemeClr val="bg2">
                              <a:lumMod val="50000"/>
                            </a:schemeClr>
                          </a:solidFill>
                          <a:latin typeface="+mn-ea"/>
                          <a:ea typeface="+mn-ea"/>
                        </a:rPr>
                        <a:t>1</a:t>
                      </a:r>
                      <a:endParaRPr lang="zh-CN" altLang="en-US" dirty="0">
                        <a:solidFill>
                          <a:schemeClr val="bg2">
                            <a:lumMod val="50000"/>
                          </a:schemeClr>
                        </a:solidFill>
                        <a:latin typeface="+mn-ea"/>
                        <a:ea typeface="+mn-ea"/>
                      </a:endParaRPr>
                    </a:p>
                  </a:txBody>
                  <a:tcPr anchor="ctr"/>
                </a:tc>
                <a:tc>
                  <a:txBody>
                    <a:bodyPr/>
                    <a:lstStyle/>
                    <a:p>
                      <a:pPr algn="ctr"/>
                      <a:r>
                        <a:rPr lang="en-US" altLang="zh-CN" sz="1400" b="1" kern="100" dirty="0">
                          <a:solidFill>
                            <a:schemeClr val="bg2">
                              <a:lumMod val="50000"/>
                            </a:schemeClr>
                          </a:solidFill>
                          <a:effectLst/>
                          <a:latin typeface="+mn-ea"/>
                          <a:ea typeface="+mn-ea"/>
                          <a:cs typeface="Times New Roman" panose="02020603050405020304" pitchFamily="18" charset="0"/>
                        </a:rPr>
                        <a:t>CUMS</a:t>
                      </a:r>
                      <a:r>
                        <a:rPr lang="zh-CN" altLang="en-US" sz="1400" b="1" kern="100" dirty="0">
                          <a:solidFill>
                            <a:schemeClr val="bg2">
                              <a:lumMod val="50000"/>
                            </a:schemeClr>
                          </a:solidFill>
                          <a:effectLst/>
                          <a:latin typeface="+mn-ea"/>
                          <a:ea typeface="+mn-ea"/>
                          <a:cs typeface="Times New Roman" panose="02020603050405020304" pitchFamily="18" charset="0"/>
                        </a:rPr>
                        <a:t>系统前处理几何建模模块开发</a:t>
                      </a:r>
                      <a:endParaRPr lang="zh-CN" altLang="en-US" dirty="0">
                        <a:solidFill>
                          <a:schemeClr val="bg2">
                            <a:lumMod val="50000"/>
                          </a:schemeClr>
                        </a:solidFill>
                        <a:latin typeface="+mn-ea"/>
                        <a:ea typeface="+mn-ea"/>
                      </a:endParaRPr>
                    </a:p>
                  </a:txBody>
                  <a:tcPr anchor="ctr"/>
                </a:tc>
                <a:tc>
                  <a:txBody>
                    <a:bodyPr/>
                    <a:lstStyle/>
                    <a:p>
                      <a:pPr algn="ctr"/>
                      <a:endParaRPr lang="zh-CN" altLang="en-US" dirty="0">
                        <a:latin typeface="+mn-ea"/>
                        <a:ea typeface="+mn-ea"/>
                      </a:endParaRPr>
                    </a:p>
                  </a:txBody>
                  <a:tcPr anchor="ctr"/>
                </a:tc>
                <a:extLst>
                  <a:ext uri="{0D108BD9-81ED-4DB2-BD59-A6C34878D82A}">
                    <a16:rowId xmlns:a16="http://schemas.microsoft.com/office/drawing/2014/main" val="3173052010"/>
                  </a:ext>
                </a:extLst>
              </a:tr>
              <a:tr h="573112">
                <a:tc>
                  <a:txBody>
                    <a:bodyPr/>
                    <a:lstStyle/>
                    <a:p>
                      <a:pPr algn="ctr"/>
                      <a:r>
                        <a:rPr lang="en-US" altLang="zh-CN" dirty="0">
                          <a:solidFill>
                            <a:schemeClr val="bg2">
                              <a:lumMod val="50000"/>
                            </a:schemeClr>
                          </a:solidFill>
                          <a:latin typeface="+mn-ea"/>
                          <a:ea typeface="+mn-ea"/>
                        </a:rPr>
                        <a:t>2</a:t>
                      </a:r>
                      <a:endParaRPr lang="zh-CN" altLang="en-US" dirty="0">
                        <a:solidFill>
                          <a:schemeClr val="bg2">
                            <a:lumMod val="50000"/>
                          </a:schemeClr>
                        </a:solidFill>
                        <a:latin typeface="+mn-ea"/>
                        <a:ea typeface="+mn-ea"/>
                      </a:endParaRPr>
                    </a:p>
                  </a:txBody>
                  <a:tcPr anchor="ctr"/>
                </a:tc>
                <a:tc>
                  <a:txBody>
                    <a:bodyPr/>
                    <a:lstStyle/>
                    <a:p>
                      <a:pPr algn="ctr"/>
                      <a:r>
                        <a:rPr lang="zh-CN" altLang="en-US" b="1" dirty="0">
                          <a:solidFill>
                            <a:schemeClr val="bg2">
                              <a:lumMod val="50000"/>
                            </a:schemeClr>
                          </a:solidFill>
                          <a:latin typeface="+mn-ea"/>
                          <a:ea typeface="+mn-ea"/>
                        </a:rPr>
                        <a:t>一维数字化智能设计模块</a:t>
                      </a:r>
                      <a:endParaRPr lang="zh-CN" altLang="en-US" dirty="0">
                        <a:solidFill>
                          <a:schemeClr val="bg2">
                            <a:lumMod val="50000"/>
                          </a:schemeClr>
                        </a:solidFill>
                        <a:latin typeface="+mn-ea"/>
                        <a:ea typeface="+mn-ea"/>
                      </a:endParaRPr>
                    </a:p>
                  </a:txBody>
                  <a:tcPr anchor="ctr"/>
                </a:tc>
                <a:tc>
                  <a:txBody>
                    <a:bodyPr/>
                    <a:lstStyle/>
                    <a:p>
                      <a:pPr algn="ctr"/>
                      <a:endParaRPr lang="zh-CN" altLang="en-US" dirty="0">
                        <a:latin typeface="+mn-ea"/>
                        <a:ea typeface="+mn-ea"/>
                      </a:endParaRPr>
                    </a:p>
                  </a:txBody>
                  <a:tcPr anchor="ctr"/>
                </a:tc>
                <a:extLst>
                  <a:ext uri="{0D108BD9-81ED-4DB2-BD59-A6C34878D82A}">
                    <a16:rowId xmlns:a16="http://schemas.microsoft.com/office/drawing/2014/main" val="4006656398"/>
                  </a:ext>
                </a:extLst>
              </a:tr>
              <a:tr h="573112">
                <a:tc>
                  <a:txBody>
                    <a:bodyPr/>
                    <a:lstStyle/>
                    <a:p>
                      <a:pPr algn="ctr"/>
                      <a:r>
                        <a:rPr lang="en-US" altLang="zh-CN" dirty="0">
                          <a:solidFill>
                            <a:schemeClr val="bg2">
                              <a:lumMod val="50000"/>
                            </a:schemeClr>
                          </a:solidFill>
                          <a:latin typeface="+mn-ea"/>
                          <a:ea typeface="+mn-ea"/>
                        </a:rPr>
                        <a:t>3</a:t>
                      </a:r>
                      <a:endParaRPr lang="zh-CN" altLang="en-US" dirty="0">
                        <a:solidFill>
                          <a:schemeClr val="bg2">
                            <a:lumMod val="50000"/>
                          </a:schemeClr>
                        </a:solidFill>
                        <a:latin typeface="+mn-ea"/>
                        <a:ea typeface="+mn-ea"/>
                      </a:endParaRPr>
                    </a:p>
                  </a:txBody>
                  <a:tcPr anchor="ctr"/>
                </a:tc>
                <a:tc>
                  <a:txBody>
                    <a:bodyPr/>
                    <a:lstStyle/>
                    <a:p>
                      <a:pPr algn="ctr"/>
                      <a:r>
                        <a:rPr lang="zh-CN" altLang="en-US" b="1" dirty="0">
                          <a:solidFill>
                            <a:schemeClr val="bg2">
                              <a:lumMod val="50000"/>
                            </a:schemeClr>
                          </a:solidFill>
                          <a:latin typeface="+mn-ea"/>
                          <a:ea typeface="+mn-ea"/>
                        </a:rPr>
                        <a:t>二维通流和叶片间流场仿真</a:t>
                      </a:r>
                      <a:endParaRPr lang="zh-CN" altLang="en-US" dirty="0">
                        <a:solidFill>
                          <a:schemeClr val="bg2">
                            <a:lumMod val="50000"/>
                          </a:schemeClr>
                        </a:solidFill>
                        <a:latin typeface="+mn-ea"/>
                        <a:ea typeface="+mn-ea"/>
                      </a:endParaRPr>
                    </a:p>
                  </a:txBody>
                  <a:tcPr anchor="ctr"/>
                </a:tc>
                <a:tc>
                  <a:txBody>
                    <a:bodyPr/>
                    <a:lstStyle/>
                    <a:p>
                      <a:pPr algn="ctr"/>
                      <a:endParaRPr lang="zh-CN" altLang="en-US" dirty="0">
                        <a:latin typeface="+mn-ea"/>
                        <a:ea typeface="+mn-ea"/>
                      </a:endParaRPr>
                    </a:p>
                  </a:txBody>
                  <a:tcPr anchor="ctr"/>
                </a:tc>
                <a:extLst>
                  <a:ext uri="{0D108BD9-81ED-4DB2-BD59-A6C34878D82A}">
                    <a16:rowId xmlns:a16="http://schemas.microsoft.com/office/drawing/2014/main" val="100784251"/>
                  </a:ext>
                </a:extLst>
              </a:tr>
              <a:tr h="573112">
                <a:tc>
                  <a:txBody>
                    <a:bodyPr/>
                    <a:lstStyle/>
                    <a:p>
                      <a:pPr algn="ctr"/>
                      <a:r>
                        <a:rPr lang="en-US" altLang="zh-CN" dirty="0">
                          <a:solidFill>
                            <a:schemeClr val="bg2">
                              <a:lumMod val="50000"/>
                            </a:schemeClr>
                          </a:solidFill>
                          <a:latin typeface="+mn-ea"/>
                          <a:ea typeface="+mn-ea"/>
                        </a:rPr>
                        <a:t>4</a:t>
                      </a:r>
                      <a:endParaRPr lang="zh-CN" altLang="en-US" dirty="0">
                        <a:solidFill>
                          <a:schemeClr val="bg2">
                            <a:lumMod val="50000"/>
                          </a:schemeClr>
                        </a:solidFill>
                        <a:latin typeface="+mn-ea"/>
                        <a:ea typeface="+mn-ea"/>
                      </a:endParaRPr>
                    </a:p>
                  </a:txBody>
                  <a:tcPr anchor="ctr"/>
                </a:tc>
                <a:tc>
                  <a:txBody>
                    <a:bodyPr/>
                    <a:lstStyle/>
                    <a:p>
                      <a:pPr algn="ctr"/>
                      <a:r>
                        <a:rPr lang="zh-CN" altLang="zh-CN" sz="1400" b="1" kern="100" dirty="0">
                          <a:solidFill>
                            <a:schemeClr val="bg2">
                              <a:lumMod val="50000"/>
                            </a:schemeClr>
                          </a:solidFill>
                          <a:effectLst/>
                          <a:latin typeface="+mn-ea"/>
                          <a:ea typeface="+mn-ea"/>
                          <a:cs typeface="Times New Roman" panose="02020603050405020304" pitchFamily="18" charset="0"/>
                        </a:rPr>
                        <a:t>飞机线束三维设计协同平台</a:t>
                      </a:r>
                      <a:endParaRPr lang="zh-CN" altLang="en-US" dirty="0">
                        <a:solidFill>
                          <a:schemeClr val="bg2">
                            <a:lumMod val="50000"/>
                          </a:schemeClr>
                        </a:solidFill>
                        <a:latin typeface="+mn-ea"/>
                        <a:ea typeface="+mn-ea"/>
                      </a:endParaRPr>
                    </a:p>
                  </a:txBody>
                  <a:tcPr anchor="ctr"/>
                </a:tc>
                <a:tc>
                  <a:txBody>
                    <a:bodyPr/>
                    <a:lstStyle/>
                    <a:p>
                      <a:pPr algn="ctr"/>
                      <a:endParaRPr lang="zh-CN" altLang="en-US" dirty="0">
                        <a:latin typeface="+mn-ea"/>
                        <a:ea typeface="+mn-ea"/>
                      </a:endParaRPr>
                    </a:p>
                  </a:txBody>
                  <a:tcPr anchor="ctr"/>
                </a:tc>
                <a:extLst>
                  <a:ext uri="{0D108BD9-81ED-4DB2-BD59-A6C34878D82A}">
                    <a16:rowId xmlns:a16="http://schemas.microsoft.com/office/drawing/2014/main" val="3864730650"/>
                  </a:ext>
                </a:extLst>
              </a:tr>
              <a:tr h="573112">
                <a:tc>
                  <a:txBody>
                    <a:bodyPr/>
                    <a:lstStyle/>
                    <a:p>
                      <a:pPr algn="ctr"/>
                      <a:r>
                        <a:rPr lang="en-US" altLang="zh-CN" dirty="0">
                          <a:solidFill>
                            <a:schemeClr val="bg2">
                              <a:lumMod val="50000"/>
                            </a:schemeClr>
                          </a:solidFill>
                          <a:latin typeface="+mn-ea"/>
                          <a:ea typeface="+mn-ea"/>
                        </a:rPr>
                        <a:t>5</a:t>
                      </a:r>
                      <a:endParaRPr lang="zh-CN" altLang="en-US" dirty="0">
                        <a:solidFill>
                          <a:schemeClr val="bg2">
                            <a:lumMod val="50000"/>
                          </a:schemeClr>
                        </a:solidFill>
                        <a:latin typeface="+mn-ea"/>
                        <a:ea typeface="+mn-ea"/>
                      </a:endParaRPr>
                    </a:p>
                  </a:txBody>
                  <a:tcPr anchor="ctr"/>
                </a:tc>
                <a:tc>
                  <a:txBody>
                    <a:bodyPr/>
                    <a:lstStyle/>
                    <a:p>
                      <a:pPr algn="ctr"/>
                      <a:r>
                        <a:rPr lang="en-US" altLang="zh-CN" sz="1400" b="1" kern="100" dirty="0">
                          <a:solidFill>
                            <a:schemeClr val="bg2">
                              <a:lumMod val="50000"/>
                            </a:schemeClr>
                          </a:solidFill>
                          <a:effectLst/>
                          <a:latin typeface="微软 雅黑"/>
                          <a:ea typeface="+mn-ea"/>
                          <a:cs typeface="Times New Roman" panose="02020603050405020304" pitchFamily="18" charset="0"/>
                        </a:rPr>
                        <a:t>CUMS</a:t>
                      </a:r>
                      <a:r>
                        <a:rPr lang="zh-CN" altLang="en-US" sz="1400" b="1" kern="100" dirty="0">
                          <a:solidFill>
                            <a:schemeClr val="bg2">
                              <a:lumMod val="50000"/>
                            </a:schemeClr>
                          </a:solidFill>
                          <a:effectLst/>
                          <a:latin typeface="微软 雅黑"/>
                          <a:ea typeface="+mn-ea"/>
                          <a:cs typeface="Times New Roman" panose="02020603050405020304" pitchFamily="18" charset="0"/>
                        </a:rPr>
                        <a:t>数据处理服务系统</a:t>
                      </a:r>
                      <a:endParaRPr lang="zh-CN" altLang="en-US" dirty="0">
                        <a:solidFill>
                          <a:schemeClr val="bg2">
                            <a:lumMod val="50000"/>
                          </a:schemeClr>
                        </a:solidFill>
                        <a:latin typeface="+mn-ea"/>
                        <a:ea typeface="+mn-ea"/>
                      </a:endParaRPr>
                    </a:p>
                  </a:txBody>
                  <a:tcPr anchor="ctr"/>
                </a:tc>
                <a:tc>
                  <a:txBody>
                    <a:bodyPr/>
                    <a:lstStyle/>
                    <a:p>
                      <a:pPr algn="ctr"/>
                      <a:endParaRPr lang="zh-CN" altLang="en-US" dirty="0">
                        <a:latin typeface="+mn-ea"/>
                        <a:ea typeface="+mn-ea"/>
                      </a:endParaRPr>
                    </a:p>
                  </a:txBody>
                  <a:tcPr anchor="ctr"/>
                </a:tc>
                <a:extLst>
                  <a:ext uri="{0D108BD9-81ED-4DB2-BD59-A6C34878D82A}">
                    <a16:rowId xmlns:a16="http://schemas.microsoft.com/office/drawing/2014/main" val="1559579545"/>
                  </a:ext>
                </a:extLst>
              </a:tr>
            </a:tbl>
          </a:graphicData>
        </a:graphic>
      </p:graphicFrame>
      <p:sp>
        <p:nvSpPr>
          <p:cNvPr id="3" name="星形: 五角 2">
            <a:extLst>
              <a:ext uri="{FF2B5EF4-FFF2-40B4-BE49-F238E27FC236}">
                <a16:creationId xmlns:a16="http://schemas.microsoft.com/office/drawing/2014/main" id="{F1AD0080-6214-47F9-9C47-A098B3708568}"/>
              </a:ext>
            </a:extLst>
          </p:cNvPr>
          <p:cNvSpPr/>
          <p:nvPr/>
        </p:nvSpPr>
        <p:spPr>
          <a:xfrm>
            <a:off x="7081284" y="1722474"/>
            <a:ext cx="144000" cy="144000"/>
          </a:xfrm>
          <a:prstGeom prst="star5">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星形: 五角 8">
            <a:extLst>
              <a:ext uri="{FF2B5EF4-FFF2-40B4-BE49-F238E27FC236}">
                <a16:creationId xmlns:a16="http://schemas.microsoft.com/office/drawing/2014/main" id="{D9B4C4C2-8BAB-425B-8169-C89749BBB41C}"/>
              </a:ext>
            </a:extLst>
          </p:cNvPr>
          <p:cNvSpPr/>
          <p:nvPr/>
        </p:nvSpPr>
        <p:spPr>
          <a:xfrm>
            <a:off x="7439247" y="1722474"/>
            <a:ext cx="144000" cy="144000"/>
          </a:xfrm>
          <a:prstGeom prst="star5">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星形: 五角 10">
            <a:extLst>
              <a:ext uri="{FF2B5EF4-FFF2-40B4-BE49-F238E27FC236}">
                <a16:creationId xmlns:a16="http://schemas.microsoft.com/office/drawing/2014/main" id="{A0CA8F0C-B4B6-420A-AD22-87B6F2F59B74}"/>
              </a:ext>
            </a:extLst>
          </p:cNvPr>
          <p:cNvSpPr/>
          <p:nvPr/>
        </p:nvSpPr>
        <p:spPr>
          <a:xfrm>
            <a:off x="7797210" y="1722474"/>
            <a:ext cx="144000" cy="144000"/>
          </a:xfrm>
          <a:prstGeom prst="star5">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星形: 五角 11">
            <a:extLst>
              <a:ext uri="{FF2B5EF4-FFF2-40B4-BE49-F238E27FC236}">
                <a16:creationId xmlns:a16="http://schemas.microsoft.com/office/drawing/2014/main" id="{16A6B288-D7AE-47B0-BEB2-C0FD7F4B8B05}"/>
              </a:ext>
            </a:extLst>
          </p:cNvPr>
          <p:cNvSpPr/>
          <p:nvPr/>
        </p:nvSpPr>
        <p:spPr>
          <a:xfrm>
            <a:off x="7081284" y="2307264"/>
            <a:ext cx="144000" cy="144000"/>
          </a:xfrm>
          <a:prstGeom prst="star5">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星形: 五角 13">
            <a:extLst>
              <a:ext uri="{FF2B5EF4-FFF2-40B4-BE49-F238E27FC236}">
                <a16:creationId xmlns:a16="http://schemas.microsoft.com/office/drawing/2014/main" id="{368F5959-2F10-4ACC-8021-C9717399FD4B}"/>
              </a:ext>
            </a:extLst>
          </p:cNvPr>
          <p:cNvSpPr/>
          <p:nvPr/>
        </p:nvSpPr>
        <p:spPr>
          <a:xfrm>
            <a:off x="7439247" y="2307264"/>
            <a:ext cx="144000" cy="144000"/>
          </a:xfrm>
          <a:prstGeom prst="star5">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星形: 五角 14">
            <a:extLst>
              <a:ext uri="{FF2B5EF4-FFF2-40B4-BE49-F238E27FC236}">
                <a16:creationId xmlns:a16="http://schemas.microsoft.com/office/drawing/2014/main" id="{5F826CA9-0C4B-4551-B98A-3423AB0B2026}"/>
              </a:ext>
            </a:extLst>
          </p:cNvPr>
          <p:cNvSpPr/>
          <p:nvPr/>
        </p:nvSpPr>
        <p:spPr>
          <a:xfrm>
            <a:off x="7829376" y="2307264"/>
            <a:ext cx="144000" cy="144000"/>
          </a:xfrm>
          <a:prstGeom prst="star5">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星形: 五角 16">
            <a:extLst>
              <a:ext uri="{FF2B5EF4-FFF2-40B4-BE49-F238E27FC236}">
                <a16:creationId xmlns:a16="http://schemas.microsoft.com/office/drawing/2014/main" id="{33A35015-F2BB-4171-87F3-9D6D31AA3193}"/>
              </a:ext>
            </a:extLst>
          </p:cNvPr>
          <p:cNvSpPr/>
          <p:nvPr/>
        </p:nvSpPr>
        <p:spPr>
          <a:xfrm>
            <a:off x="7448939" y="3394727"/>
            <a:ext cx="144000" cy="144000"/>
          </a:xfrm>
          <a:prstGeom prst="star5">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星形: 五角 18">
            <a:extLst>
              <a:ext uri="{FF2B5EF4-FFF2-40B4-BE49-F238E27FC236}">
                <a16:creationId xmlns:a16="http://schemas.microsoft.com/office/drawing/2014/main" id="{CEB04419-481D-4DA4-8531-EDCADFFB0843}"/>
              </a:ext>
            </a:extLst>
          </p:cNvPr>
          <p:cNvSpPr/>
          <p:nvPr/>
        </p:nvSpPr>
        <p:spPr>
          <a:xfrm>
            <a:off x="7445850" y="3993207"/>
            <a:ext cx="144000" cy="144000"/>
          </a:xfrm>
          <a:prstGeom prst="star5">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星形: 五角 19">
            <a:extLst>
              <a:ext uri="{FF2B5EF4-FFF2-40B4-BE49-F238E27FC236}">
                <a16:creationId xmlns:a16="http://schemas.microsoft.com/office/drawing/2014/main" id="{084C1BE7-BECD-4DFA-9B1C-D563C16875B3}"/>
              </a:ext>
            </a:extLst>
          </p:cNvPr>
          <p:cNvSpPr/>
          <p:nvPr/>
        </p:nvSpPr>
        <p:spPr>
          <a:xfrm>
            <a:off x="7081284" y="2885719"/>
            <a:ext cx="144000" cy="144000"/>
          </a:xfrm>
          <a:prstGeom prst="star5">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星形: 五角 20">
            <a:extLst>
              <a:ext uri="{FF2B5EF4-FFF2-40B4-BE49-F238E27FC236}">
                <a16:creationId xmlns:a16="http://schemas.microsoft.com/office/drawing/2014/main" id="{F7E89207-8525-41FA-89DC-95F82924ECFE}"/>
              </a:ext>
            </a:extLst>
          </p:cNvPr>
          <p:cNvSpPr/>
          <p:nvPr/>
        </p:nvSpPr>
        <p:spPr>
          <a:xfrm>
            <a:off x="7448939" y="2885719"/>
            <a:ext cx="144000" cy="144000"/>
          </a:xfrm>
          <a:prstGeom prst="star5">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星形: 五角 21">
            <a:extLst>
              <a:ext uri="{FF2B5EF4-FFF2-40B4-BE49-F238E27FC236}">
                <a16:creationId xmlns:a16="http://schemas.microsoft.com/office/drawing/2014/main" id="{8FAD8FBB-715E-45F3-A57F-ED40553595BF}"/>
              </a:ext>
            </a:extLst>
          </p:cNvPr>
          <p:cNvSpPr/>
          <p:nvPr/>
        </p:nvSpPr>
        <p:spPr>
          <a:xfrm>
            <a:off x="7829376" y="2885719"/>
            <a:ext cx="144000" cy="144000"/>
          </a:xfrm>
          <a:prstGeom prst="star5">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08350767"/>
      </p:ext>
    </p:extLst>
  </p:cSld>
  <p:clrMapOvr>
    <a:masterClrMapping/>
  </p:clrMapOvr>
  <mc:AlternateContent xmlns:mc="http://schemas.openxmlformats.org/markup-compatibility/2006" xmlns:p14="http://schemas.microsoft.com/office/powerpoint/2010/main">
    <mc:Choice Requires="p14">
      <p:transition spd="slow" p14:dur="2000" advTm="5786"/>
    </mc:Choice>
    <mc:Fallback xmlns="">
      <p:transition spd="slow" advTm="578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Shape 139"/>
          <p:cNvSpPr txBox="1">
            <a:spLocks noGrp="1"/>
          </p:cNvSpPr>
          <p:nvPr>
            <p:ph type="title"/>
          </p:nvPr>
        </p:nvSpPr>
        <p:spPr>
          <a:xfrm>
            <a:off x="0" y="0"/>
            <a:ext cx="8222100" cy="660400"/>
          </a:xfrm>
          <a:prstGeom prst="rect">
            <a:avLst/>
          </a:prstGeom>
        </p:spPr>
        <p:txBody>
          <a:bodyPr spcFirstLastPara="1" wrap="square" lIns="91425" tIns="91425" rIns="91425" bIns="91425" anchor="b" anchorCtr="0">
            <a:noAutofit/>
          </a:bodyPr>
          <a:lstStyle/>
          <a:p>
            <a:r>
              <a:rPr lang="zh-CN" altLang="en-US" b="1" dirty="0">
                <a:latin typeface="微软雅黑" panose="020B0503020204020204" pitchFamily="34" charset="-122"/>
                <a:ea typeface="微软雅黑" panose="020B0503020204020204" pitchFamily="34" charset="-122"/>
              </a:rPr>
              <a:t>２</a:t>
            </a:r>
            <a:r>
              <a:rPr lang="zh-CN" altLang="en-US" b="1" dirty="0">
                <a:latin typeface="黑体" panose="02010609060101010101" pitchFamily="49" charset="-122"/>
                <a:ea typeface="黑体" panose="02010609060101010101" pitchFamily="49" charset="-122"/>
              </a:rPr>
              <a:t>项目经历（</a:t>
            </a:r>
            <a:r>
              <a:rPr lang="en-US" altLang="zh-CN" sz="3200" b="1" kern="100" dirty="0">
                <a:effectLst/>
                <a:latin typeface="微软 雅黑"/>
                <a:ea typeface="+mn-ea"/>
                <a:cs typeface="Times New Roman" panose="02020603050405020304" pitchFamily="18" charset="0"/>
              </a:rPr>
              <a:t>CUMS</a:t>
            </a:r>
            <a:r>
              <a:rPr lang="zh-CN" altLang="en-US" sz="3200" b="1" kern="100" dirty="0">
                <a:effectLst/>
                <a:latin typeface="微软 雅黑"/>
                <a:ea typeface="+mn-ea"/>
                <a:cs typeface="Times New Roman" panose="02020603050405020304" pitchFamily="18" charset="0"/>
              </a:rPr>
              <a:t>前处理几何建模开发</a:t>
            </a:r>
            <a:r>
              <a:rPr lang="zh-CN" altLang="en-US" b="1" dirty="0">
                <a:latin typeface="黑体" panose="02010609060101010101" pitchFamily="49" charset="-122"/>
                <a:ea typeface="黑体" panose="02010609060101010101" pitchFamily="49" charset="-122"/>
              </a:rPr>
              <a:t>）</a:t>
            </a:r>
            <a:endParaRPr b="1" dirty="0">
              <a:latin typeface="黑体" panose="02010609060101010101" pitchFamily="49" charset="-122"/>
              <a:ea typeface="黑体" panose="02010609060101010101" pitchFamily="49" charset="-122"/>
            </a:endParaRPr>
          </a:p>
        </p:txBody>
      </p:sp>
      <p:sp>
        <p:nvSpPr>
          <p:cNvPr id="6" name="文本框 5"/>
          <p:cNvSpPr txBox="1"/>
          <p:nvPr/>
        </p:nvSpPr>
        <p:spPr>
          <a:xfrm>
            <a:off x="558799" y="724657"/>
            <a:ext cx="7663301" cy="2987036"/>
          </a:xfrm>
          <a:prstGeom prst="rect">
            <a:avLst/>
          </a:prstGeom>
          <a:noFill/>
        </p:spPr>
        <p:txBody>
          <a:bodyPr wrap="square" rtlCol="0">
            <a:spAutoFit/>
          </a:bodyPr>
          <a:lstStyle/>
          <a:p>
            <a:pPr>
              <a:lnSpc>
                <a:spcPct val="150000"/>
              </a:lnSpc>
            </a:pPr>
            <a:r>
              <a:rPr lang="zh-CN" altLang="en-US" sz="1500" dirty="0">
                <a:latin typeface="微软 雅黑"/>
                <a:ea typeface="+mn-ea"/>
              </a:rPr>
              <a:t>项目名称：</a:t>
            </a:r>
            <a:r>
              <a:rPr lang="en-US" altLang="zh-CN" sz="1500" b="1" kern="100" dirty="0">
                <a:effectLst/>
                <a:latin typeface="微软 雅黑"/>
                <a:ea typeface="+mn-ea"/>
                <a:cs typeface="Times New Roman" panose="02020603050405020304" pitchFamily="18" charset="0"/>
              </a:rPr>
              <a:t>CUMS</a:t>
            </a:r>
            <a:r>
              <a:rPr lang="zh-CN" altLang="en-US" sz="1500" b="1" kern="100" dirty="0">
                <a:effectLst/>
                <a:latin typeface="微软 雅黑"/>
                <a:ea typeface="+mn-ea"/>
                <a:cs typeface="Times New Roman" panose="02020603050405020304" pitchFamily="18" charset="0"/>
              </a:rPr>
              <a:t>系统前处理几何建模模块开发（</a:t>
            </a:r>
            <a:r>
              <a:rPr lang="en-US" altLang="zh-CN" sz="1500" b="1" kern="100" dirty="0">
                <a:effectLst/>
                <a:latin typeface="微软 雅黑"/>
                <a:ea typeface="+mn-ea"/>
                <a:cs typeface="Times New Roman" panose="02020603050405020304" pitchFamily="18" charset="0"/>
              </a:rPr>
              <a:t>2020.05—2021.09</a:t>
            </a:r>
            <a:r>
              <a:rPr lang="zh-CN" altLang="en-US" sz="1500" b="1" kern="100" dirty="0">
                <a:effectLst/>
                <a:latin typeface="微软 雅黑"/>
                <a:ea typeface="+mn-ea"/>
                <a:cs typeface="Times New Roman" panose="02020603050405020304" pitchFamily="18" charset="0"/>
              </a:rPr>
              <a:t>）          </a:t>
            </a:r>
            <a:r>
              <a:rPr lang="zh-CN" altLang="zh-CN" sz="1500" b="1" kern="100" dirty="0">
                <a:effectLst/>
                <a:latin typeface="Times New Roman" panose="02020603050405020304" pitchFamily="18" charset="0"/>
                <a:ea typeface="宋体" panose="02010600030101010101" pitchFamily="2" charset="-122"/>
                <a:cs typeface="Times New Roman" panose="02020603050405020304" pitchFamily="18" charset="0"/>
              </a:rPr>
              <a:t>项目经理</a:t>
            </a:r>
            <a:r>
              <a:rPr lang="zh-CN" altLang="en-US" sz="1500" b="1"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500" b="1" kern="1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1500" b="1" kern="100" dirty="0">
                <a:latin typeface="Times New Roman" panose="02020603050405020304" pitchFamily="18" charset="0"/>
                <a:ea typeface="宋体" panose="02010600030101010101" pitchFamily="2" charset="-122"/>
                <a:cs typeface="Times New Roman" panose="02020603050405020304" pitchFamily="18" charset="0"/>
              </a:rPr>
              <a:t>人</a:t>
            </a:r>
            <a:endParaRPr lang="en-US" altLang="zh-CN" sz="1500" b="1"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Wingdings" panose="05000000000000000000" pitchFamily="2" charset="2"/>
              <a:buChar char="u"/>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前处理几何建模模块</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CUMS</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核工业堆芯设计仿真系统中</a:t>
            </a:r>
            <a:r>
              <a:rPr lang="zh-CN" altLang="zh-CN"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跨平台的三维可视化堆芯建模工具，</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既支持用户交互式设计堆芯，同时支持堆芯</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CGS</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格式几何模型渲染。</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ct val="150000"/>
              </a:lnSpc>
              <a:buFont typeface="Wingdings" panose="05000000000000000000" pitchFamily="2" charset="2"/>
              <a:buChar char="u"/>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基于</a:t>
            </a:r>
            <a:r>
              <a:rPr lang="en-US" altLang="zh-CN" kern="100" dirty="0" err="1">
                <a:effectLst/>
                <a:latin typeface="Times New Roman" panose="02020603050405020304" pitchFamily="18" charset="0"/>
                <a:ea typeface="宋体" panose="02010600030101010101" pitchFamily="2" charset="-122"/>
                <a:cs typeface="Times New Roman" panose="02020603050405020304" pitchFamily="18" charset="0"/>
              </a:rPr>
              <a:t>OpenCascade</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几何建模引擎，</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VTK</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可视化渲染、</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Qt</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应用框架；</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ct val="150000"/>
              </a:lnSpc>
              <a:buFont typeface="Wingdings" panose="05000000000000000000" pitchFamily="2" charset="2"/>
              <a:buChar char="u"/>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并行处理大规模几何运算和网格离散数据，加速可视化渲染；</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ct val="150000"/>
              </a:lnSpc>
              <a:buFont typeface="Wingdings" panose="05000000000000000000" pitchFamily="2" charset="2"/>
              <a:buChar char="u"/>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针对堆芯业务需求，支持层级显示、材料过滤、模型检查、平面截取信息显示；</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ct val="150000"/>
              </a:lnSpc>
              <a:buFont typeface="Wingdings" panose="05000000000000000000" pitchFamily="2" charset="2"/>
              <a:buChar char="u"/>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支持特定</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CGS</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文件导入导出，文件格式可扩展；</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ct val="150000"/>
              </a:lnSpc>
              <a:buFont typeface="Wingdings" panose="05000000000000000000" pitchFamily="2" charset="2"/>
              <a:buChar char="u"/>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根据特定堆芯固化参数数据，支持参数化建模；</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ct val="150000"/>
              </a:lnSpc>
              <a:buFont typeface="Wingdings" panose="05000000000000000000" pitchFamily="2" charset="2"/>
              <a:buChar char="u"/>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项目全流程把控推进和交付性文档编写；</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862D5978-CA48-4716-AFB0-A15B7B73322D}"/>
              </a:ext>
            </a:extLst>
          </p:cNvPr>
          <p:cNvPicPr>
            <a:picLocks noChangeAspect="1"/>
          </p:cNvPicPr>
          <p:nvPr/>
        </p:nvPicPr>
        <p:blipFill>
          <a:blip r:embed="rId3"/>
          <a:stretch>
            <a:fillRect/>
          </a:stretch>
        </p:blipFill>
        <p:spPr>
          <a:xfrm>
            <a:off x="4832350" y="2765319"/>
            <a:ext cx="3426769" cy="2263960"/>
          </a:xfrm>
          <a:prstGeom prst="rect">
            <a:avLst/>
          </a:prstGeom>
        </p:spPr>
      </p:pic>
      <p:sp>
        <p:nvSpPr>
          <p:cNvPr id="4" name="灯片编号占位符 3">
            <a:extLst>
              <a:ext uri="{FF2B5EF4-FFF2-40B4-BE49-F238E27FC236}">
                <a16:creationId xmlns:a16="http://schemas.microsoft.com/office/drawing/2014/main" id="{2697A461-3BD9-46FE-BA49-D6859806B7C1}"/>
              </a:ext>
            </a:extLst>
          </p:cNvPr>
          <p:cNvSpPr>
            <a:spLocks noGrp="1"/>
          </p:cNvSpPr>
          <p:nvPr>
            <p:ph type="sldNum" idx="12"/>
          </p:nvPr>
        </p:nvSpPr>
        <p:spPr/>
        <p:txBody>
          <a:bodyPr/>
          <a:lstStyle/>
          <a:p>
            <a:fld id="{00000000-1234-1234-1234-123412341234}" type="slidenum">
              <a:rPr lang="en" smtClean="0"/>
              <a:pPr/>
              <a:t>4</a:t>
            </a:fld>
            <a:r>
              <a:rPr lang="en-US" altLang="zh-CN"/>
              <a:t>/18</a:t>
            </a:r>
            <a:endParaRPr lang="en" dirty="0"/>
          </a:p>
        </p:txBody>
      </p:sp>
    </p:spTree>
    <p:extLst>
      <p:ext uri="{BB962C8B-B14F-4D97-AF65-F5344CB8AC3E}">
        <p14:creationId xmlns:p14="http://schemas.microsoft.com/office/powerpoint/2010/main" val="2658924990"/>
      </p:ext>
    </p:extLst>
  </p:cSld>
  <p:clrMapOvr>
    <a:masterClrMapping/>
  </p:clrMapOvr>
  <mc:AlternateContent xmlns:mc="http://schemas.openxmlformats.org/markup-compatibility/2006" xmlns:p14="http://schemas.microsoft.com/office/powerpoint/2010/main">
    <mc:Choice Requires="p14">
      <p:transition spd="slow" p14:dur="2000" advTm="5786"/>
    </mc:Choice>
    <mc:Fallback xmlns="">
      <p:transition spd="slow" advTm="578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6" name="文本框 5"/>
          <p:cNvSpPr txBox="1"/>
          <p:nvPr/>
        </p:nvSpPr>
        <p:spPr>
          <a:xfrm>
            <a:off x="558799" y="724657"/>
            <a:ext cx="7663301" cy="399084"/>
          </a:xfrm>
          <a:prstGeom prst="rect">
            <a:avLst/>
          </a:prstGeom>
          <a:noFill/>
        </p:spPr>
        <p:txBody>
          <a:bodyPr wrap="square" rtlCol="0">
            <a:spAutoFit/>
          </a:bodyPr>
          <a:lstStyle/>
          <a:p>
            <a:pPr>
              <a:lnSpc>
                <a:spcPct val="150000"/>
              </a:lnSpc>
            </a:pPr>
            <a:r>
              <a:rPr lang="zh-CN" altLang="en-US" sz="1500" dirty="0">
                <a:latin typeface="微软 雅黑"/>
                <a:ea typeface="+mn-ea"/>
              </a:rPr>
              <a:t>项目名称：</a:t>
            </a:r>
            <a:r>
              <a:rPr lang="en-US" altLang="zh-CN" sz="1500" b="1" kern="100" dirty="0">
                <a:effectLst/>
                <a:latin typeface="微软 雅黑"/>
                <a:ea typeface="+mn-ea"/>
                <a:cs typeface="Times New Roman" panose="02020603050405020304" pitchFamily="18" charset="0"/>
              </a:rPr>
              <a:t>CUMS</a:t>
            </a:r>
            <a:r>
              <a:rPr lang="zh-CN" altLang="en-US" sz="1500" b="1" kern="100" dirty="0">
                <a:effectLst/>
                <a:latin typeface="微软 雅黑"/>
                <a:ea typeface="+mn-ea"/>
                <a:cs typeface="Times New Roman" panose="02020603050405020304" pitchFamily="18" charset="0"/>
              </a:rPr>
              <a:t>系统前处理几何建模模块开发（</a:t>
            </a:r>
            <a:r>
              <a:rPr lang="en-US" altLang="zh-CN" sz="1500" b="1" kern="100" dirty="0">
                <a:effectLst/>
                <a:latin typeface="微软 雅黑"/>
                <a:ea typeface="+mn-ea"/>
                <a:cs typeface="Times New Roman" panose="02020603050405020304" pitchFamily="18" charset="0"/>
              </a:rPr>
              <a:t>2020.05—2021.09</a:t>
            </a:r>
            <a:r>
              <a:rPr lang="zh-CN" altLang="en-US" sz="1500" b="1" kern="100" dirty="0">
                <a:effectLst/>
                <a:latin typeface="微软 雅黑"/>
                <a:ea typeface="+mn-ea"/>
                <a:cs typeface="Times New Roman" panose="02020603050405020304" pitchFamily="18" charset="0"/>
              </a:rPr>
              <a:t>） </a:t>
            </a:r>
            <a:r>
              <a:rPr lang="zh-CN" altLang="zh-CN" sz="1500" b="1" kern="100" dirty="0">
                <a:effectLst/>
                <a:latin typeface="Times New Roman" panose="02020603050405020304" pitchFamily="18" charset="0"/>
                <a:ea typeface="宋体" panose="02010600030101010101" pitchFamily="2" charset="-122"/>
                <a:cs typeface="Times New Roman" panose="02020603050405020304" pitchFamily="18" charset="0"/>
              </a:rPr>
              <a:t>项目经理</a:t>
            </a:r>
            <a:r>
              <a:rPr lang="zh-CN" altLang="en-US" sz="1500" b="1"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500" b="1" kern="1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1500" b="1" kern="100" dirty="0">
                <a:latin typeface="Times New Roman" panose="02020603050405020304" pitchFamily="18" charset="0"/>
                <a:ea typeface="宋体" panose="02010600030101010101" pitchFamily="2" charset="-122"/>
                <a:cs typeface="Times New Roman" panose="02020603050405020304" pitchFamily="18" charset="0"/>
              </a:rPr>
              <a:t>人</a:t>
            </a:r>
            <a:endParaRPr lang="en-US" altLang="zh-CN" sz="1500" b="1" kern="1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FD890E32-AD88-44F6-9E10-1468C0BDB10A}"/>
              </a:ext>
            </a:extLst>
          </p:cNvPr>
          <p:cNvPicPr>
            <a:picLocks noChangeAspect="1"/>
          </p:cNvPicPr>
          <p:nvPr/>
        </p:nvPicPr>
        <p:blipFill>
          <a:blip r:embed="rId3"/>
          <a:stretch>
            <a:fillRect/>
          </a:stretch>
        </p:blipFill>
        <p:spPr>
          <a:xfrm>
            <a:off x="281099" y="1285762"/>
            <a:ext cx="3250118" cy="2983743"/>
          </a:xfrm>
          <a:prstGeom prst="rect">
            <a:avLst/>
          </a:prstGeom>
        </p:spPr>
      </p:pic>
      <p:pic>
        <p:nvPicPr>
          <p:cNvPr id="9" name="图片 8">
            <a:extLst>
              <a:ext uri="{FF2B5EF4-FFF2-40B4-BE49-F238E27FC236}">
                <a16:creationId xmlns:a16="http://schemas.microsoft.com/office/drawing/2014/main" id="{F17D7329-023C-4FB4-A938-85C50B169672}"/>
              </a:ext>
            </a:extLst>
          </p:cNvPr>
          <p:cNvPicPr>
            <a:picLocks noChangeAspect="1"/>
          </p:cNvPicPr>
          <p:nvPr/>
        </p:nvPicPr>
        <p:blipFill>
          <a:blip r:embed="rId4"/>
          <a:stretch>
            <a:fillRect/>
          </a:stretch>
        </p:blipFill>
        <p:spPr>
          <a:xfrm>
            <a:off x="3892551" y="1285762"/>
            <a:ext cx="3437909" cy="1826965"/>
          </a:xfrm>
          <a:prstGeom prst="rect">
            <a:avLst/>
          </a:prstGeom>
        </p:spPr>
      </p:pic>
      <p:pic>
        <p:nvPicPr>
          <p:cNvPr id="13" name="图片 12">
            <a:extLst>
              <a:ext uri="{FF2B5EF4-FFF2-40B4-BE49-F238E27FC236}">
                <a16:creationId xmlns:a16="http://schemas.microsoft.com/office/drawing/2014/main" id="{2695EF7B-CB02-4C37-BFD1-E0A70DF0A04F}"/>
              </a:ext>
            </a:extLst>
          </p:cNvPr>
          <p:cNvPicPr>
            <a:picLocks noChangeAspect="1"/>
          </p:cNvPicPr>
          <p:nvPr/>
        </p:nvPicPr>
        <p:blipFill rotWithShape="1">
          <a:blip r:embed="rId5"/>
          <a:srcRect l="7223" t="52963" r="52129" b="19383"/>
          <a:stretch/>
        </p:blipFill>
        <p:spPr>
          <a:xfrm>
            <a:off x="5612784" y="3326447"/>
            <a:ext cx="2787650" cy="1398139"/>
          </a:xfrm>
          <a:prstGeom prst="rect">
            <a:avLst/>
          </a:prstGeom>
        </p:spPr>
      </p:pic>
      <p:pic>
        <p:nvPicPr>
          <p:cNvPr id="15" name="图片 14">
            <a:extLst>
              <a:ext uri="{FF2B5EF4-FFF2-40B4-BE49-F238E27FC236}">
                <a16:creationId xmlns:a16="http://schemas.microsoft.com/office/drawing/2014/main" id="{BF5BBBAD-6A1D-4810-83C7-64835EFB870E}"/>
              </a:ext>
            </a:extLst>
          </p:cNvPr>
          <p:cNvPicPr>
            <a:picLocks noChangeAspect="1"/>
          </p:cNvPicPr>
          <p:nvPr/>
        </p:nvPicPr>
        <p:blipFill>
          <a:blip r:embed="rId6"/>
          <a:stretch>
            <a:fillRect/>
          </a:stretch>
        </p:blipFill>
        <p:spPr>
          <a:xfrm>
            <a:off x="3892551" y="3326448"/>
            <a:ext cx="1720233" cy="1398139"/>
          </a:xfrm>
          <a:prstGeom prst="rect">
            <a:avLst/>
          </a:prstGeom>
        </p:spPr>
      </p:pic>
      <p:sp>
        <p:nvSpPr>
          <p:cNvPr id="10" name="矩形 9">
            <a:extLst>
              <a:ext uri="{FF2B5EF4-FFF2-40B4-BE49-F238E27FC236}">
                <a16:creationId xmlns:a16="http://schemas.microsoft.com/office/drawing/2014/main" id="{6F0609BB-5205-4C1A-9466-D63F7145A37C}"/>
              </a:ext>
            </a:extLst>
          </p:cNvPr>
          <p:cNvSpPr/>
          <p:nvPr/>
        </p:nvSpPr>
        <p:spPr>
          <a:xfrm>
            <a:off x="1228246" y="4331589"/>
            <a:ext cx="1082348" cy="307777"/>
          </a:xfrm>
          <a:prstGeom prst="rect">
            <a:avLst/>
          </a:prstGeom>
        </p:spPr>
        <p:txBody>
          <a:bodyPr wrap="none">
            <a:spAutoFit/>
          </a:bodyPr>
          <a:lstStyle/>
          <a:p>
            <a:r>
              <a:rPr lang="zh-CN" altLang="en-US" b="1" kern="100" dirty="0">
                <a:latin typeface="微软 雅黑"/>
                <a:ea typeface="宋体" panose="02010600030101010101" pitchFamily="2" charset="-122"/>
                <a:cs typeface="Times New Roman" panose="02020603050405020304" pitchFamily="18" charset="0"/>
              </a:rPr>
              <a:t>前处理架构</a:t>
            </a:r>
            <a:endParaRPr lang="zh-CN" altLang="en-US" b="1" dirty="0"/>
          </a:p>
        </p:txBody>
      </p:sp>
      <p:sp>
        <p:nvSpPr>
          <p:cNvPr id="11" name="矩形 10">
            <a:extLst>
              <a:ext uri="{FF2B5EF4-FFF2-40B4-BE49-F238E27FC236}">
                <a16:creationId xmlns:a16="http://schemas.microsoft.com/office/drawing/2014/main" id="{0DB7080E-6D41-4923-AFD8-2C71427C466E}"/>
              </a:ext>
            </a:extLst>
          </p:cNvPr>
          <p:cNvSpPr/>
          <p:nvPr/>
        </p:nvSpPr>
        <p:spPr>
          <a:xfrm>
            <a:off x="7419808" y="4737286"/>
            <a:ext cx="902811" cy="307777"/>
          </a:xfrm>
          <a:prstGeom prst="rect">
            <a:avLst/>
          </a:prstGeom>
        </p:spPr>
        <p:txBody>
          <a:bodyPr wrap="none">
            <a:spAutoFit/>
          </a:bodyPr>
          <a:lstStyle/>
          <a:p>
            <a:r>
              <a:rPr lang="zh-CN" altLang="en-US" b="1" kern="100" dirty="0">
                <a:latin typeface="微软 雅黑"/>
                <a:ea typeface="宋体" panose="02010600030101010101" pitchFamily="2" charset="-122"/>
                <a:cs typeface="Times New Roman" panose="02020603050405020304" pitchFamily="18" charset="0"/>
              </a:rPr>
              <a:t>层级显示</a:t>
            </a:r>
            <a:endParaRPr lang="zh-CN" altLang="en-US" b="1" dirty="0"/>
          </a:p>
        </p:txBody>
      </p:sp>
      <p:sp>
        <p:nvSpPr>
          <p:cNvPr id="12" name="矩形 11">
            <a:extLst>
              <a:ext uri="{FF2B5EF4-FFF2-40B4-BE49-F238E27FC236}">
                <a16:creationId xmlns:a16="http://schemas.microsoft.com/office/drawing/2014/main" id="{966A2657-6202-4EB2-A1F4-E54179B0887F}"/>
              </a:ext>
            </a:extLst>
          </p:cNvPr>
          <p:cNvSpPr/>
          <p:nvPr/>
        </p:nvSpPr>
        <p:spPr>
          <a:xfrm>
            <a:off x="4312113" y="4724586"/>
            <a:ext cx="902811" cy="307777"/>
          </a:xfrm>
          <a:prstGeom prst="rect">
            <a:avLst/>
          </a:prstGeom>
        </p:spPr>
        <p:txBody>
          <a:bodyPr wrap="none">
            <a:spAutoFit/>
          </a:bodyPr>
          <a:lstStyle/>
          <a:p>
            <a:r>
              <a:rPr lang="zh-CN" altLang="en-US" b="1" kern="100" dirty="0">
                <a:latin typeface="微软 雅黑"/>
                <a:ea typeface="宋体" panose="02010600030101010101" pitchFamily="2" charset="-122"/>
                <a:cs typeface="Times New Roman" panose="02020603050405020304" pitchFamily="18" charset="0"/>
              </a:rPr>
              <a:t>平面截取</a:t>
            </a:r>
            <a:endParaRPr lang="zh-CN" altLang="en-US" b="1" dirty="0"/>
          </a:p>
        </p:txBody>
      </p:sp>
      <p:sp>
        <p:nvSpPr>
          <p:cNvPr id="14" name="矩形 13">
            <a:extLst>
              <a:ext uri="{FF2B5EF4-FFF2-40B4-BE49-F238E27FC236}">
                <a16:creationId xmlns:a16="http://schemas.microsoft.com/office/drawing/2014/main" id="{52A7E661-2F44-4500-A939-FB98F0CF51E1}"/>
              </a:ext>
            </a:extLst>
          </p:cNvPr>
          <p:cNvSpPr/>
          <p:nvPr/>
        </p:nvSpPr>
        <p:spPr>
          <a:xfrm>
            <a:off x="5963809" y="4755062"/>
            <a:ext cx="902811" cy="307777"/>
          </a:xfrm>
          <a:prstGeom prst="rect">
            <a:avLst/>
          </a:prstGeom>
        </p:spPr>
        <p:txBody>
          <a:bodyPr wrap="none">
            <a:spAutoFit/>
          </a:bodyPr>
          <a:lstStyle/>
          <a:p>
            <a:r>
              <a:rPr lang="zh-CN" altLang="en-US" b="1" kern="100" dirty="0">
                <a:latin typeface="微软 雅黑"/>
                <a:ea typeface="宋体" panose="02010600030101010101" pitchFamily="2" charset="-122"/>
                <a:cs typeface="Times New Roman" panose="02020603050405020304" pitchFamily="18" charset="0"/>
              </a:rPr>
              <a:t>材料过滤</a:t>
            </a:r>
            <a:endParaRPr lang="zh-CN" altLang="en-US" b="1" dirty="0"/>
          </a:p>
        </p:txBody>
      </p:sp>
      <p:sp>
        <p:nvSpPr>
          <p:cNvPr id="16" name="Shape 139">
            <a:extLst>
              <a:ext uri="{FF2B5EF4-FFF2-40B4-BE49-F238E27FC236}">
                <a16:creationId xmlns:a16="http://schemas.microsoft.com/office/drawing/2014/main" id="{1141C177-4628-4362-87F1-8938E829CDCD}"/>
              </a:ext>
            </a:extLst>
          </p:cNvPr>
          <p:cNvSpPr txBox="1">
            <a:spLocks/>
          </p:cNvSpPr>
          <p:nvPr/>
        </p:nvSpPr>
        <p:spPr>
          <a:xfrm>
            <a:off x="0" y="5218"/>
            <a:ext cx="8222100" cy="660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r>
              <a:rPr lang="zh-CN" altLang="en-US" b="1" dirty="0">
                <a:latin typeface="微软雅黑" panose="020B0503020204020204" pitchFamily="34" charset="-122"/>
                <a:ea typeface="微软雅黑" panose="020B0503020204020204" pitchFamily="34" charset="-122"/>
              </a:rPr>
              <a:t>２</a:t>
            </a:r>
            <a:r>
              <a:rPr lang="en-US" altLang="zh-CN" b="1" dirty="0">
                <a:latin typeface="微软雅黑" panose="020B0503020204020204" pitchFamily="34" charset="-122"/>
                <a:ea typeface="微软雅黑" panose="020B0503020204020204" pitchFamily="34" charset="-122"/>
              </a:rPr>
              <a:t>.1 </a:t>
            </a:r>
            <a:r>
              <a:rPr lang="zh-CN" altLang="en-US" b="1" dirty="0">
                <a:latin typeface="黑体" panose="02010609060101010101" pitchFamily="49" charset="-122"/>
                <a:ea typeface="黑体" panose="02010609060101010101" pitchFamily="49" charset="-122"/>
              </a:rPr>
              <a:t>项目经历（</a:t>
            </a:r>
            <a:r>
              <a:rPr lang="en-US" altLang="zh-CN" b="1" kern="100" dirty="0">
                <a:latin typeface="微软 雅黑"/>
                <a:ea typeface="+mn-ea"/>
                <a:cs typeface="Times New Roman" panose="02020603050405020304" pitchFamily="18" charset="0"/>
              </a:rPr>
              <a:t>CUMS</a:t>
            </a:r>
            <a:r>
              <a:rPr lang="zh-CN" altLang="en-US" b="1" kern="100" dirty="0">
                <a:latin typeface="微软 雅黑"/>
                <a:ea typeface="+mn-ea"/>
                <a:cs typeface="Times New Roman" panose="02020603050405020304" pitchFamily="18" charset="0"/>
              </a:rPr>
              <a:t>前处理几何建模开发</a:t>
            </a:r>
            <a:r>
              <a:rPr lang="zh-CN" altLang="en-US" b="1" dirty="0">
                <a:latin typeface="黑体" panose="02010609060101010101" pitchFamily="49" charset="-122"/>
                <a:ea typeface="黑体" panose="02010609060101010101" pitchFamily="49" charset="-122"/>
              </a:rPr>
              <a:t>）</a:t>
            </a:r>
          </a:p>
        </p:txBody>
      </p:sp>
      <p:sp>
        <p:nvSpPr>
          <p:cNvPr id="5" name="灯片编号占位符 4">
            <a:extLst>
              <a:ext uri="{FF2B5EF4-FFF2-40B4-BE49-F238E27FC236}">
                <a16:creationId xmlns:a16="http://schemas.microsoft.com/office/drawing/2014/main" id="{99ADB8B9-AFF6-4A46-93EE-1B72E2ECBB49}"/>
              </a:ext>
            </a:extLst>
          </p:cNvPr>
          <p:cNvSpPr>
            <a:spLocks noGrp="1"/>
          </p:cNvSpPr>
          <p:nvPr>
            <p:ph type="sldNum" idx="12"/>
          </p:nvPr>
        </p:nvSpPr>
        <p:spPr/>
        <p:txBody>
          <a:bodyPr/>
          <a:lstStyle/>
          <a:p>
            <a:fld id="{00000000-1234-1234-1234-123412341234}" type="slidenum">
              <a:rPr lang="en" smtClean="0"/>
              <a:pPr/>
              <a:t>5</a:t>
            </a:fld>
            <a:r>
              <a:rPr lang="en-US" altLang="zh-CN"/>
              <a:t>/18</a:t>
            </a:r>
            <a:endParaRPr lang="en" dirty="0"/>
          </a:p>
        </p:txBody>
      </p:sp>
    </p:spTree>
    <p:extLst>
      <p:ext uri="{BB962C8B-B14F-4D97-AF65-F5344CB8AC3E}">
        <p14:creationId xmlns:p14="http://schemas.microsoft.com/office/powerpoint/2010/main" val="2202355822"/>
      </p:ext>
    </p:extLst>
  </p:cSld>
  <p:clrMapOvr>
    <a:masterClrMapping/>
  </p:clrMapOvr>
  <mc:AlternateContent xmlns:mc="http://schemas.openxmlformats.org/markup-compatibility/2006" xmlns:p14="http://schemas.microsoft.com/office/powerpoint/2010/main">
    <mc:Choice Requires="p14">
      <p:transition spd="slow" p14:dur="2000" advTm="729"/>
    </mc:Choice>
    <mc:Fallback xmlns="">
      <p:transition spd="slow" advTm="72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Shape 139"/>
          <p:cNvSpPr txBox="1">
            <a:spLocks noGrp="1"/>
          </p:cNvSpPr>
          <p:nvPr>
            <p:ph type="title"/>
          </p:nvPr>
        </p:nvSpPr>
        <p:spPr>
          <a:xfrm>
            <a:off x="0" y="0"/>
            <a:ext cx="8222100" cy="660400"/>
          </a:xfrm>
          <a:prstGeom prst="rect">
            <a:avLst/>
          </a:prstGeom>
        </p:spPr>
        <p:txBody>
          <a:bodyPr spcFirstLastPara="1" wrap="square" lIns="91425" tIns="91425" rIns="91425" bIns="91425" anchor="b" anchorCtr="0">
            <a:noAutofit/>
          </a:bodyPr>
          <a:lstStyle/>
          <a:p>
            <a:r>
              <a:rPr lang="zh-CN" altLang="en-US" b="1" dirty="0">
                <a:latin typeface="微软雅黑" panose="020B0503020204020204" pitchFamily="34" charset="-122"/>
                <a:ea typeface="微软雅黑" panose="020B0503020204020204" pitchFamily="34" charset="-122"/>
              </a:rPr>
              <a:t>２</a:t>
            </a:r>
            <a:r>
              <a:rPr lang="en-US" altLang="zh-CN" b="1" dirty="0">
                <a:latin typeface="微软雅黑" panose="020B0503020204020204" pitchFamily="34" charset="-122"/>
                <a:ea typeface="微软雅黑" panose="020B0503020204020204" pitchFamily="34" charset="-122"/>
              </a:rPr>
              <a:t>.2 </a:t>
            </a:r>
            <a:r>
              <a:rPr lang="zh-CN" altLang="en-US" b="1" dirty="0">
                <a:latin typeface="黑体" panose="02010609060101010101" pitchFamily="49" charset="-122"/>
                <a:ea typeface="黑体" panose="02010609060101010101" pitchFamily="49" charset="-122"/>
              </a:rPr>
              <a:t>项目经历（一维数字化智能设计模块）</a:t>
            </a:r>
            <a:endParaRPr b="1" dirty="0">
              <a:latin typeface="黑体" panose="02010609060101010101" pitchFamily="49" charset="-122"/>
              <a:ea typeface="黑体" panose="02010609060101010101" pitchFamily="49" charset="-122"/>
            </a:endParaRPr>
          </a:p>
        </p:txBody>
      </p:sp>
      <p:sp>
        <p:nvSpPr>
          <p:cNvPr id="6" name="文本框 5"/>
          <p:cNvSpPr txBox="1"/>
          <p:nvPr/>
        </p:nvSpPr>
        <p:spPr>
          <a:xfrm>
            <a:off x="504189" y="797047"/>
            <a:ext cx="8135621" cy="1225015"/>
          </a:xfrm>
          <a:prstGeom prst="rect">
            <a:avLst/>
          </a:prstGeom>
          <a:noFill/>
        </p:spPr>
        <p:txBody>
          <a:bodyPr wrap="square" rtlCol="0">
            <a:spAutoFit/>
          </a:bodyPr>
          <a:lstStyle/>
          <a:p>
            <a:pPr>
              <a:lnSpc>
                <a:spcPct val="150000"/>
              </a:lnSpc>
            </a:pPr>
            <a:r>
              <a:rPr lang="zh-CN" altLang="en-US" sz="1600" dirty="0">
                <a:latin typeface="微软 雅黑"/>
                <a:ea typeface="+mn-ea"/>
              </a:rPr>
              <a:t>项目名称：</a:t>
            </a:r>
            <a:r>
              <a:rPr lang="zh-CN"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轴流压气机</a:t>
            </a:r>
            <a:r>
              <a:rPr lang="en-US" altLang="zh-CN" sz="1600" b="1" kern="100" dirty="0">
                <a:effectLst/>
                <a:latin typeface="Times New Roman" panose="02020603050405020304" pitchFamily="18" charset="0"/>
                <a:ea typeface="宋体" panose="02010600030101010101" pitchFamily="2" charset="-122"/>
              </a:rPr>
              <a:t>/</a:t>
            </a:r>
            <a:r>
              <a:rPr lang="zh-CN"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涡轮一维数字化智能设计模块</a:t>
            </a:r>
            <a:r>
              <a:rPr lang="zh-CN" altLang="en-US" sz="1600" b="1" kern="100" dirty="0">
                <a:effectLst/>
                <a:latin typeface="微软 雅黑"/>
                <a:ea typeface="+mn-ea"/>
                <a:cs typeface="Times New Roman" panose="02020603050405020304" pitchFamily="18" charset="0"/>
              </a:rPr>
              <a:t>（</a:t>
            </a:r>
            <a:r>
              <a:rPr lang="en-US" altLang="zh-CN" sz="1600" b="1" kern="100" dirty="0">
                <a:effectLst/>
                <a:latin typeface="微软 雅黑"/>
                <a:ea typeface="+mn-ea"/>
                <a:cs typeface="Times New Roman" panose="02020603050405020304" pitchFamily="18" charset="0"/>
              </a:rPr>
              <a:t>2020.05—2021.09</a:t>
            </a:r>
            <a:r>
              <a:rPr lang="zh-CN" altLang="en-US" sz="1600" b="1" kern="100" dirty="0">
                <a:effectLst/>
                <a:latin typeface="微软 雅黑"/>
                <a:ea typeface="+mn-ea"/>
                <a:cs typeface="Times New Roman" panose="02020603050405020304" pitchFamily="18" charset="0"/>
              </a:rPr>
              <a:t>） </a:t>
            </a:r>
            <a:r>
              <a:rPr lang="zh-CN"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项目经理</a:t>
            </a:r>
            <a:r>
              <a:rPr lang="zh-CN" altLang="en-US" sz="1600" b="1"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b="1" kern="100" dirty="0">
                <a:latin typeface="Times New Roman" panose="02020603050405020304" pitchFamily="18" charset="0"/>
                <a:ea typeface="宋体" panose="02010600030101010101" pitchFamily="2" charset="-122"/>
                <a:cs typeface="Times New Roman" panose="02020603050405020304" pitchFamily="18" charset="0"/>
              </a:rPr>
              <a:t>人</a:t>
            </a:r>
            <a:endParaRPr lang="en-US" altLang="zh-CN" kern="100" dirty="0">
              <a:latin typeface="+mn-ea"/>
              <a:ea typeface="+mn-ea"/>
              <a:cs typeface="Times New Roman" panose="02020603050405020304" pitchFamily="18" charset="0"/>
            </a:endParaRPr>
          </a:p>
          <a:p>
            <a:pPr>
              <a:lnSpc>
                <a:spcPct val="150000"/>
              </a:lnSpc>
              <a:spcBef>
                <a:spcPts val="1200"/>
              </a:spcBef>
            </a:pPr>
            <a:r>
              <a:rPr lang="en-US" altLang="zh-CN" kern="100" dirty="0" err="1">
                <a:latin typeface="微软 雅黑"/>
                <a:ea typeface="+mn-ea"/>
                <a:cs typeface="Times New Roman" panose="02020603050405020304" pitchFamily="18" charset="0"/>
              </a:rPr>
              <a:t>TurboTides</a:t>
            </a:r>
            <a:r>
              <a:rPr lang="zh-CN" altLang="en-US" kern="100" dirty="0">
                <a:latin typeface="微软 雅黑"/>
                <a:ea typeface="+mn-ea"/>
                <a:cs typeface="Times New Roman" panose="02020603050405020304" pitchFamily="18" charset="0"/>
              </a:rPr>
              <a:t>是一款面向下一代透平机械自主研发</a:t>
            </a:r>
            <a:r>
              <a:rPr lang="en-US" altLang="zh-CN" kern="100" dirty="0">
                <a:latin typeface="微软 雅黑"/>
                <a:ea typeface="+mn-ea"/>
                <a:cs typeface="Times New Roman" panose="02020603050405020304" pitchFamily="18" charset="0"/>
              </a:rPr>
              <a:t>CAE</a:t>
            </a:r>
            <a:r>
              <a:rPr lang="zh-CN" altLang="en-US" kern="100" dirty="0">
                <a:latin typeface="微软 雅黑"/>
                <a:ea typeface="+mn-ea"/>
                <a:cs typeface="Times New Roman" panose="02020603050405020304" pitchFamily="18" charset="0"/>
              </a:rPr>
              <a:t>集成平台。为透平机械全行业客户提供了一体化、专业化、定制化、智能化的</a:t>
            </a:r>
            <a:r>
              <a:rPr lang="en-US" altLang="zh-CN" kern="100" dirty="0">
                <a:latin typeface="微软 雅黑"/>
                <a:ea typeface="+mn-ea"/>
                <a:cs typeface="Times New Roman" panose="02020603050405020304" pitchFamily="18" charset="0"/>
              </a:rPr>
              <a:t>CAE</a:t>
            </a:r>
            <a:r>
              <a:rPr lang="zh-CN" altLang="en-US" kern="100" dirty="0">
                <a:latin typeface="微软 雅黑"/>
                <a:ea typeface="+mn-ea"/>
                <a:cs typeface="Times New Roman" panose="02020603050405020304" pitchFamily="18" charset="0"/>
              </a:rPr>
              <a:t>设计工具。</a:t>
            </a:r>
            <a:endParaRPr lang="en-US" altLang="zh-CN" kern="100" dirty="0">
              <a:latin typeface="微软 雅黑"/>
              <a:ea typeface="+mn-ea"/>
              <a:cs typeface="Times New Roman" panose="02020603050405020304" pitchFamily="18" charset="0"/>
            </a:endParaRPr>
          </a:p>
        </p:txBody>
      </p:sp>
      <p:pic>
        <p:nvPicPr>
          <p:cNvPr id="3" name="图片 2">
            <a:extLst>
              <a:ext uri="{FF2B5EF4-FFF2-40B4-BE49-F238E27FC236}">
                <a16:creationId xmlns:a16="http://schemas.microsoft.com/office/drawing/2014/main" id="{8AC14A4A-E270-49C5-9C93-49099A9622C2}"/>
              </a:ext>
            </a:extLst>
          </p:cNvPr>
          <p:cNvPicPr>
            <a:picLocks noChangeAspect="1"/>
          </p:cNvPicPr>
          <p:nvPr/>
        </p:nvPicPr>
        <p:blipFill>
          <a:blip r:embed="rId3"/>
          <a:stretch>
            <a:fillRect/>
          </a:stretch>
        </p:blipFill>
        <p:spPr>
          <a:xfrm>
            <a:off x="286679" y="2226781"/>
            <a:ext cx="3341376" cy="2298164"/>
          </a:xfrm>
          <a:prstGeom prst="rect">
            <a:avLst/>
          </a:prstGeom>
        </p:spPr>
      </p:pic>
      <p:sp>
        <p:nvSpPr>
          <p:cNvPr id="4" name="矩形 3">
            <a:extLst>
              <a:ext uri="{FF2B5EF4-FFF2-40B4-BE49-F238E27FC236}">
                <a16:creationId xmlns:a16="http://schemas.microsoft.com/office/drawing/2014/main" id="{F88115B4-38C9-42E4-A083-7AFE1C39DA9F}"/>
              </a:ext>
            </a:extLst>
          </p:cNvPr>
          <p:cNvSpPr/>
          <p:nvPr/>
        </p:nvSpPr>
        <p:spPr>
          <a:xfrm>
            <a:off x="2279650" y="3149601"/>
            <a:ext cx="1186063" cy="584200"/>
          </a:xfrm>
          <a:prstGeom prst="rect">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95F7D80E-E86A-4D71-9557-B4B60FED06D8}"/>
              </a:ext>
            </a:extLst>
          </p:cNvPr>
          <p:cNvSpPr/>
          <p:nvPr/>
        </p:nvSpPr>
        <p:spPr>
          <a:xfrm>
            <a:off x="1568450" y="3673475"/>
            <a:ext cx="534967" cy="584200"/>
          </a:xfrm>
          <a:prstGeom prst="rect">
            <a:avLst/>
          </a:prstGeom>
          <a:noFill/>
          <a:ln w="12700">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a:extLst>
              <a:ext uri="{FF2B5EF4-FFF2-40B4-BE49-F238E27FC236}">
                <a16:creationId xmlns:a16="http://schemas.microsoft.com/office/drawing/2014/main" id="{9340A5F8-C507-42C6-9A25-2CFEAE5A0D02}"/>
              </a:ext>
            </a:extLst>
          </p:cNvPr>
          <p:cNvPicPr>
            <a:picLocks noChangeAspect="1"/>
          </p:cNvPicPr>
          <p:nvPr/>
        </p:nvPicPr>
        <p:blipFill>
          <a:blip r:embed="rId4"/>
          <a:stretch>
            <a:fillRect/>
          </a:stretch>
        </p:blipFill>
        <p:spPr>
          <a:xfrm>
            <a:off x="3928240" y="1735198"/>
            <a:ext cx="3258393" cy="1759363"/>
          </a:xfrm>
          <a:prstGeom prst="rect">
            <a:avLst/>
          </a:prstGeom>
          <a:ln>
            <a:solidFill>
              <a:srgbClr val="FF0000"/>
            </a:solidFill>
            <a:prstDash val="sysDash"/>
          </a:ln>
        </p:spPr>
      </p:pic>
      <p:pic>
        <p:nvPicPr>
          <p:cNvPr id="12" name="图片 11">
            <a:extLst>
              <a:ext uri="{FF2B5EF4-FFF2-40B4-BE49-F238E27FC236}">
                <a16:creationId xmlns:a16="http://schemas.microsoft.com/office/drawing/2014/main" id="{B3AA9678-BE6B-48C4-AB6D-4F762656C53E}"/>
              </a:ext>
            </a:extLst>
          </p:cNvPr>
          <p:cNvPicPr>
            <a:picLocks noChangeAspect="1"/>
          </p:cNvPicPr>
          <p:nvPr/>
        </p:nvPicPr>
        <p:blipFill>
          <a:blip r:embed="rId5"/>
          <a:stretch>
            <a:fillRect/>
          </a:stretch>
        </p:blipFill>
        <p:spPr>
          <a:xfrm>
            <a:off x="5326432" y="3198172"/>
            <a:ext cx="2932687" cy="1898619"/>
          </a:xfrm>
          <a:prstGeom prst="rect">
            <a:avLst/>
          </a:prstGeom>
          <a:ln>
            <a:solidFill>
              <a:srgbClr val="002060"/>
            </a:solidFill>
            <a:prstDash val="sysDash"/>
          </a:ln>
        </p:spPr>
      </p:pic>
      <p:cxnSp>
        <p:nvCxnSpPr>
          <p:cNvPr id="14" name="直接箭头连接符 13">
            <a:extLst>
              <a:ext uri="{FF2B5EF4-FFF2-40B4-BE49-F238E27FC236}">
                <a16:creationId xmlns:a16="http://schemas.microsoft.com/office/drawing/2014/main" id="{C445872A-7889-4CE3-A66B-176BD3AD3585}"/>
              </a:ext>
            </a:extLst>
          </p:cNvPr>
          <p:cNvCxnSpPr>
            <a:cxnSpLocks/>
            <a:stCxn id="4" idx="3"/>
          </p:cNvCxnSpPr>
          <p:nvPr/>
        </p:nvCxnSpPr>
        <p:spPr>
          <a:xfrm flipV="1">
            <a:off x="3465713" y="3295650"/>
            <a:ext cx="462527" cy="146051"/>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3BFD65E3-4C68-4F6E-8836-84474F25FE58}"/>
              </a:ext>
            </a:extLst>
          </p:cNvPr>
          <p:cNvCxnSpPr>
            <a:stCxn id="9" idx="3"/>
            <a:endCxn id="12" idx="1"/>
          </p:cNvCxnSpPr>
          <p:nvPr/>
        </p:nvCxnSpPr>
        <p:spPr>
          <a:xfrm>
            <a:off x="2103417" y="3965575"/>
            <a:ext cx="3223015" cy="181907"/>
          </a:xfrm>
          <a:prstGeom prst="straightConnector1">
            <a:avLst/>
          </a:prstGeom>
          <a:ln>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 name="灯片编号占位符 10">
            <a:extLst>
              <a:ext uri="{FF2B5EF4-FFF2-40B4-BE49-F238E27FC236}">
                <a16:creationId xmlns:a16="http://schemas.microsoft.com/office/drawing/2014/main" id="{C0497702-1635-46E6-8E61-006FC3F0D37B}"/>
              </a:ext>
            </a:extLst>
          </p:cNvPr>
          <p:cNvSpPr>
            <a:spLocks noGrp="1"/>
          </p:cNvSpPr>
          <p:nvPr>
            <p:ph type="sldNum" idx="12"/>
          </p:nvPr>
        </p:nvSpPr>
        <p:spPr/>
        <p:txBody>
          <a:bodyPr/>
          <a:lstStyle/>
          <a:p>
            <a:fld id="{00000000-1234-1234-1234-123412341234}" type="slidenum">
              <a:rPr lang="en" smtClean="0"/>
              <a:pPr/>
              <a:t>6</a:t>
            </a:fld>
            <a:r>
              <a:rPr lang="en-US" altLang="zh-CN"/>
              <a:t>/18</a:t>
            </a:r>
            <a:endParaRPr lang="en" dirty="0"/>
          </a:p>
        </p:txBody>
      </p:sp>
    </p:spTree>
    <p:extLst>
      <p:ext uri="{BB962C8B-B14F-4D97-AF65-F5344CB8AC3E}">
        <p14:creationId xmlns:p14="http://schemas.microsoft.com/office/powerpoint/2010/main" val="1215541685"/>
      </p:ext>
    </p:extLst>
  </p:cSld>
  <p:clrMapOvr>
    <a:masterClrMapping/>
  </p:clrMapOvr>
  <mc:AlternateContent xmlns:mc="http://schemas.openxmlformats.org/markup-compatibility/2006" xmlns:p14="http://schemas.microsoft.com/office/powerpoint/2010/main">
    <mc:Choice Requires="p14">
      <p:transition spd="slow" p14:dur="2000" advTm="44227"/>
    </mc:Choice>
    <mc:Fallback xmlns="">
      <p:transition spd="slow" advTm="4422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Shape 139"/>
          <p:cNvSpPr txBox="1">
            <a:spLocks noGrp="1"/>
          </p:cNvSpPr>
          <p:nvPr>
            <p:ph type="title"/>
          </p:nvPr>
        </p:nvSpPr>
        <p:spPr>
          <a:xfrm>
            <a:off x="0" y="0"/>
            <a:ext cx="8222100" cy="660400"/>
          </a:xfrm>
          <a:prstGeom prst="rect">
            <a:avLst/>
          </a:prstGeom>
        </p:spPr>
        <p:txBody>
          <a:bodyPr spcFirstLastPara="1" wrap="square" lIns="91425" tIns="91425" rIns="91425" bIns="91425" anchor="b" anchorCtr="0">
            <a:noAutofit/>
          </a:bodyPr>
          <a:lstStyle/>
          <a:p>
            <a:r>
              <a:rPr lang="zh-CN" altLang="en-US" b="1" dirty="0">
                <a:latin typeface="微软雅黑" panose="020B0503020204020204" pitchFamily="34" charset="-122"/>
                <a:ea typeface="微软雅黑" panose="020B0503020204020204" pitchFamily="34" charset="-122"/>
              </a:rPr>
              <a:t>２</a:t>
            </a:r>
            <a:r>
              <a:rPr lang="en-US" altLang="zh-CN" b="1" dirty="0">
                <a:latin typeface="微软雅黑" panose="020B0503020204020204" pitchFamily="34" charset="-122"/>
                <a:ea typeface="微软雅黑" panose="020B0503020204020204" pitchFamily="34" charset="-122"/>
              </a:rPr>
              <a:t>.2 </a:t>
            </a:r>
            <a:r>
              <a:rPr lang="zh-CN" altLang="en-US" b="1" dirty="0">
                <a:latin typeface="黑体" panose="02010609060101010101" pitchFamily="49" charset="-122"/>
                <a:ea typeface="黑体" panose="02010609060101010101" pitchFamily="49" charset="-122"/>
              </a:rPr>
              <a:t>项目经历（一维数字化智能设计模块）</a:t>
            </a:r>
            <a:endParaRPr b="1" dirty="0">
              <a:latin typeface="黑体" panose="02010609060101010101" pitchFamily="49" charset="-122"/>
              <a:ea typeface="黑体" panose="02010609060101010101" pitchFamily="49" charset="-122"/>
            </a:endParaRPr>
          </a:p>
        </p:txBody>
      </p:sp>
      <p:sp>
        <p:nvSpPr>
          <p:cNvPr id="6" name="文本框 5"/>
          <p:cNvSpPr txBox="1"/>
          <p:nvPr/>
        </p:nvSpPr>
        <p:spPr>
          <a:xfrm>
            <a:off x="504189" y="797047"/>
            <a:ext cx="8135621" cy="1511504"/>
          </a:xfrm>
          <a:prstGeom prst="rect">
            <a:avLst/>
          </a:prstGeom>
          <a:noFill/>
        </p:spPr>
        <p:txBody>
          <a:bodyPr wrap="square" rtlCol="0">
            <a:spAutoFit/>
          </a:bodyPr>
          <a:lstStyle/>
          <a:p>
            <a:pPr>
              <a:lnSpc>
                <a:spcPct val="150000"/>
              </a:lnSpc>
            </a:pPr>
            <a:r>
              <a:rPr lang="zh-CN" altLang="en-US" sz="1600" dirty="0">
                <a:latin typeface="微软 雅黑"/>
                <a:ea typeface="+mn-ea"/>
              </a:rPr>
              <a:t>项目名称：</a:t>
            </a:r>
            <a:r>
              <a:rPr lang="zh-CN"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轴流压气机</a:t>
            </a:r>
            <a:r>
              <a:rPr lang="en-US" altLang="zh-CN" sz="1600" b="1" kern="100" dirty="0">
                <a:effectLst/>
                <a:latin typeface="Times New Roman" panose="02020603050405020304" pitchFamily="18" charset="0"/>
                <a:ea typeface="宋体" panose="02010600030101010101" pitchFamily="2" charset="-122"/>
              </a:rPr>
              <a:t>/</a:t>
            </a:r>
            <a:r>
              <a:rPr lang="zh-CN"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涡轮一维数字化智能设计模块</a:t>
            </a:r>
            <a:r>
              <a:rPr lang="zh-CN" altLang="en-US" sz="1600" b="1" kern="100" dirty="0">
                <a:effectLst/>
                <a:latin typeface="微软 雅黑"/>
                <a:ea typeface="+mn-ea"/>
                <a:cs typeface="Times New Roman" panose="02020603050405020304" pitchFamily="18" charset="0"/>
              </a:rPr>
              <a:t>（</a:t>
            </a:r>
            <a:r>
              <a:rPr lang="en-US" altLang="zh-CN" sz="1600" b="1" kern="100" dirty="0">
                <a:effectLst/>
                <a:latin typeface="微软 雅黑"/>
                <a:ea typeface="+mn-ea"/>
                <a:cs typeface="Times New Roman" panose="02020603050405020304" pitchFamily="18" charset="0"/>
              </a:rPr>
              <a:t>2020.05—2021.09</a:t>
            </a:r>
            <a:r>
              <a:rPr lang="zh-CN" altLang="en-US" sz="1600" b="1" kern="100" dirty="0">
                <a:effectLst/>
                <a:latin typeface="微软 雅黑"/>
                <a:ea typeface="+mn-ea"/>
                <a:cs typeface="Times New Roman" panose="02020603050405020304" pitchFamily="18" charset="0"/>
              </a:rPr>
              <a:t>） </a:t>
            </a:r>
            <a:r>
              <a:rPr lang="zh-CN"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项目经理</a:t>
            </a:r>
            <a:r>
              <a:rPr lang="zh-CN" altLang="en-US" sz="1600" b="1"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b="1" kern="100" dirty="0">
                <a:latin typeface="Times New Roman" panose="02020603050405020304" pitchFamily="18" charset="0"/>
                <a:ea typeface="宋体" panose="02010600030101010101" pitchFamily="2" charset="-122"/>
                <a:cs typeface="Times New Roman" panose="02020603050405020304" pitchFamily="18" charset="0"/>
              </a:rPr>
              <a:t>人</a:t>
            </a:r>
            <a:endParaRPr lang="en-US" altLang="zh-CN" sz="1600" b="1" kern="100" dirty="0">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lnSpc>
                <a:spcPct val="125000"/>
              </a:lnSpc>
              <a:buFont typeface="Wingdings" panose="05000000000000000000" pitchFamily="2" charset="2"/>
              <a:buChar char="u"/>
            </a:pP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智能设计模块中一维求解器开发，并基于该求解器进行功能拓展，形成设计、分析、多工况分析以及基于实验数据校验一体化设计模块；</a:t>
            </a:r>
          </a:p>
          <a:p>
            <a:pPr marL="342900" lvl="0" indent="-342900" algn="l">
              <a:lnSpc>
                <a:spcPct val="125000"/>
              </a:lnSpc>
              <a:buFont typeface="Wingdings" panose="05000000000000000000" pitchFamily="2" charset="2"/>
              <a:buChar char="u"/>
            </a:pP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智能设计模块用户交互界面设计和实现；求解结果支持曲线图、报表、用户检索等多种呈现方式；</a:t>
            </a:r>
          </a:p>
          <a:p>
            <a:pPr marL="342900" lvl="0" indent="-342900" algn="l">
              <a:lnSpc>
                <a:spcPct val="125000"/>
              </a:lnSpc>
              <a:buFont typeface="Wingdings" panose="05000000000000000000" pitchFamily="2" charset="2"/>
              <a:buChar char="u"/>
            </a:pP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链接几何造型模块，支持一键生成轴流压气机</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涡轮三维几何模型；</a:t>
            </a:r>
          </a:p>
        </p:txBody>
      </p:sp>
      <p:pic>
        <p:nvPicPr>
          <p:cNvPr id="11" name="图片 10">
            <a:extLst>
              <a:ext uri="{FF2B5EF4-FFF2-40B4-BE49-F238E27FC236}">
                <a16:creationId xmlns:a16="http://schemas.microsoft.com/office/drawing/2014/main" id="{CE790DBD-4D3A-4FA7-A078-6CF314E96A13}"/>
              </a:ext>
            </a:extLst>
          </p:cNvPr>
          <p:cNvPicPr>
            <a:picLocks noChangeAspect="1"/>
          </p:cNvPicPr>
          <p:nvPr/>
        </p:nvPicPr>
        <p:blipFill>
          <a:blip r:embed="rId3"/>
          <a:stretch>
            <a:fillRect/>
          </a:stretch>
        </p:blipFill>
        <p:spPr>
          <a:xfrm>
            <a:off x="504189" y="2363254"/>
            <a:ext cx="4367049" cy="2573785"/>
          </a:xfrm>
          <a:prstGeom prst="rect">
            <a:avLst/>
          </a:prstGeom>
        </p:spPr>
      </p:pic>
      <p:pic>
        <p:nvPicPr>
          <p:cNvPr id="13" name="图片 12">
            <a:extLst>
              <a:ext uri="{FF2B5EF4-FFF2-40B4-BE49-F238E27FC236}">
                <a16:creationId xmlns:a16="http://schemas.microsoft.com/office/drawing/2014/main" id="{C9397AD5-1692-4555-9965-24E5109A654B}"/>
              </a:ext>
            </a:extLst>
          </p:cNvPr>
          <p:cNvPicPr>
            <a:picLocks noChangeAspect="1"/>
          </p:cNvPicPr>
          <p:nvPr/>
        </p:nvPicPr>
        <p:blipFill>
          <a:blip r:embed="rId4"/>
          <a:stretch>
            <a:fillRect/>
          </a:stretch>
        </p:blipFill>
        <p:spPr>
          <a:xfrm>
            <a:off x="5073007" y="2445198"/>
            <a:ext cx="2136857" cy="1339850"/>
          </a:xfrm>
          <a:prstGeom prst="rect">
            <a:avLst/>
          </a:prstGeom>
          <a:ln>
            <a:solidFill>
              <a:schemeClr val="bg1">
                <a:lumMod val="75000"/>
              </a:schemeClr>
            </a:solidFill>
          </a:ln>
        </p:spPr>
      </p:pic>
      <p:pic>
        <p:nvPicPr>
          <p:cNvPr id="15" name="图片 14">
            <a:extLst>
              <a:ext uri="{FF2B5EF4-FFF2-40B4-BE49-F238E27FC236}">
                <a16:creationId xmlns:a16="http://schemas.microsoft.com/office/drawing/2014/main" id="{6E4CBEEC-8333-4576-A73E-FC68D3D5F783}"/>
              </a:ext>
            </a:extLst>
          </p:cNvPr>
          <p:cNvPicPr>
            <a:picLocks noChangeAspect="1"/>
          </p:cNvPicPr>
          <p:nvPr/>
        </p:nvPicPr>
        <p:blipFill>
          <a:blip r:embed="rId5"/>
          <a:stretch>
            <a:fillRect/>
          </a:stretch>
        </p:blipFill>
        <p:spPr>
          <a:xfrm>
            <a:off x="6271008" y="3438739"/>
            <a:ext cx="2244725" cy="1385673"/>
          </a:xfrm>
          <a:prstGeom prst="rect">
            <a:avLst/>
          </a:prstGeom>
          <a:ln>
            <a:solidFill>
              <a:schemeClr val="bg1">
                <a:lumMod val="75000"/>
              </a:schemeClr>
            </a:solidFill>
          </a:ln>
        </p:spPr>
      </p:pic>
      <p:sp>
        <p:nvSpPr>
          <p:cNvPr id="16" name="矩形 15">
            <a:extLst>
              <a:ext uri="{FF2B5EF4-FFF2-40B4-BE49-F238E27FC236}">
                <a16:creationId xmlns:a16="http://schemas.microsoft.com/office/drawing/2014/main" id="{7DF71F66-3001-4CC0-86AE-2087159E3396}"/>
              </a:ext>
            </a:extLst>
          </p:cNvPr>
          <p:cNvSpPr/>
          <p:nvPr/>
        </p:nvSpPr>
        <p:spPr>
          <a:xfrm>
            <a:off x="1662525" y="2819400"/>
            <a:ext cx="717087" cy="246221"/>
          </a:xfrm>
          <a:prstGeom prst="rect">
            <a:avLst/>
          </a:prstGeom>
        </p:spPr>
        <p:txBody>
          <a:bodyPr wrap="square">
            <a:spAutoFit/>
          </a:bodyPr>
          <a:lstStyle/>
          <a:p>
            <a:r>
              <a:rPr lang="zh-CN" altLang="en-US" sz="1000" b="1" kern="100" dirty="0">
                <a:solidFill>
                  <a:srgbClr val="FF0000"/>
                </a:solidFill>
                <a:latin typeface="微软 雅黑"/>
                <a:ea typeface="宋体" panose="02010600030101010101" pitchFamily="2" charset="-122"/>
                <a:cs typeface="Times New Roman" panose="02020603050405020304" pitchFamily="18" charset="0"/>
              </a:rPr>
              <a:t>主视图</a:t>
            </a:r>
            <a:endParaRPr lang="zh-CN" altLang="en-US" sz="1000" b="1" dirty="0">
              <a:solidFill>
                <a:srgbClr val="FF0000"/>
              </a:solidFill>
            </a:endParaRPr>
          </a:p>
        </p:txBody>
      </p:sp>
      <p:sp>
        <p:nvSpPr>
          <p:cNvPr id="17" name="矩形 16">
            <a:extLst>
              <a:ext uri="{FF2B5EF4-FFF2-40B4-BE49-F238E27FC236}">
                <a16:creationId xmlns:a16="http://schemas.microsoft.com/office/drawing/2014/main" id="{218D21E6-82E2-4856-A161-6363A812B594}"/>
              </a:ext>
            </a:extLst>
          </p:cNvPr>
          <p:cNvSpPr/>
          <p:nvPr/>
        </p:nvSpPr>
        <p:spPr>
          <a:xfrm>
            <a:off x="4255035" y="2992012"/>
            <a:ext cx="717087" cy="246221"/>
          </a:xfrm>
          <a:prstGeom prst="rect">
            <a:avLst/>
          </a:prstGeom>
        </p:spPr>
        <p:txBody>
          <a:bodyPr wrap="square">
            <a:spAutoFit/>
          </a:bodyPr>
          <a:lstStyle/>
          <a:p>
            <a:r>
              <a:rPr lang="zh-CN" altLang="en-US" sz="1000" b="1" kern="100" dirty="0">
                <a:solidFill>
                  <a:srgbClr val="FF0000"/>
                </a:solidFill>
                <a:latin typeface="微软 雅黑"/>
                <a:ea typeface="宋体" panose="02010600030101010101" pitchFamily="2" charset="-122"/>
                <a:cs typeface="Times New Roman" panose="02020603050405020304" pitchFamily="18" charset="0"/>
              </a:rPr>
              <a:t>报表</a:t>
            </a:r>
            <a:endParaRPr lang="zh-CN" altLang="en-US" sz="1000" b="1" dirty="0">
              <a:solidFill>
                <a:srgbClr val="FF0000"/>
              </a:solidFill>
            </a:endParaRPr>
          </a:p>
        </p:txBody>
      </p:sp>
      <p:sp>
        <p:nvSpPr>
          <p:cNvPr id="18" name="矩形 17">
            <a:extLst>
              <a:ext uri="{FF2B5EF4-FFF2-40B4-BE49-F238E27FC236}">
                <a16:creationId xmlns:a16="http://schemas.microsoft.com/office/drawing/2014/main" id="{FEC411F0-0761-4539-8D1F-17E682470807}"/>
              </a:ext>
            </a:extLst>
          </p:cNvPr>
          <p:cNvSpPr/>
          <p:nvPr/>
        </p:nvSpPr>
        <p:spPr>
          <a:xfrm>
            <a:off x="3228177" y="3536010"/>
            <a:ext cx="1026858" cy="246221"/>
          </a:xfrm>
          <a:prstGeom prst="rect">
            <a:avLst/>
          </a:prstGeom>
        </p:spPr>
        <p:txBody>
          <a:bodyPr wrap="square">
            <a:spAutoFit/>
          </a:bodyPr>
          <a:lstStyle/>
          <a:p>
            <a:r>
              <a:rPr lang="zh-CN" altLang="en-US" sz="1000" b="1" kern="100" dirty="0">
                <a:solidFill>
                  <a:srgbClr val="FF0000"/>
                </a:solidFill>
                <a:latin typeface="微软 雅黑"/>
                <a:ea typeface="宋体" panose="02010600030101010101" pitchFamily="2" charset="-122"/>
                <a:cs typeface="Times New Roman" panose="02020603050405020304" pitchFamily="18" charset="0"/>
              </a:rPr>
              <a:t>用户检索窗口</a:t>
            </a:r>
            <a:endParaRPr lang="zh-CN" altLang="en-US" sz="1000" b="1" dirty="0">
              <a:solidFill>
                <a:srgbClr val="FF0000"/>
              </a:solidFill>
            </a:endParaRPr>
          </a:p>
        </p:txBody>
      </p:sp>
      <p:sp>
        <p:nvSpPr>
          <p:cNvPr id="19" name="矩形 18">
            <a:extLst>
              <a:ext uri="{FF2B5EF4-FFF2-40B4-BE49-F238E27FC236}">
                <a16:creationId xmlns:a16="http://schemas.microsoft.com/office/drawing/2014/main" id="{CAAE4B5D-99EB-40E4-8F51-2B252A2E01E5}"/>
              </a:ext>
            </a:extLst>
          </p:cNvPr>
          <p:cNvSpPr/>
          <p:nvPr/>
        </p:nvSpPr>
        <p:spPr>
          <a:xfrm>
            <a:off x="3393963" y="4151787"/>
            <a:ext cx="717087" cy="246221"/>
          </a:xfrm>
          <a:prstGeom prst="rect">
            <a:avLst/>
          </a:prstGeom>
        </p:spPr>
        <p:txBody>
          <a:bodyPr wrap="square">
            <a:spAutoFit/>
          </a:bodyPr>
          <a:lstStyle/>
          <a:p>
            <a:r>
              <a:rPr lang="zh-CN" altLang="en-US" sz="1000" b="1" kern="100" dirty="0">
                <a:solidFill>
                  <a:srgbClr val="FF0000"/>
                </a:solidFill>
                <a:latin typeface="微软 雅黑"/>
                <a:ea typeface="宋体" panose="02010600030101010101" pitchFamily="2" charset="-122"/>
                <a:cs typeface="Times New Roman" panose="02020603050405020304" pitchFamily="18" charset="0"/>
              </a:rPr>
              <a:t>控制台</a:t>
            </a:r>
            <a:endParaRPr lang="zh-CN" altLang="en-US" sz="1000" b="1" dirty="0">
              <a:solidFill>
                <a:srgbClr val="FF0000"/>
              </a:solidFill>
            </a:endParaRPr>
          </a:p>
        </p:txBody>
      </p:sp>
      <p:sp>
        <p:nvSpPr>
          <p:cNvPr id="20" name="矩形 19">
            <a:extLst>
              <a:ext uri="{FF2B5EF4-FFF2-40B4-BE49-F238E27FC236}">
                <a16:creationId xmlns:a16="http://schemas.microsoft.com/office/drawing/2014/main" id="{68F4F890-5D44-48B7-BA79-5BC1B329EDA7}"/>
              </a:ext>
            </a:extLst>
          </p:cNvPr>
          <p:cNvSpPr/>
          <p:nvPr/>
        </p:nvSpPr>
        <p:spPr>
          <a:xfrm>
            <a:off x="5782891" y="2999524"/>
            <a:ext cx="1064654" cy="246221"/>
          </a:xfrm>
          <a:prstGeom prst="rect">
            <a:avLst/>
          </a:prstGeom>
        </p:spPr>
        <p:txBody>
          <a:bodyPr wrap="square">
            <a:spAutoFit/>
          </a:bodyPr>
          <a:lstStyle/>
          <a:p>
            <a:r>
              <a:rPr lang="zh-CN" altLang="en-US" sz="1000" b="1" dirty="0">
                <a:solidFill>
                  <a:srgbClr val="FF0000"/>
                </a:solidFill>
                <a:latin typeface="+mn-ea"/>
                <a:ea typeface="+mn-ea"/>
              </a:rPr>
              <a:t>效率</a:t>
            </a:r>
            <a:r>
              <a:rPr lang="en-US" altLang="zh-CN" sz="1000" b="1" dirty="0">
                <a:solidFill>
                  <a:srgbClr val="FF0000"/>
                </a:solidFill>
                <a:latin typeface="+mn-ea"/>
                <a:ea typeface="+mn-ea"/>
              </a:rPr>
              <a:t>VS</a:t>
            </a:r>
            <a:r>
              <a:rPr lang="zh-CN" altLang="en-US" sz="1000" b="1" dirty="0">
                <a:solidFill>
                  <a:srgbClr val="FF0000"/>
                </a:solidFill>
                <a:latin typeface="+mn-ea"/>
                <a:ea typeface="+mn-ea"/>
              </a:rPr>
              <a:t>膨胀比</a:t>
            </a:r>
          </a:p>
        </p:txBody>
      </p:sp>
      <p:sp>
        <p:nvSpPr>
          <p:cNvPr id="21" name="矩形 20">
            <a:extLst>
              <a:ext uri="{FF2B5EF4-FFF2-40B4-BE49-F238E27FC236}">
                <a16:creationId xmlns:a16="http://schemas.microsoft.com/office/drawing/2014/main" id="{8D96D5BB-3592-410E-82C8-D0539075ED06}"/>
              </a:ext>
            </a:extLst>
          </p:cNvPr>
          <p:cNvSpPr/>
          <p:nvPr/>
        </p:nvSpPr>
        <p:spPr>
          <a:xfrm>
            <a:off x="6788150" y="4100232"/>
            <a:ext cx="1208745" cy="246221"/>
          </a:xfrm>
          <a:prstGeom prst="rect">
            <a:avLst/>
          </a:prstGeom>
        </p:spPr>
        <p:txBody>
          <a:bodyPr wrap="square">
            <a:spAutoFit/>
          </a:bodyPr>
          <a:lstStyle/>
          <a:p>
            <a:r>
              <a:rPr lang="zh-CN" altLang="en-US" sz="1000" b="1" dirty="0">
                <a:solidFill>
                  <a:srgbClr val="FF0000"/>
                </a:solidFill>
                <a:latin typeface="+mn-ea"/>
                <a:ea typeface="+mn-ea"/>
              </a:rPr>
              <a:t>入口质量</a:t>
            </a:r>
            <a:r>
              <a:rPr lang="en-US" altLang="zh-CN" sz="1000" b="1" dirty="0">
                <a:solidFill>
                  <a:srgbClr val="FF0000"/>
                </a:solidFill>
                <a:latin typeface="+mn-ea"/>
                <a:ea typeface="+mn-ea"/>
              </a:rPr>
              <a:t>VS</a:t>
            </a:r>
            <a:r>
              <a:rPr lang="zh-CN" altLang="en-US" sz="1000" b="1" dirty="0">
                <a:solidFill>
                  <a:srgbClr val="FF0000"/>
                </a:solidFill>
                <a:latin typeface="+mn-ea"/>
                <a:ea typeface="+mn-ea"/>
              </a:rPr>
              <a:t>膨胀比</a:t>
            </a:r>
          </a:p>
        </p:txBody>
      </p:sp>
      <p:pic>
        <p:nvPicPr>
          <p:cNvPr id="22" name="图片 21">
            <a:extLst>
              <a:ext uri="{FF2B5EF4-FFF2-40B4-BE49-F238E27FC236}">
                <a16:creationId xmlns:a16="http://schemas.microsoft.com/office/drawing/2014/main" id="{A7C1652F-17DE-4987-AD3A-5A4DE46F9855}"/>
              </a:ext>
            </a:extLst>
          </p:cNvPr>
          <p:cNvPicPr>
            <a:picLocks noChangeAspect="1"/>
          </p:cNvPicPr>
          <p:nvPr/>
        </p:nvPicPr>
        <p:blipFill>
          <a:blip r:embed="rId6"/>
          <a:stretch>
            <a:fillRect/>
          </a:stretch>
        </p:blipFill>
        <p:spPr>
          <a:xfrm>
            <a:off x="7374243" y="2002392"/>
            <a:ext cx="1695714" cy="1339850"/>
          </a:xfrm>
          <a:prstGeom prst="rect">
            <a:avLst/>
          </a:prstGeom>
          <a:ln>
            <a:solidFill>
              <a:schemeClr val="bg1">
                <a:lumMod val="75000"/>
              </a:schemeClr>
            </a:solidFill>
          </a:ln>
        </p:spPr>
      </p:pic>
      <p:sp>
        <p:nvSpPr>
          <p:cNvPr id="23" name="矩形 22">
            <a:extLst>
              <a:ext uri="{FF2B5EF4-FFF2-40B4-BE49-F238E27FC236}">
                <a16:creationId xmlns:a16="http://schemas.microsoft.com/office/drawing/2014/main" id="{ADE7F42A-EE0F-47D7-8598-E26869FC52F2}"/>
              </a:ext>
            </a:extLst>
          </p:cNvPr>
          <p:cNvSpPr/>
          <p:nvPr/>
        </p:nvSpPr>
        <p:spPr>
          <a:xfrm>
            <a:off x="7715250" y="2606437"/>
            <a:ext cx="1208745" cy="246221"/>
          </a:xfrm>
          <a:prstGeom prst="rect">
            <a:avLst/>
          </a:prstGeom>
        </p:spPr>
        <p:txBody>
          <a:bodyPr wrap="square">
            <a:spAutoFit/>
          </a:bodyPr>
          <a:lstStyle/>
          <a:p>
            <a:r>
              <a:rPr lang="zh-CN" altLang="en-US" sz="1000" b="1" dirty="0">
                <a:solidFill>
                  <a:srgbClr val="FF0000"/>
                </a:solidFill>
                <a:latin typeface="+mn-ea"/>
                <a:ea typeface="+mn-ea"/>
              </a:rPr>
              <a:t>界面设置</a:t>
            </a:r>
          </a:p>
        </p:txBody>
      </p:sp>
      <p:sp>
        <p:nvSpPr>
          <p:cNvPr id="4" name="灯片编号占位符 3">
            <a:extLst>
              <a:ext uri="{FF2B5EF4-FFF2-40B4-BE49-F238E27FC236}">
                <a16:creationId xmlns:a16="http://schemas.microsoft.com/office/drawing/2014/main" id="{D1BFD3B3-FE74-48AE-A202-CB81734D7CE8}"/>
              </a:ext>
            </a:extLst>
          </p:cNvPr>
          <p:cNvSpPr>
            <a:spLocks noGrp="1"/>
          </p:cNvSpPr>
          <p:nvPr>
            <p:ph type="sldNum" idx="12"/>
          </p:nvPr>
        </p:nvSpPr>
        <p:spPr/>
        <p:txBody>
          <a:bodyPr/>
          <a:lstStyle/>
          <a:p>
            <a:fld id="{00000000-1234-1234-1234-123412341234}" type="slidenum">
              <a:rPr lang="en" smtClean="0"/>
              <a:pPr/>
              <a:t>7</a:t>
            </a:fld>
            <a:r>
              <a:rPr lang="en-US" altLang="zh-CN"/>
              <a:t>/18</a:t>
            </a:r>
            <a:endParaRPr lang="en" dirty="0"/>
          </a:p>
        </p:txBody>
      </p:sp>
    </p:spTree>
    <p:extLst>
      <p:ext uri="{BB962C8B-B14F-4D97-AF65-F5344CB8AC3E}">
        <p14:creationId xmlns:p14="http://schemas.microsoft.com/office/powerpoint/2010/main" val="2954005819"/>
      </p:ext>
    </p:extLst>
  </p:cSld>
  <p:clrMapOvr>
    <a:masterClrMapping/>
  </p:clrMapOvr>
  <mc:AlternateContent xmlns:mc="http://schemas.openxmlformats.org/markup-compatibility/2006" xmlns:p14="http://schemas.microsoft.com/office/powerpoint/2010/main">
    <mc:Choice Requires="p14">
      <p:transition spd="slow" p14:dur="2000" advTm="26820"/>
    </mc:Choice>
    <mc:Fallback xmlns="">
      <p:transition spd="slow" advTm="2682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5" name="图片 14">
            <a:extLst>
              <a:ext uri="{FF2B5EF4-FFF2-40B4-BE49-F238E27FC236}">
                <a16:creationId xmlns:a16="http://schemas.microsoft.com/office/drawing/2014/main" id="{1A3D651D-CB58-4C6E-A2FA-A4E5578AFF8E}"/>
              </a:ext>
            </a:extLst>
          </p:cNvPr>
          <p:cNvPicPr>
            <a:picLocks noChangeAspect="1"/>
          </p:cNvPicPr>
          <p:nvPr/>
        </p:nvPicPr>
        <p:blipFill>
          <a:blip r:embed="rId3"/>
          <a:stretch>
            <a:fillRect/>
          </a:stretch>
        </p:blipFill>
        <p:spPr>
          <a:xfrm>
            <a:off x="6559110" y="3812567"/>
            <a:ext cx="1997472" cy="1292264"/>
          </a:xfrm>
          <a:prstGeom prst="rect">
            <a:avLst/>
          </a:prstGeom>
        </p:spPr>
      </p:pic>
      <p:sp>
        <p:nvSpPr>
          <p:cNvPr id="8" name="Shape 139"/>
          <p:cNvSpPr txBox="1">
            <a:spLocks noGrp="1"/>
          </p:cNvSpPr>
          <p:nvPr>
            <p:ph type="title"/>
          </p:nvPr>
        </p:nvSpPr>
        <p:spPr>
          <a:xfrm>
            <a:off x="0" y="0"/>
            <a:ext cx="8222100" cy="660400"/>
          </a:xfrm>
          <a:prstGeom prst="rect">
            <a:avLst/>
          </a:prstGeom>
        </p:spPr>
        <p:txBody>
          <a:bodyPr spcFirstLastPara="1" wrap="square" lIns="91425" tIns="91425" rIns="91425" bIns="91425" anchor="b" anchorCtr="0">
            <a:noAutofit/>
          </a:bodyPr>
          <a:lstStyle/>
          <a:p>
            <a:r>
              <a:rPr lang="zh-CN" altLang="en-US" b="1" dirty="0">
                <a:latin typeface="微软雅黑" panose="020B0503020204020204" pitchFamily="34" charset="-122"/>
                <a:ea typeface="微软雅黑" panose="020B0503020204020204" pitchFamily="34" charset="-122"/>
              </a:rPr>
              <a:t>２</a:t>
            </a:r>
            <a:r>
              <a:rPr lang="en-US" altLang="zh-CN" b="1" dirty="0">
                <a:latin typeface="微软雅黑" panose="020B0503020204020204" pitchFamily="34" charset="-122"/>
                <a:ea typeface="微软雅黑" panose="020B0503020204020204" pitchFamily="34" charset="-122"/>
              </a:rPr>
              <a:t>.3 </a:t>
            </a:r>
            <a:r>
              <a:rPr lang="zh-CN" altLang="en-US" b="1" dirty="0">
                <a:latin typeface="黑体" panose="02010609060101010101" pitchFamily="49" charset="-122"/>
                <a:ea typeface="黑体" panose="02010609060101010101" pitchFamily="49" charset="-122"/>
              </a:rPr>
              <a:t>项目经历（二维通流和叶片间流场仿真）</a:t>
            </a:r>
            <a:endParaRPr b="1" dirty="0">
              <a:latin typeface="黑体" panose="02010609060101010101" pitchFamily="49" charset="-122"/>
              <a:ea typeface="黑体" panose="02010609060101010101" pitchFamily="49" charset="-122"/>
            </a:endParaRPr>
          </a:p>
        </p:txBody>
      </p:sp>
      <p:sp>
        <p:nvSpPr>
          <p:cNvPr id="6" name="文本框 5"/>
          <p:cNvSpPr txBox="1"/>
          <p:nvPr/>
        </p:nvSpPr>
        <p:spPr>
          <a:xfrm>
            <a:off x="504189" y="797047"/>
            <a:ext cx="8222100" cy="1815882"/>
          </a:xfrm>
          <a:prstGeom prst="rect">
            <a:avLst/>
          </a:prstGeom>
          <a:noFill/>
        </p:spPr>
        <p:txBody>
          <a:bodyPr wrap="square" rtlCol="0">
            <a:spAutoFit/>
          </a:bodyPr>
          <a:lstStyle/>
          <a:p>
            <a:r>
              <a:rPr lang="zh-CN" altLang="en-US" sz="1600" dirty="0">
                <a:latin typeface="微软 雅黑"/>
                <a:ea typeface="+mn-ea"/>
              </a:rPr>
              <a:t>项目名称：</a:t>
            </a: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 透平机械二维通流及叶片间仿真优化模块（</a:t>
            </a:r>
            <a:r>
              <a:rPr lang="en-US"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2017.9-2018.04</a:t>
            </a: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1" kern="100" dirty="0">
                <a:latin typeface="Times New Roman" panose="02020603050405020304" pitchFamily="18" charset="0"/>
                <a:ea typeface="宋体" panose="02010600030101010101" pitchFamily="2" charset="-122"/>
                <a:cs typeface="Times New Roman" panose="02020603050405020304" pitchFamily="18" charset="0"/>
              </a:rPr>
              <a:t>开发工程师 </a:t>
            </a:r>
            <a:r>
              <a:rPr lang="en-US" altLang="zh-CN" sz="1600" b="1"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b="1" kern="100" dirty="0">
                <a:latin typeface="Times New Roman" panose="02020603050405020304" pitchFamily="18" charset="0"/>
                <a:ea typeface="宋体" panose="02010600030101010101" pitchFamily="2" charset="-122"/>
                <a:cs typeface="Times New Roman" panose="02020603050405020304" pitchFamily="18" charset="0"/>
              </a:rPr>
              <a:t>人</a:t>
            </a:r>
            <a:endParaRPr lang="en-US" altLang="zh-CN" kern="100" dirty="0">
              <a:latin typeface="+mn-ea"/>
              <a:ea typeface="+mn-ea"/>
              <a:cs typeface="Times New Roman" panose="02020603050405020304" pitchFamily="18" charset="0"/>
            </a:endParaRPr>
          </a:p>
          <a:p>
            <a:pPr marL="285750" indent="-285750">
              <a:spcBef>
                <a:spcPts val="1200"/>
              </a:spcBef>
              <a:buFont typeface="Wingdings" panose="05000000000000000000" pitchFamily="2" charset="2"/>
              <a:buChar char="u"/>
            </a:pPr>
            <a:r>
              <a:rPr lang="zh-CN" altLang="en-US" kern="100" dirty="0">
                <a:latin typeface="+mn-ea"/>
                <a:ea typeface="+mn-ea"/>
                <a:cs typeface="Times New Roman" panose="02020603050405020304" pitchFamily="18" charset="0"/>
              </a:rPr>
              <a:t>自动获取透平机械三维模型信息，对计算域网格划分和计算站点几何信息提取；</a:t>
            </a:r>
          </a:p>
          <a:p>
            <a:pPr marL="285750" indent="-285750">
              <a:spcBef>
                <a:spcPts val="1200"/>
              </a:spcBef>
              <a:buFont typeface="Wingdings" panose="05000000000000000000" pitchFamily="2" charset="2"/>
              <a:buChar char="u"/>
            </a:pPr>
            <a:r>
              <a:rPr lang="zh-CN" altLang="en-US" kern="100" dirty="0">
                <a:latin typeface="+mn-ea"/>
                <a:ea typeface="+mn-ea"/>
                <a:cs typeface="Times New Roman" panose="02020603050405020304" pitchFamily="18" charset="0"/>
              </a:rPr>
              <a:t>基于流线曲率法和势函数法对通流区域和叶片间区域进行内流场仿真；</a:t>
            </a:r>
          </a:p>
          <a:p>
            <a:pPr marL="285750" indent="-285750">
              <a:spcBef>
                <a:spcPts val="1200"/>
              </a:spcBef>
              <a:buFont typeface="Wingdings" panose="05000000000000000000" pitchFamily="2" charset="2"/>
              <a:buChar char="u"/>
            </a:pPr>
            <a:r>
              <a:rPr lang="zh-CN" altLang="en-US" kern="100" dirty="0">
                <a:latin typeface="+mn-ea"/>
                <a:ea typeface="+mn-ea"/>
                <a:cs typeface="Times New Roman" panose="02020603050405020304" pitchFamily="18" charset="0"/>
              </a:rPr>
              <a:t>集成仿真结果处理功能，支持云图，线图等方式对计算域结果可视化；</a:t>
            </a:r>
          </a:p>
          <a:p>
            <a:pPr marL="285750" indent="-285750">
              <a:spcBef>
                <a:spcPts val="1200"/>
              </a:spcBef>
              <a:buFont typeface="Wingdings" panose="05000000000000000000" pitchFamily="2" charset="2"/>
              <a:buChar char="u"/>
            </a:pPr>
            <a:r>
              <a:rPr lang="zh-CN" altLang="en-US" kern="100" dirty="0">
                <a:latin typeface="+mn-ea"/>
                <a:ea typeface="+mn-ea"/>
                <a:cs typeface="Times New Roman" panose="02020603050405020304" pitchFamily="18" charset="0"/>
              </a:rPr>
              <a:t>集成系统内嵌优化器，根据仿真结构，优化三维结几何结构；</a:t>
            </a:r>
          </a:p>
        </p:txBody>
      </p:sp>
      <p:pic>
        <p:nvPicPr>
          <p:cNvPr id="2" name="图片 1">
            <a:extLst>
              <a:ext uri="{FF2B5EF4-FFF2-40B4-BE49-F238E27FC236}">
                <a16:creationId xmlns:a16="http://schemas.microsoft.com/office/drawing/2014/main" id="{24923AB2-0491-4FA5-B761-C1283071DD7A}"/>
              </a:ext>
            </a:extLst>
          </p:cNvPr>
          <p:cNvPicPr>
            <a:picLocks noChangeAspect="1"/>
          </p:cNvPicPr>
          <p:nvPr/>
        </p:nvPicPr>
        <p:blipFill rotWithShape="1">
          <a:blip r:embed="rId4"/>
          <a:srcRect l="26202" t="10602" r="37072" b="59300"/>
          <a:stretch/>
        </p:blipFill>
        <p:spPr>
          <a:xfrm>
            <a:off x="202287" y="3065680"/>
            <a:ext cx="2378060" cy="1261723"/>
          </a:xfrm>
          <a:prstGeom prst="rect">
            <a:avLst/>
          </a:prstGeom>
        </p:spPr>
      </p:pic>
      <p:pic>
        <p:nvPicPr>
          <p:cNvPr id="10" name="图片 9">
            <a:extLst>
              <a:ext uri="{FF2B5EF4-FFF2-40B4-BE49-F238E27FC236}">
                <a16:creationId xmlns:a16="http://schemas.microsoft.com/office/drawing/2014/main" id="{467DC43E-D68B-4285-A0F0-7BDEBBB84304}"/>
              </a:ext>
            </a:extLst>
          </p:cNvPr>
          <p:cNvPicPr>
            <a:picLocks noChangeAspect="1"/>
          </p:cNvPicPr>
          <p:nvPr/>
        </p:nvPicPr>
        <p:blipFill>
          <a:blip r:embed="rId5"/>
          <a:stretch>
            <a:fillRect/>
          </a:stretch>
        </p:blipFill>
        <p:spPr>
          <a:xfrm>
            <a:off x="2730818" y="2612929"/>
            <a:ext cx="1820103" cy="1242206"/>
          </a:xfrm>
          <a:prstGeom prst="rect">
            <a:avLst/>
          </a:prstGeom>
        </p:spPr>
      </p:pic>
      <p:pic>
        <p:nvPicPr>
          <p:cNvPr id="12" name="图片 11">
            <a:extLst>
              <a:ext uri="{FF2B5EF4-FFF2-40B4-BE49-F238E27FC236}">
                <a16:creationId xmlns:a16="http://schemas.microsoft.com/office/drawing/2014/main" id="{C2D81EC3-BA54-41EB-8FA9-6A77CDA57C1D}"/>
              </a:ext>
            </a:extLst>
          </p:cNvPr>
          <p:cNvPicPr>
            <a:picLocks noChangeAspect="1"/>
          </p:cNvPicPr>
          <p:nvPr/>
        </p:nvPicPr>
        <p:blipFill>
          <a:blip r:embed="rId6"/>
          <a:stretch>
            <a:fillRect/>
          </a:stretch>
        </p:blipFill>
        <p:spPr>
          <a:xfrm>
            <a:off x="2730818" y="3876587"/>
            <a:ext cx="1820103" cy="1209283"/>
          </a:xfrm>
          <a:prstGeom prst="rect">
            <a:avLst/>
          </a:prstGeom>
        </p:spPr>
      </p:pic>
      <p:pic>
        <p:nvPicPr>
          <p:cNvPr id="13" name="图片 12">
            <a:extLst>
              <a:ext uri="{FF2B5EF4-FFF2-40B4-BE49-F238E27FC236}">
                <a16:creationId xmlns:a16="http://schemas.microsoft.com/office/drawing/2014/main" id="{9382D5ED-71D5-4FBF-8567-08B474A23D69}"/>
              </a:ext>
            </a:extLst>
          </p:cNvPr>
          <p:cNvPicPr>
            <a:picLocks noChangeAspect="1"/>
          </p:cNvPicPr>
          <p:nvPr/>
        </p:nvPicPr>
        <p:blipFill>
          <a:blip r:embed="rId7"/>
          <a:stretch>
            <a:fillRect/>
          </a:stretch>
        </p:blipFill>
        <p:spPr>
          <a:xfrm>
            <a:off x="4671571" y="2640803"/>
            <a:ext cx="1760175" cy="1171764"/>
          </a:xfrm>
          <a:prstGeom prst="rect">
            <a:avLst/>
          </a:prstGeom>
        </p:spPr>
      </p:pic>
      <p:pic>
        <p:nvPicPr>
          <p:cNvPr id="14" name="图片 13">
            <a:extLst>
              <a:ext uri="{FF2B5EF4-FFF2-40B4-BE49-F238E27FC236}">
                <a16:creationId xmlns:a16="http://schemas.microsoft.com/office/drawing/2014/main" id="{77DA0BFF-A7C8-4FD5-A1C6-5BA5C4503CD3}"/>
              </a:ext>
            </a:extLst>
          </p:cNvPr>
          <p:cNvPicPr>
            <a:picLocks noChangeAspect="1"/>
          </p:cNvPicPr>
          <p:nvPr/>
        </p:nvPicPr>
        <p:blipFill>
          <a:blip r:embed="rId8"/>
          <a:stretch>
            <a:fillRect/>
          </a:stretch>
        </p:blipFill>
        <p:spPr>
          <a:xfrm>
            <a:off x="4671571" y="3920456"/>
            <a:ext cx="1766889" cy="1171764"/>
          </a:xfrm>
          <a:prstGeom prst="rect">
            <a:avLst/>
          </a:prstGeom>
        </p:spPr>
      </p:pic>
      <p:sp>
        <p:nvSpPr>
          <p:cNvPr id="16" name="矩形 15">
            <a:extLst>
              <a:ext uri="{FF2B5EF4-FFF2-40B4-BE49-F238E27FC236}">
                <a16:creationId xmlns:a16="http://schemas.microsoft.com/office/drawing/2014/main" id="{01EB7F9C-8870-45F8-934D-D0C1D34F6A0C}"/>
              </a:ext>
            </a:extLst>
          </p:cNvPr>
          <p:cNvSpPr/>
          <p:nvPr/>
        </p:nvSpPr>
        <p:spPr>
          <a:xfrm>
            <a:off x="1097955" y="4327403"/>
            <a:ext cx="737195" cy="246221"/>
          </a:xfrm>
          <a:prstGeom prst="rect">
            <a:avLst/>
          </a:prstGeom>
        </p:spPr>
        <p:txBody>
          <a:bodyPr wrap="square">
            <a:spAutoFit/>
          </a:bodyPr>
          <a:lstStyle/>
          <a:p>
            <a:r>
              <a:rPr lang="zh-CN" altLang="en-US" sz="1000" b="1" dirty="0">
                <a:solidFill>
                  <a:srgbClr val="FF0000"/>
                </a:solidFill>
                <a:latin typeface="+mn-ea"/>
                <a:ea typeface="+mn-ea"/>
              </a:rPr>
              <a:t>三维几何</a:t>
            </a:r>
          </a:p>
        </p:txBody>
      </p:sp>
      <p:sp>
        <p:nvSpPr>
          <p:cNvPr id="17" name="矩形 16">
            <a:extLst>
              <a:ext uri="{FF2B5EF4-FFF2-40B4-BE49-F238E27FC236}">
                <a16:creationId xmlns:a16="http://schemas.microsoft.com/office/drawing/2014/main" id="{3A019E45-9C40-42C9-86AA-D5C442696E40}"/>
              </a:ext>
            </a:extLst>
          </p:cNvPr>
          <p:cNvSpPr/>
          <p:nvPr/>
        </p:nvSpPr>
        <p:spPr>
          <a:xfrm>
            <a:off x="3012626" y="2892925"/>
            <a:ext cx="737195" cy="246221"/>
          </a:xfrm>
          <a:prstGeom prst="rect">
            <a:avLst/>
          </a:prstGeom>
        </p:spPr>
        <p:txBody>
          <a:bodyPr wrap="square">
            <a:spAutoFit/>
          </a:bodyPr>
          <a:lstStyle/>
          <a:p>
            <a:r>
              <a:rPr lang="zh-CN" altLang="en-US" sz="1000" b="1" dirty="0">
                <a:solidFill>
                  <a:srgbClr val="FF0000"/>
                </a:solidFill>
                <a:latin typeface="+mn-ea"/>
                <a:ea typeface="+mn-ea"/>
              </a:rPr>
              <a:t>网格</a:t>
            </a:r>
          </a:p>
        </p:txBody>
      </p:sp>
      <p:sp>
        <p:nvSpPr>
          <p:cNvPr id="18" name="矩形 17">
            <a:extLst>
              <a:ext uri="{FF2B5EF4-FFF2-40B4-BE49-F238E27FC236}">
                <a16:creationId xmlns:a16="http://schemas.microsoft.com/office/drawing/2014/main" id="{E54FF25D-B3BD-431A-818F-60CA6363068A}"/>
              </a:ext>
            </a:extLst>
          </p:cNvPr>
          <p:cNvSpPr/>
          <p:nvPr/>
        </p:nvSpPr>
        <p:spPr>
          <a:xfrm>
            <a:off x="3133276" y="4081182"/>
            <a:ext cx="737195" cy="246221"/>
          </a:xfrm>
          <a:prstGeom prst="rect">
            <a:avLst/>
          </a:prstGeom>
        </p:spPr>
        <p:txBody>
          <a:bodyPr wrap="square">
            <a:spAutoFit/>
          </a:bodyPr>
          <a:lstStyle/>
          <a:p>
            <a:r>
              <a:rPr lang="zh-CN" altLang="en-US" sz="1000" b="1" dirty="0">
                <a:solidFill>
                  <a:srgbClr val="FF0000"/>
                </a:solidFill>
                <a:latin typeface="+mn-ea"/>
                <a:ea typeface="+mn-ea"/>
              </a:rPr>
              <a:t>云图</a:t>
            </a:r>
          </a:p>
        </p:txBody>
      </p:sp>
      <p:sp>
        <p:nvSpPr>
          <p:cNvPr id="19" name="矩形 18">
            <a:extLst>
              <a:ext uri="{FF2B5EF4-FFF2-40B4-BE49-F238E27FC236}">
                <a16:creationId xmlns:a16="http://schemas.microsoft.com/office/drawing/2014/main" id="{4DC0FDFC-3E0E-45BA-9903-4A1D11D10331}"/>
              </a:ext>
            </a:extLst>
          </p:cNvPr>
          <p:cNvSpPr/>
          <p:nvPr/>
        </p:nvSpPr>
        <p:spPr>
          <a:xfrm>
            <a:off x="5062410" y="2892925"/>
            <a:ext cx="737195" cy="246221"/>
          </a:xfrm>
          <a:prstGeom prst="rect">
            <a:avLst/>
          </a:prstGeom>
        </p:spPr>
        <p:txBody>
          <a:bodyPr wrap="square">
            <a:spAutoFit/>
          </a:bodyPr>
          <a:lstStyle/>
          <a:p>
            <a:r>
              <a:rPr lang="zh-CN" altLang="en-US" sz="1000" b="1" dirty="0">
                <a:solidFill>
                  <a:srgbClr val="FF0000"/>
                </a:solidFill>
                <a:latin typeface="+mn-ea"/>
                <a:ea typeface="+mn-ea"/>
              </a:rPr>
              <a:t>矢量图</a:t>
            </a:r>
          </a:p>
        </p:txBody>
      </p:sp>
      <p:sp>
        <p:nvSpPr>
          <p:cNvPr id="20" name="矩形 19">
            <a:extLst>
              <a:ext uri="{FF2B5EF4-FFF2-40B4-BE49-F238E27FC236}">
                <a16:creationId xmlns:a16="http://schemas.microsoft.com/office/drawing/2014/main" id="{2AE6A208-C6D2-4A15-9F41-4B394865D269}"/>
              </a:ext>
            </a:extLst>
          </p:cNvPr>
          <p:cNvSpPr/>
          <p:nvPr/>
        </p:nvSpPr>
        <p:spPr>
          <a:xfrm>
            <a:off x="4972363" y="4100232"/>
            <a:ext cx="737195" cy="246221"/>
          </a:xfrm>
          <a:prstGeom prst="rect">
            <a:avLst/>
          </a:prstGeom>
        </p:spPr>
        <p:txBody>
          <a:bodyPr wrap="square">
            <a:spAutoFit/>
          </a:bodyPr>
          <a:lstStyle/>
          <a:p>
            <a:r>
              <a:rPr lang="zh-CN" altLang="en-US" sz="1000" b="1" dirty="0">
                <a:solidFill>
                  <a:srgbClr val="FF0000"/>
                </a:solidFill>
                <a:latin typeface="+mn-ea"/>
                <a:ea typeface="+mn-ea"/>
              </a:rPr>
              <a:t>线图</a:t>
            </a:r>
          </a:p>
        </p:txBody>
      </p:sp>
      <p:sp>
        <p:nvSpPr>
          <p:cNvPr id="21" name="矩形 20">
            <a:extLst>
              <a:ext uri="{FF2B5EF4-FFF2-40B4-BE49-F238E27FC236}">
                <a16:creationId xmlns:a16="http://schemas.microsoft.com/office/drawing/2014/main" id="{340FD51D-FD03-47C5-A7CC-871CD9914F4F}"/>
              </a:ext>
            </a:extLst>
          </p:cNvPr>
          <p:cNvSpPr/>
          <p:nvPr/>
        </p:nvSpPr>
        <p:spPr>
          <a:xfrm>
            <a:off x="7244326" y="4081182"/>
            <a:ext cx="938326" cy="246221"/>
          </a:xfrm>
          <a:prstGeom prst="rect">
            <a:avLst/>
          </a:prstGeom>
        </p:spPr>
        <p:txBody>
          <a:bodyPr wrap="square">
            <a:spAutoFit/>
          </a:bodyPr>
          <a:lstStyle/>
          <a:p>
            <a:r>
              <a:rPr lang="zh-CN" altLang="en-US" sz="1000" b="1" dirty="0">
                <a:solidFill>
                  <a:srgbClr val="FF0000"/>
                </a:solidFill>
                <a:latin typeface="+mn-ea"/>
                <a:ea typeface="+mn-ea"/>
              </a:rPr>
              <a:t>优化结果图</a:t>
            </a:r>
          </a:p>
        </p:txBody>
      </p:sp>
      <p:pic>
        <p:nvPicPr>
          <p:cNvPr id="22" name="图片 21">
            <a:extLst>
              <a:ext uri="{FF2B5EF4-FFF2-40B4-BE49-F238E27FC236}">
                <a16:creationId xmlns:a16="http://schemas.microsoft.com/office/drawing/2014/main" id="{D8EC5608-F211-403A-8A37-7146ACCC9B97}"/>
              </a:ext>
            </a:extLst>
          </p:cNvPr>
          <p:cNvPicPr>
            <a:picLocks noChangeAspect="1"/>
          </p:cNvPicPr>
          <p:nvPr/>
        </p:nvPicPr>
        <p:blipFill>
          <a:blip r:embed="rId9"/>
          <a:stretch>
            <a:fillRect/>
          </a:stretch>
        </p:blipFill>
        <p:spPr>
          <a:xfrm>
            <a:off x="6552396" y="2640803"/>
            <a:ext cx="1475875" cy="1135710"/>
          </a:xfrm>
          <a:prstGeom prst="rect">
            <a:avLst/>
          </a:prstGeom>
        </p:spPr>
      </p:pic>
      <p:sp>
        <p:nvSpPr>
          <p:cNvPr id="23" name="矩形 22">
            <a:extLst>
              <a:ext uri="{FF2B5EF4-FFF2-40B4-BE49-F238E27FC236}">
                <a16:creationId xmlns:a16="http://schemas.microsoft.com/office/drawing/2014/main" id="{A59A84D3-A3F9-4532-BDCF-A8DCE1F22196}"/>
              </a:ext>
            </a:extLst>
          </p:cNvPr>
          <p:cNvSpPr/>
          <p:nvPr/>
        </p:nvSpPr>
        <p:spPr>
          <a:xfrm>
            <a:off x="6726557" y="2912028"/>
            <a:ext cx="938326" cy="246221"/>
          </a:xfrm>
          <a:prstGeom prst="rect">
            <a:avLst/>
          </a:prstGeom>
        </p:spPr>
        <p:txBody>
          <a:bodyPr wrap="square">
            <a:spAutoFit/>
          </a:bodyPr>
          <a:lstStyle/>
          <a:p>
            <a:r>
              <a:rPr lang="zh-CN" altLang="en-US" sz="1000" b="1" dirty="0">
                <a:solidFill>
                  <a:srgbClr val="FF0000"/>
                </a:solidFill>
                <a:latin typeface="+mn-ea"/>
                <a:ea typeface="+mn-ea"/>
              </a:rPr>
              <a:t>叶片间流场</a:t>
            </a:r>
          </a:p>
        </p:txBody>
      </p:sp>
      <p:sp>
        <p:nvSpPr>
          <p:cNvPr id="5" name="灯片编号占位符 4">
            <a:extLst>
              <a:ext uri="{FF2B5EF4-FFF2-40B4-BE49-F238E27FC236}">
                <a16:creationId xmlns:a16="http://schemas.microsoft.com/office/drawing/2014/main" id="{180AE097-66C7-4659-A35A-4C0C1F4CB7F3}"/>
              </a:ext>
            </a:extLst>
          </p:cNvPr>
          <p:cNvSpPr>
            <a:spLocks noGrp="1"/>
          </p:cNvSpPr>
          <p:nvPr>
            <p:ph type="sldNum" idx="12"/>
          </p:nvPr>
        </p:nvSpPr>
        <p:spPr/>
        <p:txBody>
          <a:bodyPr/>
          <a:lstStyle/>
          <a:p>
            <a:fld id="{00000000-1234-1234-1234-123412341234}" type="slidenum">
              <a:rPr lang="en" smtClean="0"/>
              <a:pPr/>
              <a:t>8</a:t>
            </a:fld>
            <a:r>
              <a:rPr lang="en-US" altLang="zh-CN"/>
              <a:t>/18</a:t>
            </a:r>
            <a:endParaRPr lang="en" dirty="0"/>
          </a:p>
        </p:txBody>
      </p:sp>
    </p:spTree>
    <p:extLst>
      <p:ext uri="{BB962C8B-B14F-4D97-AF65-F5344CB8AC3E}">
        <p14:creationId xmlns:p14="http://schemas.microsoft.com/office/powerpoint/2010/main" val="2154608563"/>
      </p:ext>
    </p:extLst>
  </p:cSld>
  <p:clrMapOvr>
    <a:masterClrMapping/>
  </p:clrMapOvr>
  <mc:AlternateContent xmlns:mc="http://schemas.openxmlformats.org/markup-compatibility/2006" xmlns:p14="http://schemas.microsoft.com/office/powerpoint/2010/main">
    <mc:Choice Requires="p14">
      <p:transition spd="slow" p14:dur="2000" advTm="26763"/>
    </mc:Choice>
    <mc:Fallback xmlns="">
      <p:transition spd="slow" advTm="2676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Shape 139"/>
          <p:cNvSpPr txBox="1">
            <a:spLocks noGrp="1"/>
          </p:cNvSpPr>
          <p:nvPr>
            <p:ph type="title"/>
          </p:nvPr>
        </p:nvSpPr>
        <p:spPr>
          <a:xfrm>
            <a:off x="0" y="0"/>
            <a:ext cx="8222100" cy="660400"/>
          </a:xfrm>
          <a:prstGeom prst="rect">
            <a:avLst/>
          </a:prstGeom>
        </p:spPr>
        <p:txBody>
          <a:bodyPr spcFirstLastPara="1" wrap="square" lIns="91425" tIns="91425" rIns="91425" bIns="91425" anchor="b" anchorCtr="0">
            <a:noAutofit/>
          </a:bodyPr>
          <a:lstStyle/>
          <a:p>
            <a:r>
              <a:rPr lang="zh-CN" altLang="en-US" b="1" dirty="0">
                <a:latin typeface="微软雅黑" panose="020B0503020204020204" pitchFamily="34" charset="-122"/>
                <a:ea typeface="微软雅黑" panose="020B0503020204020204" pitchFamily="34" charset="-122"/>
              </a:rPr>
              <a:t>２</a:t>
            </a:r>
            <a:r>
              <a:rPr lang="en-US" altLang="zh-CN" b="1" dirty="0">
                <a:latin typeface="微软雅黑" panose="020B0503020204020204" pitchFamily="34" charset="-122"/>
                <a:ea typeface="微软雅黑" panose="020B0503020204020204" pitchFamily="34" charset="-122"/>
              </a:rPr>
              <a:t>.3 </a:t>
            </a:r>
            <a:r>
              <a:rPr lang="zh-CN" altLang="en-US" b="1" dirty="0">
                <a:latin typeface="黑体" panose="02010609060101010101" pitchFamily="49" charset="-122"/>
                <a:ea typeface="黑体" panose="02010609060101010101" pitchFamily="49" charset="-122"/>
              </a:rPr>
              <a:t>项目经历（二维通流和叶片间流场仿真）</a:t>
            </a:r>
            <a:endParaRPr b="1" dirty="0">
              <a:latin typeface="黑体" panose="02010609060101010101" pitchFamily="49" charset="-122"/>
              <a:ea typeface="黑体" panose="02010609060101010101" pitchFamily="49" charset="-122"/>
            </a:endParaRPr>
          </a:p>
        </p:txBody>
      </p:sp>
      <p:sp>
        <p:nvSpPr>
          <p:cNvPr id="6" name="文本框 5"/>
          <p:cNvSpPr txBox="1"/>
          <p:nvPr/>
        </p:nvSpPr>
        <p:spPr>
          <a:xfrm>
            <a:off x="504189" y="797047"/>
            <a:ext cx="8373111" cy="800219"/>
          </a:xfrm>
          <a:prstGeom prst="rect">
            <a:avLst/>
          </a:prstGeom>
          <a:noFill/>
        </p:spPr>
        <p:txBody>
          <a:bodyPr wrap="square" rtlCol="0">
            <a:spAutoFit/>
          </a:bodyPr>
          <a:lstStyle/>
          <a:p>
            <a:r>
              <a:rPr lang="zh-CN" altLang="en-US" sz="1600" dirty="0">
                <a:latin typeface="微软 雅黑"/>
                <a:ea typeface="+mn-ea"/>
              </a:rPr>
              <a:t>项目名称：</a:t>
            </a: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透平机械二维通流及叶片间仿真优化模块（</a:t>
            </a:r>
            <a:r>
              <a:rPr lang="en-US"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2017.9-2018.04</a:t>
            </a: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b="1" kern="100" dirty="0">
                <a:latin typeface="Times New Roman" panose="02020603050405020304" pitchFamily="18" charset="0"/>
                <a:ea typeface="宋体" panose="02010600030101010101" pitchFamily="2" charset="-122"/>
                <a:cs typeface="Times New Roman" panose="02020603050405020304" pitchFamily="18" charset="0"/>
              </a:rPr>
              <a:t>开发工程师 </a:t>
            </a:r>
            <a:r>
              <a:rPr lang="en-US" altLang="zh-CN" sz="1600" b="1"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b="1" kern="100" dirty="0">
                <a:latin typeface="Times New Roman" panose="02020603050405020304" pitchFamily="18" charset="0"/>
                <a:ea typeface="宋体" panose="02010600030101010101" pitchFamily="2" charset="-122"/>
                <a:cs typeface="Times New Roman" panose="02020603050405020304" pitchFamily="18" charset="0"/>
              </a:rPr>
              <a:t>人</a:t>
            </a:r>
            <a:endParaRPr lang="en-US" altLang="zh-CN" sz="1600" kern="100" dirty="0">
              <a:latin typeface="+mn-ea"/>
              <a:ea typeface="+mn-ea"/>
              <a:cs typeface="Times New Roman" panose="02020603050405020304" pitchFamily="18" charset="0"/>
            </a:endParaRPr>
          </a:p>
          <a:p>
            <a:endParaRPr lang="en-US" altLang="zh-CN" sz="1600" kern="100" dirty="0">
              <a:latin typeface="+mn-ea"/>
              <a:ea typeface="+mn-ea"/>
              <a:cs typeface="Times New Roman" panose="02020603050405020304" pitchFamily="18" charset="0"/>
            </a:endParaRPr>
          </a:p>
          <a:p>
            <a:endParaRPr lang="en-US" altLang="zh-CN" kern="100" dirty="0">
              <a:latin typeface="+mn-ea"/>
              <a:ea typeface="+mn-ea"/>
              <a:cs typeface="Times New Roman" panose="02020603050405020304" pitchFamily="18" charset="0"/>
            </a:endParaRPr>
          </a:p>
        </p:txBody>
      </p:sp>
      <p:grpSp>
        <p:nvGrpSpPr>
          <p:cNvPr id="3" name="组合 2">
            <a:extLst>
              <a:ext uri="{FF2B5EF4-FFF2-40B4-BE49-F238E27FC236}">
                <a16:creationId xmlns:a16="http://schemas.microsoft.com/office/drawing/2014/main" id="{2E721828-E753-436E-9CA2-1F0064242079}"/>
              </a:ext>
            </a:extLst>
          </p:cNvPr>
          <p:cNvGrpSpPr/>
          <p:nvPr/>
        </p:nvGrpSpPr>
        <p:grpSpPr>
          <a:xfrm>
            <a:off x="504189" y="1365607"/>
            <a:ext cx="1691929" cy="3738869"/>
            <a:chOff x="428971" y="1160721"/>
            <a:chExt cx="1691929" cy="3738869"/>
          </a:xfrm>
        </p:grpSpPr>
        <p:pic>
          <p:nvPicPr>
            <p:cNvPr id="22" name="图片 21">
              <a:extLst>
                <a:ext uri="{FF2B5EF4-FFF2-40B4-BE49-F238E27FC236}">
                  <a16:creationId xmlns:a16="http://schemas.microsoft.com/office/drawing/2014/main" id="{ED73FED1-498C-44B8-8D5C-20747E43D31F}"/>
                </a:ext>
              </a:extLst>
            </p:cNvPr>
            <p:cNvPicPr>
              <a:picLocks noChangeAspect="1"/>
            </p:cNvPicPr>
            <p:nvPr/>
          </p:nvPicPr>
          <p:blipFill>
            <a:blip r:embed="rId3"/>
            <a:stretch>
              <a:fillRect/>
            </a:stretch>
          </p:blipFill>
          <p:spPr>
            <a:xfrm>
              <a:off x="428971" y="1160721"/>
              <a:ext cx="1691929" cy="714370"/>
            </a:xfrm>
            <a:prstGeom prst="rect">
              <a:avLst/>
            </a:prstGeom>
          </p:spPr>
        </p:pic>
        <p:pic>
          <p:nvPicPr>
            <p:cNvPr id="23" name="图片 22">
              <a:extLst>
                <a:ext uri="{FF2B5EF4-FFF2-40B4-BE49-F238E27FC236}">
                  <a16:creationId xmlns:a16="http://schemas.microsoft.com/office/drawing/2014/main" id="{4A5C5DBE-5538-4A93-8E62-C81D524921A6}"/>
                </a:ext>
              </a:extLst>
            </p:cNvPr>
            <p:cNvPicPr>
              <a:picLocks noChangeAspect="1"/>
            </p:cNvPicPr>
            <p:nvPr/>
          </p:nvPicPr>
          <p:blipFill>
            <a:blip r:embed="rId4"/>
            <a:stretch>
              <a:fillRect/>
            </a:stretch>
          </p:blipFill>
          <p:spPr>
            <a:xfrm>
              <a:off x="431319" y="1890460"/>
              <a:ext cx="1689581" cy="936644"/>
            </a:xfrm>
            <a:prstGeom prst="rect">
              <a:avLst/>
            </a:prstGeom>
          </p:spPr>
        </p:pic>
        <p:pic>
          <p:nvPicPr>
            <p:cNvPr id="24" name="图片 23">
              <a:extLst>
                <a:ext uri="{FF2B5EF4-FFF2-40B4-BE49-F238E27FC236}">
                  <a16:creationId xmlns:a16="http://schemas.microsoft.com/office/drawing/2014/main" id="{6DD75D84-31DF-4E72-A718-8204A25F3DAE}"/>
                </a:ext>
              </a:extLst>
            </p:cNvPr>
            <p:cNvPicPr>
              <a:picLocks noChangeAspect="1"/>
            </p:cNvPicPr>
            <p:nvPr/>
          </p:nvPicPr>
          <p:blipFill>
            <a:blip r:embed="rId5"/>
            <a:stretch>
              <a:fillRect/>
            </a:stretch>
          </p:blipFill>
          <p:spPr>
            <a:xfrm>
              <a:off x="428971" y="2836514"/>
              <a:ext cx="1689581" cy="1007403"/>
            </a:xfrm>
            <a:prstGeom prst="rect">
              <a:avLst/>
            </a:prstGeom>
          </p:spPr>
        </p:pic>
        <p:pic>
          <p:nvPicPr>
            <p:cNvPr id="25" name="图片 24">
              <a:extLst>
                <a:ext uri="{FF2B5EF4-FFF2-40B4-BE49-F238E27FC236}">
                  <a16:creationId xmlns:a16="http://schemas.microsoft.com/office/drawing/2014/main" id="{A8DA5020-F468-4AB3-B43A-44107DFD4E06}"/>
                </a:ext>
              </a:extLst>
            </p:cNvPr>
            <p:cNvPicPr>
              <a:picLocks noChangeAspect="1"/>
            </p:cNvPicPr>
            <p:nvPr/>
          </p:nvPicPr>
          <p:blipFill>
            <a:blip r:embed="rId6"/>
            <a:stretch>
              <a:fillRect/>
            </a:stretch>
          </p:blipFill>
          <p:spPr>
            <a:xfrm>
              <a:off x="428971" y="3843918"/>
              <a:ext cx="1689581" cy="1055672"/>
            </a:xfrm>
            <a:prstGeom prst="rect">
              <a:avLst/>
            </a:prstGeom>
          </p:spPr>
        </p:pic>
      </p:grpSp>
      <p:pic>
        <p:nvPicPr>
          <p:cNvPr id="4" name="图片 3">
            <a:extLst>
              <a:ext uri="{FF2B5EF4-FFF2-40B4-BE49-F238E27FC236}">
                <a16:creationId xmlns:a16="http://schemas.microsoft.com/office/drawing/2014/main" id="{D723C218-B2CD-4618-9A5E-C5EC21F84575}"/>
              </a:ext>
            </a:extLst>
          </p:cNvPr>
          <p:cNvPicPr>
            <a:picLocks noChangeAspect="1"/>
          </p:cNvPicPr>
          <p:nvPr/>
        </p:nvPicPr>
        <p:blipFill>
          <a:blip r:embed="rId7"/>
          <a:stretch>
            <a:fillRect/>
          </a:stretch>
        </p:blipFill>
        <p:spPr>
          <a:xfrm>
            <a:off x="2554738" y="2635782"/>
            <a:ext cx="2176012" cy="1016303"/>
          </a:xfrm>
          <a:prstGeom prst="rect">
            <a:avLst/>
          </a:prstGeom>
        </p:spPr>
      </p:pic>
      <p:sp>
        <p:nvSpPr>
          <p:cNvPr id="26" name="矩形 25">
            <a:extLst>
              <a:ext uri="{FF2B5EF4-FFF2-40B4-BE49-F238E27FC236}">
                <a16:creationId xmlns:a16="http://schemas.microsoft.com/office/drawing/2014/main" id="{14F074DD-577F-4211-8A83-4CB0D25573D1}"/>
              </a:ext>
            </a:extLst>
          </p:cNvPr>
          <p:cNvSpPr/>
          <p:nvPr/>
        </p:nvSpPr>
        <p:spPr>
          <a:xfrm>
            <a:off x="730856" y="1119385"/>
            <a:ext cx="1236245" cy="246221"/>
          </a:xfrm>
          <a:prstGeom prst="rect">
            <a:avLst/>
          </a:prstGeom>
        </p:spPr>
        <p:txBody>
          <a:bodyPr wrap="square">
            <a:spAutoFit/>
          </a:bodyPr>
          <a:lstStyle/>
          <a:p>
            <a:r>
              <a:rPr lang="zh-CN" altLang="en-US" sz="1000" b="1" dirty="0">
                <a:solidFill>
                  <a:srgbClr val="FF0000"/>
                </a:solidFill>
                <a:latin typeface="+mn-ea"/>
                <a:ea typeface="+mn-ea"/>
              </a:rPr>
              <a:t>多级径流通流</a:t>
            </a:r>
          </a:p>
        </p:txBody>
      </p:sp>
      <p:sp>
        <p:nvSpPr>
          <p:cNvPr id="27" name="矩形 26">
            <a:extLst>
              <a:ext uri="{FF2B5EF4-FFF2-40B4-BE49-F238E27FC236}">
                <a16:creationId xmlns:a16="http://schemas.microsoft.com/office/drawing/2014/main" id="{BC84419D-DB13-4FFD-9207-939C8C9196F1}"/>
              </a:ext>
            </a:extLst>
          </p:cNvPr>
          <p:cNvSpPr/>
          <p:nvPr/>
        </p:nvSpPr>
        <p:spPr>
          <a:xfrm>
            <a:off x="3226227" y="2635782"/>
            <a:ext cx="1148923" cy="246221"/>
          </a:xfrm>
          <a:prstGeom prst="rect">
            <a:avLst/>
          </a:prstGeom>
        </p:spPr>
        <p:txBody>
          <a:bodyPr wrap="square">
            <a:spAutoFit/>
          </a:bodyPr>
          <a:lstStyle/>
          <a:p>
            <a:r>
              <a:rPr lang="zh-CN" altLang="en-US" sz="1000" b="1" dirty="0">
                <a:solidFill>
                  <a:srgbClr val="FF0000"/>
                </a:solidFill>
                <a:latin typeface="+mn-ea"/>
                <a:ea typeface="+mn-ea"/>
              </a:rPr>
              <a:t>轴流压缩机</a:t>
            </a:r>
          </a:p>
        </p:txBody>
      </p:sp>
      <p:pic>
        <p:nvPicPr>
          <p:cNvPr id="14" name="图片 13">
            <a:extLst>
              <a:ext uri="{FF2B5EF4-FFF2-40B4-BE49-F238E27FC236}">
                <a16:creationId xmlns:a16="http://schemas.microsoft.com/office/drawing/2014/main" id="{5020719C-8DB1-4CDC-8986-672EDDC42B30}"/>
              </a:ext>
            </a:extLst>
          </p:cNvPr>
          <p:cNvPicPr>
            <a:picLocks noChangeAspect="1"/>
          </p:cNvPicPr>
          <p:nvPr/>
        </p:nvPicPr>
        <p:blipFill>
          <a:blip r:embed="rId8"/>
          <a:stretch>
            <a:fillRect/>
          </a:stretch>
        </p:blipFill>
        <p:spPr>
          <a:xfrm>
            <a:off x="2554739" y="3832563"/>
            <a:ext cx="2176012" cy="1104476"/>
          </a:xfrm>
          <a:prstGeom prst="rect">
            <a:avLst/>
          </a:prstGeom>
        </p:spPr>
      </p:pic>
      <p:sp>
        <p:nvSpPr>
          <p:cNvPr id="15" name="矩形 14">
            <a:extLst>
              <a:ext uri="{FF2B5EF4-FFF2-40B4-BE49-F238E27FC236}">
                <a16:creationId xmlns:a16="http://schemas.microsoft.com/office/drawing/2014/main" id="{D638E09A-DC9C-4353-9604-3530BE09EEE7}"/>
              </a:ext>
            </a:extLst>
          </p:cNvPr>
          <p:cNvSpPr/>
          <p:nvPr/>
        </p:nvSpPr>
        <p:spPr>
          <a:xfrm>
            <a:off x="3155588" y="3810000"/>
            <a:ext cx="1148923" cy="246221"/>
          </a:xfrm>
          <a:prstGeom prst="rect">
            <a:avLst/>
          </a:prstGeom>
        </p:spPr>
        <p:txBody>
          <a:bodyPr wrap="square">
            <a:spAutoFit/>
          </a:bodyPr>
          <a:lstStyle/>
          <a:p>
            <a:r>
              <a:rPr lang="zh-CN" altLang="en-US" sz="1000" b="1" dirty="0">
                <a:solidFill>
                  <a:srgbClr val="FF0000"/>
                </a:solidFill>
                <a:latin typeface="+mn-ea"/>
                <a:ea typeface="+mn-ea"/>
              </a:rPr>
              <a:t>轴流涡轮</a:t>
            </a:r>
          </a:p>
        </p:txBody>
      </p:sp>
      <p:pic>
        <p:nvPicPr>
          <p:cNvPr id="16" name="图片 15">
            <a:extLst>
              <a:ext uri="{FF2B5EF4-FFF2-40B4-BE49-F238E27FC236}">
                <a16:creationId xmlns:a16="http://schemas.microsoft.com/office/drawing/2014/main" id="{21691840-EF24-4D32-8626-E8C269D328A5}"/>
              </a:ext>
            </a:extLst>
          </p:cNvPr>
          <p:cNvPicPr>
            <a:picLocks noChangeAspect="1"/>
          </p:cNvPicPr>
          <p:nvPr/>
        </p:nvPicPr>
        <p:blipFill>
          <a:blip r:embed="rId9"/>
          <a:stretch>
            <a:fillRect/>
          </a:stretch>
        </p:blipFill>
        <p:spPr>
          <a:xfrm>
            <a:off x="2554738" y="1365605"/>
            <a:ext cx="2176012" cy="1103895"/>
          </a:xfrm>
          <a:prstGeom prst="rect">
            <a:avLst/>
          </a:prstGeom>
        </p:spPr>
      </p:pic>
      <p:sp>
        <p:nvSpPr>
          <p:cNvPr id="17" name="矩形 16">
            <a:extLst>
              <a:ext uri="{FF2B5EF4-FFF2-40B4-BE49-F238E27FC236}">
                <a16:creationId xmlns:a16="http://schemas.microsoft.com/office/drawing/2014/main" id="{F3D34F7D-C1FC-490F-BC90-55F61B938D7C}"/>
              </a:ext>
            </a:extLst>
          </p:cNvPr>
          <p:cNvSpPr/>
          <p:nvPr/>
        </p:nvSpPr>
        <p:spPr>
          <a:xfrm>
            <a:off x="3023027" y="1466131"/>
            <a:ext cx="1148923" cy="246221"/>
          </a:xfrm>
          <a:prstGeom prst="rect">
            <a:avLst/>
          </a:prstGeom>
        </p:spPr>
        <p:txBody>
          <a:bodyPr wrap="square">
            <a:spAutoFit/>
          </a:bodyPr>
          <a:lstStyle/>
          <a:p>
            <a:r>
              <a:rPr lang="zh-CN" altLang="en-US" sz="1000" b="1" dirty="0">
                <a:solidFill>
                  <a:srgbClr val="FF0000"/>
                </a:solidFill>
                <a:latin typeface="+mn-ea"/>
                <a:ea typeface="+mn-ea"/>
              </a:rPr>
              <a:t>入口</a:t>
            </a:r>
            <a:r>
              <a:rPr lang="en-US" altLang="zh-CN" sz="1000" b="1" dirty="0">
                <a:solidFill>
                  <a:srgbClr val="FF0000"/>
                </a:solidFill>
                <a:latin typeface="+mn-ea"/>
                <a:ea typeface="+mn-ea"/>
              </a:rPr>
              <a:t>+</a:t>
            </a:r>
            <a:r>
              <a:rPr lang="zh-CN" altLang="en-US" sz="1000" b="1" dirty="0">
                <a:solidFill>
                  <a:srgbClr val="FF0000"/>
                </a:solidFill>
                <a:latin typeface="+mn-ea"/>
                <a:ea typeface="+mn-ea"/>
              </a:rPr>
              <a:t>悬臂</a:t>
            </a:r>
          </a:p>
        </p:txBody>
      </p:sp>
      <p:pic>
        <p:nvPicPr>
          <p:cNvPr id="9" name="图片 8">
            <a:extLst>
              <a:ext uri="{FF2B5EF4-FFF2-40B4-BE49-F238E27FC236}">
                <a16:creationId xmlns:a16="http://schemas.microsoft.com/office/drawing/2014/main" id="{9494DCAF-AE77-4B25-9B18-FF817610A598}"/>
              </a:ext>
            </a:extLst>
          </p:cNvPr>
          <p:cNvPicPr>
            <a:picLocks noChangeAspect="1"/>
          </p:cNvPicPr>
          <p:nvPr/>
        </p:nvPicPr>
        <p:blipFill rotWithShape="1">
          <a:blip r:embed="rId10"/>
          <a:srcRect r="30058"/>
          <a:stretch/>
        </p:blipFill>
        <p:spPr>
          <a:xfrm>
            <a:off x="5046639" y="1625639"/>
            <a:ext cx="4022592" cy="1269596"/>
          </a:xfrm>
          <a:prstGeom prst="rect">
            <a:avLst/>
          </a:prstGeom>
          <a:ln>
            <a:solidFill>
              <a:schemeClr val="accent1"/>
            </a:solidFill>
          </a:ln>
        </p:spPr>
      </p:pic>
      <p:pic>
        <p:nvPicPr>
          <p:cNvPr id="11" name="图片 10">
            <a:extLst>
              <a:ext uri="{FF2B5EF4-FFF2-40B4-BE49-F238E27FC236}">
                <a16:creationId xmlns:a16="http://schemas.microsoft.com/office/drawing/2014/main" id="{1DDCDCEF-A96B-4BCF-9EA3-B64531D5B11B}"/>
              </a:ext>
            </a:extLst>
          </p:cNvPr>
          <p:cNvPicPr>
            <a:picLocks noChangeAspect="1"/>
          </p:cNvPicPr>
          <p:nvPr/>
        </p:nvPicPr>
        <p:blipFill rotWithShape="1">
          <a:blip r:embed="rId11"/>
          <a:srcRect r="31759"/>
          <a:stretch/>
        </p:blipFill>
        <p:spPr>
          <a:xfrm>
            <a:off x="5046640" y="3119127"/>
            <a:ext cx="4022592" cy="1234610"/>
          </a:xfrm>
          <a:prstGeom prst="rect">
            <a:avLst/>
          </a:prstGeom>
          <a:ln>
            <a:solidFill>
              <a:schemeClr val="accent1"/>
            </a:solidFill>
          </a:ln>
        </p:spPr>
      </p:pic>
      <p:sp>
        <p:nvSpPr>
          <p:cNvPr id="18" name="灯片编号占位符 17">
            <a:extLst>
              <a:ext uri="{FF2B5EF4-FFF2-40B4-BE49-F238E27FC236}">
                <a16:creationId xmlns:a16="http://schemas.microsoft.com/office/drawing/2014/main" id="{01D549FB-4837-49F9-8408-55B4F5A32537}"/>
              </a:ext>
            </a:extLst>
          </p:cNvPr>
          <p:cNvSpPr>
            <a:spLocks noGrp="1"/>
          </p:cNvSpPr>
          <p:nvPr>
            <p:ph type="sldNum" idx="12"/>
          </p:nvPr>
        </p:nvSpPr>
        <p:spPr/>
        <p:txBody>
          <a:bodyPr/>
          <a:lstStyle/>
          <a:p>
            <a:fld id="{00000000-1234-1234-1234-123412341234}" type="slidenum">
              <a:rPr lang="en" smtClean="0"/>
              <a:pPr/>
              <a:t>9</a:t>
            </a:fld>
            <a:r>
              <a:rPr lang="en-US" altLang="zh-CN"/>
              <a:t>/18</a:t>
            </a:r>
            <a:endParaRPr lang="en" dirty="0"/>
          </a:p>
        </p:txBody>
      </p:sp>
    </p:spTree>
    <p:extLst>
      <p:ext uri="{BB962C8B-B14F-4D97-AF65-F5344CB8AC3E}">
        <p14:creationId xmlns:p14="http://schemas.microsoft.com/office/powerpoint/2010/main" val="2724519450"/>
      </p:ext>
    </p:extLst>
  </p:cSld>
  <p:clrMapOvr>
    <a:masterClrMapping/>
  </p:clrMapOvr>
  <mc:AlternateContent xmlns:mc="http://schemas.openxmlformats.org/markup-compatibility/2006" xmlns:p14="http://schemas.microsoft.com/office/powerpoint/2010/main">
    <mc:Choice Requires="p14">
      <p:transition spd="slow" p14:dur="2000" advTm="29202"/>
    </mc:Choice>
    <mc:Fallback xmlns="">
      <p:transition spd="slow" advTm="2920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Shape 139"/>
          <p:cNvSpPr txBox="1">
            <a:spLocks noGrp="1"/>
          </p:cNvSpPr>
          <p:nvPr>
            <p:ph type="title"/>
          </p:nvPr>
        </p:nvSpPr>
        <p:spPr>
          <a:xfrm>
            <a:off x="0" y="0"/>
            <a:ext cx="8222100" cy="660400"/>
          </a:xfrm>
          <a:prstGeom prst="rect">
            <a:avLst/>
          </a:prstGeom>
        </p:spPr>
        <p:txBody>
          <a:bodyPr spcFirstLastPara="1" wrap="square" lIns="91425" tIns="91425" rIns="91425" bIns="91425" anchor="b" anchorCtr="0">
            <a:noAutofit/>
          </a:bodyPr>
          <a:lstStyle/>
          <a:p>
            <a:r>
              <a:rPr lang="en-US" altLang="zh-CN" b="1" dirty="0">
                <a:latin typeface="微软 雅黑"/>
                <a:ea typeface="微软雅黑" panose="020B0503020204020204" pitchFamily="34" charset="-122"/>
              </a:rPr>
              <a:t>2.4 </a:t>
            </a:r>
            <a:r>
              <a:rPr lang="zh-CN" altLang="en-US" b="1" dirty="0">
                <a:latin typeface="微软 雅黑"/>
                <a:ea typeface="黑体" panose="02010609060101010101" pitchFamily="49" charset="-122"/>
              </a:rPr>
              <a:t>项目经历（</a:t>
            </a:r>
            <a:r>
              <a:rPr lang="zh-CN" altLang="zh-CN" sz="3200" b="1" kern="100" dirty="0">
                <a:effectLst/>
                <a:latin typeface="微软 雅黑"/>
                <a:ea typeface="+mn-ea"/>
                <a:cs typeface="Times New Roman" panose="02020603050405020304" pitchFamily="18" charset="0"/>
              </a:rPr>
              <a:t>飞机线束三维设计协同平台</a:t>
            </a:r>
            <a:r>
              <a:rPr lang="zh-CN" altLang="en-US" b="1" dirty="0">
                <a:latin typeface="微软 雅黑"/>
                <a:ea typeface="黑体" panose="02010609060101010101" pitchFamily="49" charset="-122"/>
              </a:rPr>
              <a:t>）</a:t>
            </a:r>
            <a:endParaRPr b="1" dirty="0">
              <a:latin typeface="微软 雅黑"/>
              <a:ea typeface="黑体" panose="02010609060101010101" pitchFamily="49" charset="-122"/>
            </a:endParaRPr>
          </a:p>
        </p:txBody>
      </p:sp>
      <p:sp>
        <p:nvSpPr>
          <p:cNvPr id="6" name="文本框 5"/>
          <p:cNvSpPr txBox="1"/>
          <p:nvPr/>
        </p:nvSpPr>
        <p:spPr>
          <a:xfrm>
            <a:off x="405320" y="746342"/>
            <a:ext cx="7853799" cy="2036648"/>
          </a:xfrm>
          <a:prstGeom prst="rect">
            <a:avLst/>
          </a:prstGeom>
          <a:noFill/>
        </p:spPr>
        <p:txBody>
          <a:bodyPr wrap="square" rtlCol="0">
            <a:spAutoFit/>
          </a:bodyPr>
          <a:lstStyle/>
          <a:p>
            <a:pPr>
              <a:lnSpc>
                <a:spcPct val="150000"/>
              </a:lnSpc>
            </a:pPr>
            <a:r>
              <a:rPr lang="zh-CN" altLang="en-US" sz="1600" dirty="0">
                <a:latin typeface="Times New Roman" panose="02020603050405020304" pitchFamily="18" charset="0"/>
                <a:ea typeface="+mn-ea"/>
                <a:cs typeface="Times New Roman" panose="02020603050405020304" pitchFamily="18" charset="0"/>
              </a:rPr>
              <a:t>项目名称：</a:t>
            </a:r>
            <a:r>
              <a:rPr lang="zh-CN" altLang="zh-CN" sz="1600" b="1" kern="100" dirty="0">
                <a:effectLst/>
                <a:latin typeface="Times New Roman" panose="02020603050405020304" pitchFamily="18" charset="0"/>
                <a:ea typeface="+mn-ea"/>
                <a:cs typeface="Times New Roman" panose="02020603050405020304" pitchFamily="18" charset="0"/>
              </a:rPr>
              <a:t>飞机线束三维设计协同平台</a:t>
            </a:r>
            <a:r>
              <a:rPr lang="zh-CN" altLang="en-US" sz="1600" b="1" kern="100" dirty="0">
                <a:effectLst/>
                <a:latin typeface="Times New Roman" panose="02020603050405020304" pitchFamily="18" charset="0"/>
                <a:ea typeface="+mn-ea"/>
                <a:cs typeface="Times New Roman" panose="02020603050405020304" pitchFamily="18" charset="0"/>
              </a:rPr>
              <a:t>（</a:t>
            </a:r>
            <a:r>
              <a:rPr lang="en-US" altLang="zh-CN" sz="1600" b="1" kern="100" dirty="0">
                <a:effectLst/>
                <a:latin typeface="Times New Roman" panose="02020603050405020304" pitchFamily="18" charset="0"/>
                <a:ea typeface="+mn-ea"/>
                <a:cs typeface="Times New Roman" panose="02020603050405020304" pitchFamily="18" charset="0"/>
              </a:rPr>
              <a:t>2021.10—</a:t>
            </a:r>
            <a:r>
              <a:rPr lang="zh-CN" altLang="en-US" sz="1600" b="1" kern="100" dirty="0">
                <a:effectLst/>
                <a:latin typeface="Times New Roman" panose="02020603050405020304" pitchFamily="18" charset="0"/>
                <a:ea typeface="+mn-ea"/>
                <a:cs typeface="Times New Roman" panose="02020603050405020304" pitchFamily="18" charset="0"/>
              </a:rPr>
              <a:t>至今）   项目经理     </a:t>
            </a:r>
            <a:r>
              <a:rPr lang="en-US" altLang="zh-CN" sz="1600" b="1" kern="100" dirty="0">
                <a:effectLst/>
                <a:latin typeface="Times New Roman" panose="02020603050405020304" pitchFamily="18" charset="0"/>
                <a:ea typeface="+mn-ea"/>
                <a:cs typeface="Times New Roman" panose="02020603050405020304" pitchFamily="18" charset="0"/>
              </a:rPr>
              <a:t>6</a:t>
            </a:r>
            <a:r>
              <a:rPr lang="zh-CN" altLang="en-US" sz="1600" b="1" kern="100" dirty="0">
                <a:latin typeface="Times New Roman" panose="02020603050405020304" pitchFamily="18" charset="0"/>
                <a:ea typeface="+mn-ea"/>
                <a:cs typeface="Times New Roman" panose="02020603050405020304" pitchFamily="18" charset="0"/>
              </a:rPr>
              <a:t>人</a:t>
            </a:r>
            <a:endParaRPr lang="en-US" altLang="zh-CN" sz="1600" b="1" kern="100" dirty="0">
              <a:effectLst/>
              <a:latin typeface="Times New Roman" panose="02020603050405020304" pitchFamily="18" charset="0"/>
              <a:ea typeface="+mn-ea"/>
              <a:cs typeface="Times New Roman" panose="02020603050405020304" pitchFamily="18" charset="0"/>
            </a:endParaRPr>
          </a:p>
          <a:p>
            <a:pPr marL="285750" indent="-285750">
              <a:lnSpc>
                <a:spcPct val="150000"/>
              </a:lnSpc>
              <a:buFont typeface="Wingdings" panose="05000000000000000000" pitchFamily="2" charset="2"/>
              <a:buChar char="u"/>
            </a:pP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用于飞机三维线束</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可视化</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设计；</a:t>
            </a:r>
            <a:endPar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Wingdings" panose="05000000000000000000" pitchFamily="2" charset="2"/>
              <a:buChar char="u"/>
            </a:pP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将零件采购、设计所、主机厂等一系列信息链采用整套设计平台底层数据库进行流转，解决信息孤岛和信息传递失真等问题；</a:t>
            </a:r>
            <a:endPar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Wingdings" panose="05000000000000000000" pitchFamily="2" charset="2"/>
              <a:buChar char="u"/>
            </a:pP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支持</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PC</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端、</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Web</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端以及</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CATIA</a:t>
            </a:r>
            <a:r>
              <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rPr>
              <a:t>对线束三维模型设计和可视化</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marL="285750" indent="-285750">
              <a:lnSpc>
                <a:spcPct val="150000"/>
              </a:lnSpc>
              <a:buFont typeface="Wingdings" panose="05000000000000000000" pitchFamily="2" charset="2"/>
              <a:buChar char="u"/>
            </a:pP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负责</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协同设计平台技术架构、技术路线</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产品功能设计</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和开发、技术调研；</a:t>
            </a: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9" name="图片 8">
            <a:extLst>
              <a:ext uri="{FF2B5EF4-FFF2-40B4-BE49-F238E27FC236}">
                <a16:creationId xmlns:a16="http://schemas.microsoft.com/office/drawing/2014/main" id="{BD491907-9C5D-4DCF-9B0B-5B7070364498}"/>
              </a:ext>
            </a:extLst>
          </p:cNvPr>
          <p:cNvPicPr>
            <a:picLocks noChangeAspect="1"/>
          </p:cNvPicPr>
          <p:nvPr/>
        </p:nvPicPr>
        <p:blipFill>
          <a:blip r:embed="rId3"/>
          <a:stretch>
            <a:fillRect/>
          </a:stretch>
        </p:blipFill>
        <p:spPr>
          <a:xfrm>
            <a:off x="3365784" y="2957039"/>
            <a:ext cx="2239498" cy="1800000"/>
          </a:xfrm>
          <a:prstGeom prst="rect">
            <a:avLst/>
          </a:prstGeom>
        </p:spPr>
      </p:pic>
      <p:pic>
        <p:nvPicPr>
          <p:cNvPr id="3" name="图片 2">
            <a:extLst>
              <a:ext uri="{FF2B5EF4-FFF2-40B4-BE49-F238E27FC236}">
                <a16:creationId xmlns:a16="http://schemas.microsoft.com/office/drawing/2014/main" id="{A4C8018D-FB99-4810-A4BD-3B3560A777D1}"/>
              </a:ext>
            </a:extLst>
          </p:cNvPr>
          <p:cNvPicPr>
            <a:picLocks noChangeAspect="1"/>
          </p:cNvPicPr>
          <p:nvPr/>
        </p:nvPicPr>
        <p:blipFill>
          <a:blip r:embed="rId4"/>
          <a:stretch>
            <a:fillRect/>
          </a:stretch>
        </p:blipFill>
        <p:spPr>
          <a:xfrm>
            <a:off x="5778217" y="2957039"/>
            <a:ext cx="2804819" cy="1800000"/>
          </a:xfrm>
          <a:prstGeom prst="rect">
            <a:avLst/>
          </a:prstGeom>
        </p:spPr>
      </p:pic>
      <p:sp>
        <p:nvSpPr>
          <p:cNvPr id="5" name="矩形 4">
            <a:extLst>
              <a:ext uri="{FF2B5EF4-FFF2-40B4-BE49-F238E27FC236}">
                <a16:creationId xmlns:a16="http://schemas.microsoft.com/office/drawing/2014/main" id="{4D214744-BA35-4781-B28A-4AB191D0DA0C}"/>
              </a:ext>
            </a:extLst>
          </p:cNvPr>
          <p:cNvSpPr/>
          <p:nvPr/>
        </p:nvSpPr>
        <p:spPr>
          <a:xfrm>
            <a:off x="1228271" y="4757039"/>
            <a:ext cx="553357" cy="307777"/>
          </a:xfrm>
          <a:prstGeom prst="rect">
            <a:avLst/>
          </a:prstGeom>
        </p:spPr>
        <p:txBody>
          <a:bodyPr wrap="none">
            <a:spAutoFit/>
          </a:bodyPr>
          <a:lstStyle/>
          <a:p>
            <a:r>
              <a:rPr lang="en-US" altLang="zh-CN" b="1" kern="100" dirty="0">
                <a:latin typeface="微软 雅黑"/>
                <a:ea typeface="宋体" panose="02010600030101010101" pitchFamily="2" charset="-122"/>
                <a:cs typeface="Times New Roman" panose="02020603050405020304" pitchFamily="18" charset="0"/>
              </a:rPr>
              <a:t>PC</a:t>
            </a:r>
            <a:r>
              <a:rPr lang="zh-CN" altLang="en-US" b="1" kern="100" dirty="0">
                <a:latin typeface="微软 雅黑"/>
                <a:ea typeface="宋体" panose="02010600030101010101" pitchFamily="2" charset="-122"/>
                <a:cs typeface="Times New Roman" panose="02020603050405020304" pitchFamily="18" charset="0"/>
              </a:rPr>
              <a:t>端</a:t>
            </a:r>
            <a:endParaRPr lang="zh-CN" altLang="en-US" b="1" dirty="0"/>
          </a:p>
        </p:txBody>
      </p:sp>
      <p:sp>
        <p:nvSpPr>
          <p:cNvPr id="10" name="矩形 9">
            <a:extLst>
              <a:ext uri="{FF2B5EF4-FFF2-40B4-BE49-F238E27FC236}">
                <a16:creationId xmlns:a16="http://schemas.microsoft.com/office/drawing/2014/main" id="{57B7E162-F229-4B69-B9E7-5A08842BB4A0}"/>
              </a:ext>
            </a:extLst>
          </p:cNvPr>
          <p:cNvSpPr/>
          <p:nvPr/>
        </p:nvSpPr>
        <p:spPr>
          <a:xfrm>
            <a:off x="4244227" y="4757038"/>
            <a:ext cx="707245" cy="307777"/>
          </a:xfrm>
          <a:prstGeom prst="rect">
            <a:avLst/>
          </a:prstGeom>
        </p:spPr>
        <p:txBody>
          <a:bodyPr wrap="none">
            <a:spAutoFit/>
          </a:bodyPr>
          <a:lstStyle/>
          <a:p>
            <a:r>
              <a:rPr lang="en-US" altLang="zh-CN" b="1" kern="100" dirty="0">
                <a:latin typeface="微软 雅黑"/>
                <a:ea typeface="宋体" panose="02010600030101010101" pitchFamily="2" charset="-122"/>
                <a:cs typeface="Times New Roman" panose="02020603050405020304" pitchFamily="18" charset="0"/>
              </a:rPr>
              <a:t>Web</a:t>
            </a:r>
            <a:r>
              <a:rPr lang="zh-CN" altLang="en-US" b="1" kern="100" dirty="0">
                <a:latin typeface="微软 雅黑"/>
                <a:ea typeface="宋体" panose="02010600030101010101" pitchFamily="2" charset="-122"/>
                <a:cs typeface="Times New Roman" panose="02020603050405020304" pitchFamily="18" charset="0"/>
              </a:rPr>
              <a:t>端</a:t>
            </a:r>
            <a:endParaRPr lang="zh-CN" altLang="en-US" b="1" dirty="0"/>
          </a:p>
        </p:txBody>
      </p:sp>
      <p:sp>
        <p:nvSpPr>
          <p:cNvPr id="11" name="矩形 10">
            <a:extLst>
              <a:ext uri="{FF2B5EF4-FFF2-40B4-BE49-F238E27FC236}">
                <a16:creationId xmlns:a16="http://schemas.microsoft.com/office/drawing/2014/main" id="{BF73CC92-5E38-4FBF-AEA4-117EE8F2F852}"/>
              </a:ext>
            </a:extLst>
          </p:cNvPr>
          <p:cNvSpPr/>
          <p:nvPr/>
        </p:nvSpPr>
        <p:spPr>
          <a:xfrm>
            <a:off x="6905483" y="4757037"/>
            <a:ext cx="799001" cy="307777"/>
          </a:xfrm>
          <a:prstGeom prst="rect">
            <a:avLst/>
          </a:prstGeom>
        </p:spPr>
        <p:txBody>
          <a:bodyPr wrap="none">
            <a:spAutoFit/>
          </a:bodyPr>
          <a:lstStyle/>
          <a:p>
            <a:r>
              <a:rPr lang="en-US" altLang="zh-CN" b="1" kern="100" dirty="0">
                <a:latin typeface="微软 雅黑"/>
                <a:ea typeface="宋体" panose="02010600030101010101" pitchFamily="2" charset="-122"/>
                <a:cs typeface="Times New Roman" panose="02020603050405020304" pitchFamily="18" charset="0"/>
              </a:rPr>
              <a:t>CATIA</a:t>
            </a:r>
            <a:r>
              <a:rPr lang="zh-CN" altLang="en-US" b="1" kern="100" dirty="0">
                <a:latin typeface="微软 雅黑"/>
                <a:ea typeface="宋体" panose="02010600030101010101" pitchFamily="2" charset="-122"/>
                <a:cs typeface="Times New Roman" panose="02020603050405020304" pitchFamily="18" charset="0"/>
              </a:rPr>
              <a:t>端</a:t>
            </a:r>
            <a:endParaRPr lang="zh-CN" altLang="en-US" b="1" dirty="0"/>
          </a:p>
        </p:txBody>
      </p:sp>
      <p:sp>
        <p:nvSpPr>
          <p:cNvPr id="14" name="灯片编号占位符 13">
            <a:extLst>
              <a:ext uri="{FF2B5EF4-FFF2-40B4-BE49-F238E27FC236}">
                <a16:creationId xmlns:a16="http://schemas.microsoft.com/office/drawing/2014/main" id="{34641205-4CF0-49F6-A8A9-3EBE35C7A59E}"/>
              </a:ext>
            </a:extLst>
          </p:cNvPr>
          <p:cNvSpPr>
            <a:spLocks noGrp="1"/>
          </p:cNvSpPr>
          <p:nvPr>
            <p:ph type="sldNum" idx="12"/>
          </p:nvPr>
        </p:nvSpPr>
        <p:spPr/>
        <p:txBody>
          <a:bodyPr/>
          <a:lstStyle/>
          <a:p>
            <a:fld id="{00000000-1234-1234-1234-123412341234}" type="slidenum">
              <a:rPr lang="en" smtClean="0"/>
              <a:pPr/>
              <a:t>10</a:t>
            </a:fld>
            <a:r>
              <a:rPr lang="en-US" altLang="zh-CN"/>
              <a:t>/18</a:t>
            </a:r>
            <a:endParaRPr lang="en" dirty="0"/>
          </a:p>
        </p:txBody>
      </p:sp>
      <p:pic>
        <p:nvPicPr>
          <p:cNvPr id="7" name="图片 6">
            <a:extLst>
              <a:ext uri="{FF2B5EF4-FFF2-40B4-BE49-F238E27FC236}">
                <a16:creationId xmlns:a16="http://schemas.microsoft.com/office/drawing/2014/main" id="{7D346B56-E148-4EF8-B571-4C7C2D33D308}"/>
              </a:ext>
            </a:extLst>
          </p:cNvPr>
          <p:cNvPicPr>
            <a:picLocks noChangeAspect="1"/>
          </p:cNvPicPr>
          <p:nvPr/>
        </p:nvPicPr>
        <p:blipFill>
          <a:blip r:embed="rId5"/>
          <a:stretch>
            <a:fillRect/>
          </a:stretch>
        </p:blipFill>
        <p:spPr>
          <a:xfrm>
            <a:off x="116276" y="2957039"/>
            <a:ext cx="3059471" cy="1799998"/>
          </a:xfrm>
          <a:prstGeom prst="rect">
            <a:avLst/>
          </a:prstGeom>
        </p:spPr>
      </p:pic>
    </p:spTree>
    <p:extLst>
      <p:ext uri="{BB962C8B-B14F-4D97-AF65-F5344CB8AC3E}">
        <p14:creationId xmlns:p14="http://schemas.microsoft.com/office/powerpoint/2010/main" val="2616455275"/>
      </p:ext>
    </p:extLst>
  </p:cSld>
  <p:clrMapOvr>
    <a:masterClrMapping/>
  </p:clrMapOvr>
  <mc:AlternateContent xmlns:mc="http://schemas.openxmlformats.org/markup-compatibility/2006" xmlns:p14="http://schemas.microsoft.com/office/powerpoint/2010/main">
    <mc:Choice Requires="p14">
      <p:transition spd="slow" p14:dur="2000" advTm="37548"/>
    </mc:Choice>
    <mc:Fallback xmlns="">
      <p:transition spd="slow" advTm="3754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Shape 139"/>
          <p:cNvSpPr txBox="1">
            <a:spLocks noGrp="1"/>
          </p:cNvSpPr>
          <p:nvPr>
            <p:ph type="title"/>
          </p:nvPr>
        </p:nvSpPr>
        <p:spPr>
          <a:xfrm>
            <a:off x="0" y="0"/>
            <a:ext cx="8222100" cy="660400"/>
          </a:xfrm>
          <a:prstGeom prst="rect">
            <a:avLst/>
          </a:prstGeom>
        </p:spPr>
        <p:txBody>
          <a:bodyPr spcFirstLastPara="1" wrap="square" lIns="91425" tIns="91425" rIns="91425" bIns="91425" anchor="b" anchorCtr="0">
            <a:noAutofit/>
          </a:bodyPr>
          <a:lstStyle/>
          <a:p>
            <a:r>
              <a:rPr lang="zh-CN" altLang="en-US" b="1" dirty="0">
                <a:latin typeface="微软雅黑" panose="020B0503020204020204" pitchFamily="34" charset="-122"/>
                <a:ea typeface="微软雅黑" panose="020B0503020204020204" pitchFamily="34" charset="-122"/>
              </a:rPr>
              <a:t>２</a:t>
            </a:r>
            <a:r>
              <a:rPr lang="en-US" altLang="zh-CN" b="1" dirty="0">
                <a:latin typeface="微软雅黑" panose="020B0503020204020204" pitchFamily="34" charset="-122"/>
                <a:ea typeface="微软雅黑" panose="020B0503020204020204" pitchFamily="34" charset="-122"/>
              </a:rPr>
              <a:t>.4 </a:t>
            </a:r>
            <a:r>
              <a:rPr lang="zh-CN" altLang="en-US" b="1" dirty="0">
                <a:latin typeface="微软雅黑" panose="020B0503020204020204" pitchFamily="34" charset="-122"/>
                <a:ea typeface="微软雅黑" panose="020B0503020204020204" pitchFamily="34" charset="-122"/>
              </a:rPr>
              <a:t>项目经历</a:t>
            </a:r>
            <a:r>
              <a:rPr lang="zh-CN" altLang="en-US" b="1" dirty="0">
                <a:latin typeface="微软 雅黑"/>
                <a:ea typeface="黑体" panose="02010609060101010101" pitchFamily="49" charset="-122"/>
              </a:rPr>
              <a:t>（</a:t>
            </a:r>
            <a:r>
              <a:rPr lang="zh-CN" altLang="zh-CN" sz="3200" b="1" kern="100" dirty="0">
                <a:effectLst/>
                <a:latin typeface="微软雅黑" panose="020B0503020204020204" pitchFamily="34" charset="-122"/>
                <a:ea typeface="微软雅黑" panose="020B0503020204020204" pitchFamily="34" charset="-122"/>
                <a:cs typeface="Times New Roman" panose="02020603050405020304" pitchFamily="18" charset="0"/>
              </a:rPr>
              <a:t>飞机线束三维设计协同平台</a:t>
            </a:r>
            <a:r>
              <a:rPr lang="zh-CN" altLang="en-US" b="1" dirty="0">
                <a:latin typeface="微软 雅黑"/>
                <a:ea typeface="黑体" panose="02010609060101010101" pitchFamily="49" charset="-122"/>
              </a:rPr>
              <a:t>）</a:t>
            </a:r>
            <a:endParaRPr b="1" dirty="0">
              <a:latin typeface="微软 雅黑"/>
              <a:ea typeface="黑体" panose="02010609060101010101" pitchFamily="49" charset="-122"/>
            </a:endParaRPr>
          </a:p>
        </p:txBody>
      </p:sp>
      <p:sp>
        <p:nvSpPr>
          <p:cNvPr id="4" name="灯片编号占位符 3">
            <a:extLst>
              <a:ext uri="{FF2B5EF4-FFF2-40B4-BE49-F238E27FC236}">
                <a16:creationId xmlns:a16="http://schemas.microsoft.com/office/drawing/2014/main" id="{82E9DE66-48D8-4F7A-A0F0-7E859A98AEB1}"/>
              </a:ext>
            </a:extLst>
          </p:cNvPr>
          <p:cNvSpPr>
            <a:spLocks noGrp="1"/>
          </p:cNvSpPr>
          <p:nvPr>
            <p:ph type="sldNum" idx="12"/>
          </p:nvPr>
        </p:nvSpPr>
        <p:spPr/>
        <p:txBody>
          <a:bodyPr/>
          <a:lstStyle/>
          <a:p>
            <a:fld id="{00000000-1234-1234-1234-123412341234}" type="slidenum">
              <a:rPr lang="en" smtClean="0"/>
              <a:pPr/>
              <a:t>11</a:t>
            </a:fld>
            <a:r>
              <a:rPr lang="en-US" altLang="zh-CN"/>
              <a:t>/18</a:t>
            </a:r>
            <a:endParaRPr lang="en" dirty="0"/>
          </a:p>
        </p:txBody>
      </p:sp>
      <p:pic>
        <p:nvPicPr>
          <p:cNvPr id="5" name="图片 4">
            <a:extLst>
              <a:ext uri="{FF2B5EF4-FFF2-40B4-BE49-F238E27FC236}">
                <a16:creationId xmlns:a16="http://schemas.microsoft.com/office/drawing/2014/main" id="{D102F644-6DA3-4C8F-8383-FB065757F7D9}"/>
              </a:ext>
            </a:extLst>
          </p:cNvPr>
          <p:cNvPicPr>
            <a:picLocks noChangeAspect="1"/>
          </p:cNvPicPr>
          <p:nvPr/>
        </p:nvPicPr>
        <p:blipFill>
          <a:blip r:embed="rId3"/>
          <a:stretch>
            <a:fillRect/>
          </a:stretch>
        </p:blipFill>
        <p:spPr>
          <a:xfrm>
            <a:off x="418878" y="660400"/>
            <a:ext cx="7066511" cy="4376067"/>
          </a:xfrm>
          <a:prstGeom prst="rect">
            <a:avLst/>
          </a:prstGeom>
        </p:spPr>
      </p:pic>
    </p:spTree>
    <p:extLst>
      <p:ext uri="{BB962C8B-B14F-4D97-AF65-F5344CB8AC3E}">
        <p14:creationId xmlns:p14="http://schemas.microsoft.com/office/powerpoint/2010/main" val="1922415399"/>
      </p:ext>
    </p:extLst>
  </p:cSld>
  <p:clrMapOvr>
    <a:masterClrMapping/>
  </p:clrMapOvr>
  <mc:AlternateContent xmlns:mc="http://schemas.openxmlformats.org/markup-compatibility/2006" xmlns:p14="http://schemas.microsoft.com/office/powerpoint/2010/main">
    <mc:Choice Requires="p14">
      <p:transition spd="slow" p14:dur="2000" advTm="66147"/>
    </mc:Choice>
    <mc:Fallback xmlns="">
      <p:transition spd="slow" advTm="6614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3" name="图片 2">
            <a:extLst>
              <a:ext uri="{FF2B5EF4-FFF2-40B4-BE49-F238E27FC236}">
                <a16:creationId xmlns:a16="http://schemas.microsoft.com/office/drawing/2014/main" id="{34F26571-C156-4112-8C63-20A55B1BD637}"/>
              </a:ext>
            </a:extLst>
          </p:cNvPr>
          <p:cNvPicPr>
            <a:picLocks noChangeAspect="1"/>
          </p:cNvPicPr>
          <p:nvPr/>
        </p:nvPicPr>
        <p:blipFill>
          <a:blip r:embed="rId3"/>
          <a:stretch>
            <a:fillRect/>
          </a:stretch>
        </p:blipFill>
        <p:spPr>
          <a:xfrm>
            <a:off x="5158742" y="2611116"/>
            <a:ext cx="3398749" cy="2440027"/>
          </a:xfrm>
          <a:prstGeom prst="rect">
            <a:avLst/>
          </a:prstGeom>
        </p:spPr>
      </p:pic>
      <p:sp>
        <p:nvSpPr>
          <p:cNvPr id="8" name="Shape 139"/>
          <p:cNvSpPr txBox="1">
            <a:spLocks noGrp="1"/>
          </p:cNvSpPr>
          <p:nvPr>
            <p:ph type="title"/>
          </p:nvPr>
        </p:nvSpPr>
        <p:spPr>
          <a:xfrm>
            <a:off x="0" y="0"/>
            <a:ext cx="8222100" cy="660400"/>
          </a:xfrm>
          <a:prstGeom prst="rect">
            <a:avLst/>
          </a:prstGeom>
        </p:spPr>
        <p:txBody>
          <a:bodyPr spcFirstLastPara="1" wrap="square" lIns="91425" tIns="91425" rIns="91425" bIns="91425" anchor="b" anchorCtr="0">
            <a:noAutofit/>
          </a:bodyPr>
          <a:lstStyle/>
          <a:p>
            <a:r>
              <a:rPr lang="zh-CN" altLang="en-US" b="1" dirty="0">
                <a:latin typeface="微软雅黑" panose="020B0503020204020204" pitchFamily="34" charset="-122"/>
                <a:ea typeface="微软雅黑" panose="020B0503020204020204" pitchFamily="34" charset="-122"/>
              </a:rPr>
              <a:t>２</a:t>
            </a:r>
            <a:r>
              <a:rPr lang="en-US" altLang="zh-CN" b="1" dirty="0">
                <a:latin typeface="微软雅黑" panose="020B0503020204020204" pitchFamily="34" charset="-122"/>
                <a:ea typeface="微软雅黑" panose="020B0503020204020204" pitchFamily="34" charset="-122"/>
              </a:rPr>
              <a:t>.5 </a:t>
            </a:r>
            <a:r>
              <a:rPr lang="zh-CN" altLang="en-US" b="1" dirty="0">
                <a:latin typeface="黑体" panose="02010609060101010101" pitchFamily="49" charset="-122"/>
                <a:ea typeface="黑体" panose="02010609060101010101" pitchFamily="49" charset="-122"/>
              </a:rPr>
              <a:t>项目经历</a:t>
            </a:r>
            <a:r>
              <a:rPr lang="zh-CN" altLang="en-US" b="1" dirty="0">
                <a:latin typeface="微软 雅黑"/>
                <a:ea typeface="黑体" panose="02010609060101010101" pitchFamily="49" charset="-122"/>
              </a:rPr>
              <a:t>（</a:t>
            </a:r>
            <a:r>
              <a:rPr lang="en-US" altLang="zh-CN" sz="3200" b="1" kern="100" dirty="0">
                <a:effectLst/>
                <a:latin typeface="微软 雅黑"/>
                <a:ea typeface="+mn-ea"/>
                <a:cs typeface="Times New Roman" panose="02020603050405020304" pitchFamily="18" charset="0"/>
              </a:rPr>
              <a:t>CUMS</a:t>
            </a:r>
            <a:r>
              <a:rPr lang="zh-CN" altLang="en-US" sz="3200" b="1" kern="100" dirty="0">
                <a:effectLst/>
                <a:latin typeface="微软 雅黑"/>
                <a:ea typeface="+mn-ea"/>
                <a:cs typeface="Times New Roman" panose="02020603050405020304" pitchFamily="18" charset="0"/>
              </a:rPr>
              <a:t>数据处理服务系统</a:t>
            </a:r>
            <a:r>
              <a:rPr lang="zh-CN" altLang="en-US" b="1" dirty="0">
                <a:latin typeface="微软 雅黑"/>
                <a:ea typeface="黑体" panose="02010609060101010101" pitchFamily="49" charset="-122"/>
              </a:rPr>
              <a:t>）</a:t>
            </a:r>
            <a:endParaRPr b="1" dirty="0">
              <a:latin typeface="微软 雅黑"/>
              <a:ea typeface="黑体" panose="02010609060101010101" pitchFamily="49" charset="-122"/>
            </a:endParaRPr>
          </a:p>
        </p:txBody>
      </p:sp>
      <p:sp>
        <p:nvSpPr>
          <p:cNvPr id="6" name="文本框 5"/>
          <p:cNvSpPr txBox="1"/>
          <p:nvPr/>
        </p:nvSpPr>
        <p:spPr>
          <a:xfrm>
            <a:off x="558799" y="724657"/>
            <a:ext cx="7663301" cy="1757725"/>
          </a:xfrm>
          <a:prstGeom prst="rect">
            <a:avLst/>
          </a:prstGeom>
          <a:noFill/>
        </p:spPr>
        <p:txBody>
          <a:bodyPr wrap="square" rtlCol="0">
            <a:spAutoFit/>
          </a:bodyPr>
          <a:lstStyle/>
          <a:p>
            <a:pPr>
              <a:lnSpc>
                <a:spcPct val="150000"/>
              </a:lnSpc>
            </a:pPr>
            <a:r>
              <a:rPr lang="zh-CN" altLang="en-US" sz="1500" dirty="0">
                <a:latin typeface="微软 雅黑"/>
                <a:ea typeface="+mn-ea"/>
              </a:rPr>
              <a:t>项目名称：</a:t>
            </a:r>
            <a:r>
              <a:rPr lang="zh-CN" altLang="en-US" sz="1500" b="1" kern="100" dirty="0">
                <a:effectLst/>
                <a:latin typeface="微软 雅黑"/>
                <a:ea typeface="+mn-ea"/>
                <a:cs typeface="Times New Roman" panose="02020603050405020304" pitchFamily="18" charset="0"/>
              </a:rPr>
              <a:t> </a:t>
            </a:r>
            <a:r>
              <a:rPr lang="en-US" altLang="zh-CN" sz="1500" b="1" kern="100" dirty="0">
                <a:effectLst/>
                <a:latin typeface="微软 雅黑"/>
                <a:ea typeface="+mn-ea"/>
                <a:cs typeface="Times New Roman" panose="02020603050405020304" pitchFamily="18" charset="0"/>
              </a:rPr>
              <a:t>CUMS</a:t>
            </a:r>
            <a:r>
              <a:rPr lang="zh-CN" altLang="en-US" sz="1500" b="1" kern="100" dirty="0">
                <a:effectLst/>
                <a:latin typeface="微软 雅黑"/>
                <a:ea typeface="+mn-ea"/>
                <a:cs typeface="Times New Roman" panose="02020603050405020304" pitchFamily="18" charset="0"/>
              </a:rPr>
              <a:t>数据处理服务系统（</a:t>
            </a:r>
            <a:r>
              <a:rPr lang="en-US" altLang="zh-CN" sz="1500" b="1" kern="100" dirty="0">
                <a:effectLst/>
                <a:latin typeface="微软 雅黑"/>
                <a:ea typeface="+mn-ea"/>
                <a:cs typeface="Times New Roman" panose="02020603050405020304" pitchFamily="18" charset="0"/>
              </a:rPr>
              <a:t>2021.09—</a:t>
            </a:r>
            <a:r>
              <a:rPr lang="zh-CN" altLang="en-US" sz="1500" b="1" kern="100" dirty="0">
                <a:effectLst/>
                <a:latin typeface="微软 雅黑"/>
                <a:ea typeface="+mn-ea"/>
                <a:cs typeface="Times New Roman" panose="02020603050405020304" pitchFamily="18" charset="0"/>
              </a:rPr>
              <a:t>至今）      </a:t>
            </a:r>
            <a:r>
              <a:rPr lang="zh-CN" altLang="zh-CN" sz="1500" b="1" kern="100" dirty="0">
                <a:effectLst/>
                <a:latin typeface="Times New Roman" panose="02020603050405020304" pitchFamily="18" charset="0"/>
                <a:ea typeface="宋体" panose="02010600030101010101" pitchFamily="2" charset="-122"/>
                <a:cs typeface="Times New Roman" panose="02020603050405020304" pitchFamily="18" charset="0"/>
              </a:rPr>
              <a:t>项目经理</a:t>
            </a:r>
            <a:r>
              <a:rPr lang="zh-CN" altLang="en-US" sz="1500" b="1"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500" b="1" kern="1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1500" b="1" kern="100" dirty="0">
                <a:latin typeface="Times New Roman" panose="02020603050405020304" pitchFamily="18" charset="0"/>
                <a:ea typeface="宋体" panose="02010600030101010101" pitchFamily="2" charset="-122"/>
                <a:cs typeface="Times New Roman" panose="02020603050405020304" pitchFamily="18" charset="0"/>
              </a:rPr>
              <a:t>人</a:t>
            </a:r>
            <a:endParaRPr lang="en-US" altLang="zh-CN" sz="1500" b="1" kern="100" dirty="0">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lnSpc>
                <a:spcPct val="125000"/>
              </a:lnSpc>
              <a:buFont typeface="Wingdings" panose="05000000000000000000" pitchFamily="2" charset="2"/>
              <a:buChar char="u"/>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将前后处理模块改造移植、并集成到数据处理服务系统；</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ct val="125000"/>
              </a:lnSpc>
              <a:buFont typeface="Wingdings" panose="05000000000000000000" pitchFamily="2" charset="2"/>
              <a:buChar char="u"/>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模型渲染可视化采用体网格，支持后处理剖切功能和结构可视化；</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ct val="125000"/>
              </a:lnSpc>
              <a:buFont typeface="Wingdings" panose="05000000000000000000" pitchFamily="2" charset="2"/>
              <a:buChar char="u"/>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采用</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Virtual GL</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X11</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技术，将图形工作站中渲染图片转发到客户端进行显示，既能利用工作站硬件资源，同时解决海量数据传输过程卡断、迟缓现象；</a:t>
            </a:r>
            <a:endParaRPr lang="zh-CN"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lnSpc>
                <a:spcPct val="125000"/>
              </a:lnSpc>
              <a:buFont typeface="Wingdings" panose="05000000000000000000" pitchFamily="2" charset="2"/>
              <a:buChar char="u"/>
            </a:pP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编写远程</a:t>
            </a:r>
            <a:r>
              <a:rPr lang="en-US" altLang="zh-CN" kern="100" dirty="0">
                <a:effectLst/>
                <a:latin typeface="Times New Roman" panose="02020603050405020304" pitchFamily="18" charset="0"/>
                <a:ea typeface="宋体" panose="02010600030101010101" pitchFamily="2" charset="-122"/>
              </a:rPr>
              <a:t>Linux</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图形工作站部署配置手册；</a:t>
            </a:r>
            <a:endParaRPr lang="en-US" altLang="zh-CN" b="1" kern="1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3DF77FA0-D69D-4955-A56A-0EEB5722C1BD}"/>
              </a:ext>
            </a:extLst>
          </p:cNvPr>
          <p:cNvPicPr>
            <a:picLocks noChangeAspect="1"/>
          </p:cNvPicPr>
          <p:nvPr/>
        </p:nvPicPr>
        <p:blipFill>
          <a:blip r:embed="rId4"/>
          <a:stretch>
            <a:fillRect/>
          </a:stretch>
        </p:blipFill>
        <p:spPr>
          <a:xfrm>
            <a:off x="420305" y="2782510"/>
            <a:ext cx="2593571" cy="1539826"/>
          </a:xfrm>
          <a:prstGeom prst="rect">
            <a:avLst/>
          </a:prstGeom>
          <a:ln>
            <a:noFill/>
          </a:ln>
          <a:effectLst>
            <a:outerShdw blurRad="190500" algn="tl" rotWithShape="0">
              <a:srgbClr val="000000">
                <a:alpha val="70000"/>
              </a:srgbClr>
            </a:outerShdw>
          </a:effectLst>
        </p:spPr>
      </p:pic>
      <p:pic>
        <p:nvPicPr>
          <p:cNvPr id="2" name="图片 1">
            <a:extLst>
              <a:ext uri="{FF2B5EF4-FFF2-40B4-BE49-F238E27FC236}">
                <a16:creationId xmlns:a16="http://schemas.microsoft.com/office/drawing/2014/main" id="{45FDA0AB-D8FC-4EDE-A054-9134D50B8A55}"/>
              </a:ext>
            </a:extLst>
          </p:cNvPr>
          <p:cNvPicPr>
            <a:picLocks noChangeAspect="1"/>
          </p:cNvPicPr>
          <p:nvPr/>
        </p:nvPicPr>
        <p:blipFill>
          <a:blip r:embed="rId5"/>
          <a:stretch>
            <a:fillRect/>
          </a:stretch>
        </p:blipFill>
        <p:spPr>
          <a:xfrm>
            <a:off x="3462581" y="2482382"/>
            <a:ext cx="3246349" cy="2409429"/>
          </a:xfrm>
          <a:prstGeom prst="rect">
            <a:avLst/>
          </a:prstGeom>
          <a:ln>
            <a:noFill/>
          </a:ln>
          <a:effectLst>
            <a:outerShdw blurRad="190500" algn="tl" rotWithShape="0">
              <a:srgbClr val="000000">
                <a:alpha val="70000"/>
              </a:srgbClr>
            </a:outerShdw>
          </a:effectLst>
        </p:spPr>
      </p:pic>
      <p:sp>
        <p:nvSpPr>
          <p:cNvPr id="10" name="灯片编号占位符 9">
            <a:extLst>
              <a:ext uri="{FF2B5EF4-FFF2-40B4-BE49-F238E27FC236}">
                <a16:creationId xmlns:a16="http://schemas.microsoft.com/office/drawing/2014/main" id="{8B328777-9538-481F-8F20-6A58F6EA30CA}"/>
              </a:ext>
            </a:extLst>
          </p:cNvPr>
          <p:cNvSpPr>
            <a:spLocks noGrp="1"/>
          </p:cNvSpPr>
          <p:nvPr>
            <p:ph type="sldNum" idx="12"/>
          </p:nvPr>
        </p:nvSpPr>
        <p:spPr/>
        <p:txBody>
          <a:bodyPr/>
          <a:lstStyle/>
          <a:p>
            <a:fld id="{00000000-1234-1234-1234-123412341234}" type="slidenum">
              <a:rPr lang="en" smtClean="0"/>
              <a:pPr/>
              <a:t>12</a:t>
            </a:fld>
            <a:r>
              <a:rPr lang="en-US" altLang="zh-CN"/>
              <a:t>/18</a:t>
            </a:r>
            <a:endParaRPr lang="en" dirty="0"/>
          </a:p>
        </p:txBody>
      </p:sp>
    </p:spTree>
    <p:extLst>
      <p:ext uri="{BB962C8B-B14F-4D97-AF65-F5344CB8AC3E}">
        <p14:creationId xmlns:p14="http://schemas.microsoft.com/office/powerpoint/2010/main" val="494471409"/>
      </p:ext>
    </p:extLst>
  </p:cSld>
  <p:clrMapOvr>
    <a:masterClrMapping/>
  </p:clrMapOvr>
  <mc:AlternateContent xmlns:mc="http://schemas.openxmlformats.org/markup-compatibility/2006" xmlns:p14="http://schemas.microsoft.com/office/powerpoint/2010/main">
    <mc:Choice Requires="p14">
      <p:transition spd="slow" p14:dur="2000" advTm="39982"/>
    </mc:Choice>
    <mc:Fallback xmlns="">
      <p:transition spd="slow" advTm="3998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Shape 139"/>
          <p:cNvSpPr txBox="1">
            <a:spLocks noGrp="1"/>
          </p:cNvSpPr>
          <p:nvPr>
            <p:ph type="title"/>
          </p:nvPr>
        </p:nvSpPr>
        <p:spPr>
          <a:xfrm>
            <a:off x="0" y="1"/>
            <a:ext cx="8222100" cy="673100"/>
          </a:xfrm>
          <a:prstGeom prst="rect">
            <a:avLst/>
          </a:prstGeom>
        </p:spPr>
        <p:txBody>
          <a:bodyPr spcFirstLastPara="1" wrap="square" lIns="91425" tIns="91425" rIns="91425" bIns="91425" anchor="b" anchorCtr="0">
            <a:noAutofit/>
          </a:bodyPr>
          <a:lstStyle/>
          <a:p>
            <a:r>
              <a:rPr lang="en-US" altLang="zh-CN" b="1" dirty="0">
                <a:latin typeface="微软雅黑" panose="020B0503020204020204" pitchFamily="34" charset="-122"/>
                <a:ea typeface="微软雅黑" panose="020B0503020204020204" pitchFamily="34" charset="-122"/>
              </a:rPr>
              <a:t>3.1  </a:t>
            </a:r>
            <a:r>
              <a:rPr lang="zh-CN" altLang="en-US" b="1" dirty="0">
                <a:latin typeface="微软雅黑" panose="020B0503020204020204" pitchFamily="34" charset="-122"/>
                <a:ea typeface="微软雅黑" panose="020B0503020204020204" pitchFamily="34" charset="-122"/>
              </a:rPr>
              <a:t>科研经历（硕士研究）</a:t>
            </a:r>
            <a:endParaRPr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410954" y="829747"/>
            <a:ext cx="8299175" cy="2862322"/>
          </a:xfrm>
          <a:prstGeom prst="rect">
            <a:avLst/>
          </a:prstGeom>
          <a:noFill/>
        </p:spPr>
        <p:txBody>
          <a:bodyPr wrap="square" rtlCol="0">
            <a:spAutoFit/>
          </a:bodyPr>
          <a:lstStyle/>
          <a:p>
            <a:r>
              <a:rPr lang="zh-CN" altLang="en-US" sz="1800" dirty="0">
                <a:latin typeface="微软 雅黑"/>
              </a:rPr>
              <a:t>课题题目： </a:t>
            </a:r>
            <a:r>
              <a:rPr lang="zh-CN" altLang="en-US" sz="1600" dirty="0">
                <a:latin typeface="微软 雅黑"/>
              </a:rPr>
              <a:t>高温高压环境下静态及动态接触角测量技术　（</a:t>
            </a:r>
            <a:r>
              <a:rPr lang="en-US" altLang="zh-CN" sz="1600" dirty="0">
                <a:latin typeface="微软 雅黑"/>
              </a:rPr>
              <a:t>2014-2016</a:t>
            </a:r>
            <a:r>
              <a:rPr lang="zh-CN" altLang="en-US" sz="1600" dirty="0">
                <a:latin typeface="微软 雅黑"/>
              </a:rPr>
              <a:t>）</a:t>
            </a:r>
            <a:endParaRPr lang="en-US" altLang="zh-CN" sz="1600" dirty="0">
              <a:latin typeface="微软 雅黑"/>
            </a:endParaRPr>
          </a:p>
          <a:p>
            <a:pPr>
              <a:lnSpc>
                <a:spcPct val="150000"/>
              </a:lnSpc>
            </a:pPr>
            <a:r>
              <a:rPr lang="zh-CN" altLang="en-US" sz="1800" dirty="0">
                <a:latin typeface="微软 雅黑"/>
              </a:rPr>
              <a:t>主要研究内容：</a:t>
            </a:r>
            <a:r>
              <a:rPr lang="en-US" altLang="zh-CN" dirty="0"/>
              <a:t>CO</a:t>
            </a:r>
            <a:r>
              <a:rPr lang="en-US" altLang="zh-CN" baseline="30000" dirty="0"/>
              <a:t>2</a:t>
            </a:r>
            <a:r>
              <a:rPr lang="zh-CN" altLang="zh-CN" dirty="0"/>
              <a:t>地质封存作为最有前景解决温室效应的方法，封存过程中影响其安全性的接触角是研究的关键；</a:t>
            </a:r>
            <a:r>
              <a:rPr lang="zh-CN" altLang="en-US" dirty="0"/>
              <a:t>基于传统的接触角测量方法和</a:t>
            </a:r>
            <a:r>
              <a:rPr lang="en-US" altLang="zh-CN" dirty="0"/>
              <a:t>ADSA</a:t>
            </a:r>
            <a:r>
              <a:rPr lang="zh-CN" altLang="en-US" dirty="0"/>
              <a:t>（</a:t>
            </a:r>
            <a:r>
              <a:rPr lang="en-US" altLang="zh-CN" dirty="0"/>
              <a:t>Axisymmetric Drop Shape Analysis</a:t>
            </a:r>
            <a:r>
              <a:rPr lang="zh-CN" altLang="en-US" dirty="0"/>
              <a:t>）技术，研究了高温高压环境下气</a:t>
            </a:r>
            <a:r>
              <a:rPr lang="en-US" altLang="zh-CN" dirty="0"/>
              <a:t>/</a:t>
            </a:r>
            <a:r>
              <a:rPr lang="zh-CN" altLang="en-US" dirty="0"/>
              <a:t>液</a:t>
            </a:r>
            <a:r>
              <a:rPr lang="en-US" altLang="zh-CN" dirty="0"/>
              <a:t>/</a:t>
            </a:r>
            <a:r>
              <a:rPr lang="zh-CN" altLang="en-US" dirty="0"/>
              <a:t>固体系静态和动态接触角测量技术。（方案设计、强度校核、图纸绘制、跟踪加工）</a:t>
            </a:r>
            <a:endParaRPr lang="zh-CN" altLang="zh-CN" dirty="0"/>
          </a:p>
          <a:p>
            <a:pPr>
              <a:lnSpc>
                <a:spcPct val="150000"/>
              </a:lnSpc>
            </a:pPr>
            <a:endParaRPr lang="en-US" altLang="zh-CN" sz="1600" dirty="0">
              <a:latin typeface="微软 雅黑"/>
            </a:endParaRPr>
          </a:p>
          <a:p>
            <a:pPr>
              <a:lnSpc>
                <a:spcPct val="150000"/>
              </a:lnSpc>
            </a:pPr>
            <a:endParaRPr lang="en-US" altLang="zh-CN" sz="1600" dirty="0">
              <a:latin typeface="微软 雅黑"/>
            </a:endParaRPr>
          </a:p>
          <a:p>
            <a:pPr>
              <a:lnSpc>
                <a:spcPct val="150000"/>
              </a:lnSpc>
            </a:pPr>
            <a:endParaRPr lang="zh-CN" altLang="en-US" sz="1600" dirty="0">
              <a:latin typeface="微软 雅黑"/>
            </a:endParaRPr>
          </a:p>
        </p:txBody>
      </p:sp>
      <p:pic>
        <p:nvPicPr>
          <p:cNvPr id="2" name="图片 1"/>
          <p:cNvPicPr>
            <a:picLocks noChangeAspect="1"/>
          </p:cNvPicPr>
          <p:nvPr/>
        </p:nvPicPr>
        <p:blipFill>
          <a:blip r:embed="rId3"/>
          <a:stretch>
            <a:fillRect/>
          </a:stretch>
        </p:blipFill>
        <p:spPr>
          <a:xfrm>
            <a:off x="319182" y="2678572"/>
            <a:ext cx="3459218" cy="2176669"/>
          </a:xfrm>
          <a:prstGeom prst="rect">
            <a:avLst/>
          </a:prstGeom>
        </p:spPr>
      </p:pic>
      <p:pic>
        <p:nvPicPr>
          <p:cNvPr id="3" name="图片 2"/>
          <p:cNvPicPr>
            <a:picLocks noChangeAspect="1"/>
          </p:cNvPicPr>
          <p:nvPr/>
        </p:nvPicPr>
        <p:blipFill>
          <a:blip r:embed="rId4"/>
          <a:stretch>
            <a:fillRect/>
          </a:stretch>
        </p:blipFill>
        <p:spPr>
          <a:xfrm>
            <a:off x="4025348" y="2685542"/>
            <a:ext cx="4888844" cy="2013053"/>
          </a:xfrm>
          <a:prstGeom prst="rect">
            <a:avLst/>
          </a:prstGeom>
        </p:spPr>
      </p:pic>
      <p:sp>
        <p:nvSpPr>
          <p:cNvPr id="9" name="灯片编号占位符 8">
            <a:extLst>
              <a:ext uri="{FF2B5EF4-FFF2-40B4-BE49-F238E27FC236}">
                <a16:creationId xmlns:a16="http://schemas.microsoft.com/office/drawing/2014/main" id="{1F20156F-828A-4F57-83FE-B7D8FE0D7E69}"/>
              </a:ext>
            </a:extLst>
          </p:cNvPr>
          <p:cNvSpPr>
            <a:spLocks noGrp="1"/>
          </p:cNvSpPr>
          <p:nvPr>
            <p:ph type="sldNum" idx="12"/>
          </p:nvPr>
        </p:nvSpPr>
        <p:spPr/>
        <p:txBody>
          <a:bodyPr/>
          <a:lstStyle/>
          <a:p>
            <a:fld id="{00000000-1234-1234-1234-123412341234}" type="slidenum">
              <a:rPr lang="en" smtClean="0"/>
              <a:pPr/>
              <a:t>13</a:t>
            </a:fld>
            <a:r>
              <a:rPr lang="en-US" altLang="zh-CN"/>
              <a:t>/18</a:t>
            </a:r>
            <a:endParaRPr lang="en" dirty="0"/>
          </a:p>
        </p:txBody>
      </p:sp>
    </p:spTree>
    <p:extLst>
      <p:ext uri="{BB962C8B-B14F-4D97-AF65-F5344CB8AC3E}">
        <p14:creationId xmlns:p14="http://schemas.microsoft.com/office/powerpoint/2010/main" val="3399943153"/>
      </p:ext>
    </p:extLst>
  </p:cSld>
  <p:clrMapOvr>
    <a:masterClrMapping/>
  </p:clrMapOvr>
  <mc:AlternateContent xmlns:mc="http://schemas.openxmlformats.org/markup-compatibility/2006" xmlns:p14="http://schemas.microsoft.com/office/powerpoint/2010/main">
    <mc:Choice Requires="p14">
      <p:transition spd="slow" p14:dur="2000" advTm="56687"/>
    </mc:Choice>
    <mc:Fallback xmlns="">
      <p:transition spd="slow" advTm="5668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Shape 139"/>
          <p:cNvSpPr txBox="1">
            <a:spLocks noGrp="1"/>
          </p:cNvSpPr>
          <p:nvPr>
            <p:ph type="title"/>
          </p:nvPr>
        </p:nvSpPr>
        <p:spPr>
          <a:xfrm>
            <a:off x="0" y="1"/>
            <a:ext cx="8222100" cy="641349"/>
          </a:xfrm>
          <a:prstGeom prst="rect">
            <a:avLst/>
          </a:prstGeom>
        </p:spPr>
        <p:txBody>
          <a:bodyPr spcFirstLastPara="1" wrap="square" lIns="91425" tIns="91425" rIns="91425" bIns="91425" anchor="b" anchorCtr="0">
            <a:noAutofit/>
          </a:bodyPr>
          <a:lstStyle/>
          <a:p>
            <a:r>
              <a:rPr lang="en-US" altLang="zh-CN" b="1" dirty="0">
                <a:latin typeface="微软雅黑" panose="020B0503020204020204" pitchFamily="34" charset="-122"/>
                <a:ea typeface="微软雅黑" panose="020B0503020204020204" pitchFamily="34" charset="-122"/>
              </a:rPr>
              <a:t>3.1</a:t>
            </a:r>
            <a:r>
              <a:rPr lang="zh-CN" altLang="en-US" b="1" dirty="0">
                <a:latin typeface="微软雅黑" panose="020B0503020204020204" pitchFamily="34" charset="-122"/>
                <a:ea typeface="微软雅黑" panose="020B0503020204020204" pitchFamily="34" charset="-122"/>
              </a:rPr>
              <a:t> 科研经历（硕士研究）</a:t>
            </a:r>
            <a:endParaRPr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457199" y="1133061"/>
            <a:ext cx="8299175" cy="830997"/>
          </a:xfrm>
          <a:prstGeom prst="rect">
            <a:avLst/>
          </a:prstGeom>
          <a:noFill/>
        </p:spPr>
        <p:txBody>
          <a:bodyPr wrap="square" rtlCol="0">
            <a:spAutoFit/>
          </a:bodyPr>
          <a:lstStyle/>
          <a:p>
            <a:pPr>
              <a:lnSpc>
                <a:spcPct val="150000"/>
              </a:lnSpc>
            </a:pPr>
            <a:endParaRPr lang="en-US" altLang="zh-CN" sz="1600" dirty="0">
              <a:latin typeface="微软 雅黑"/>
            </a:endParaRPr>
          </a:p>
          <a:p>
            <a:pPr>
              <a:lnSpc>
                <a:spcPct val="150000"/>
              </a:lnSpc>
            </a:pPr>
            <a:endParaRPr lang="zh-CN" altLang="en-US" sz="1600" dirty="0">
              <a:latin typeface="微软 雅黑"/>
            </a:endParaRPr>
          </a:p>
        </p:txBody>
      </p:sp>
      <p:pic>
        <p:nvPicPr>
          <p:cNvPr id="1026" name="图片 5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8095" y="771740"/>
            <a:ext cx="2607835" cy="2050267"/>
          </a:xfrm>
          <a:prstGeom prst="rect">
            <a:avLst/>
          </a:prstGeom>
          <a:noFill/>
          <a:ln w="9525">
            <a:solidFill>
              <a:schemeClr val="tx2">
                <a:lumMod val="60000"/>
                <a:lumOff val="40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4"/>
          <a:stretch>
            <a:fillRect/>
          </a:stretch>
        </p:blipFill>
        <p:spPr>
          <a:xfrm>
            <a:off x="1658094" y="2952397"/>
            <a:ext cx="2607835" cy="1971345"/>
          </a:xfrm>
          <a:prstGeom prst="rect">
            <a:avLst/>
          </a:prstGeom>
          <a:ln>
            <a:solidFill>
              <a:schemeClr val="tx2">
                <a:lumMod val="60000"/>
                <a:lumOff val="40000"/>
              </a:schemeClr>
            </a:solidFill>
          </a:ln>
        </p:spPr>
      </p:pic>
      <p:sp>
        <p:nvSpPr>
          <p:cNvPr id="2" name="文本框 1">
            <a:extLst>
              <a:ext uri="{FF2B5EF4-FFF2-40B4-BE49-F238E27FC236}">
                <a16:creationId xmlns:a16="http://schemas.microsoft.com/office/drawing/2014/main" id="{5BB0B7D1-6DA8-469A-9268-04EB52A36ACB}"/>
              </a:ext>
            </a:extLst>
          </p:cNvPr>
          <p:cNvSpPr txBox="1"/>
          <p:nvPr/>
        </p:nvSpPr>
        <p:spPr>
          <a:xfrm>
            <a:off x="498039" y="1548559"/>
            <a:ext cx="1082348" cy="523220"/>
          </a:xfrm>
          <a:prstGeom prst="rect">
            <a:avLst/>
          </a:prstGeom>
          <a:noFill/>
        </p:spPr>
        <p:txBody>
          <a:bodyPr wrap="none" rtlCol="0">
            <a:spAutoFit/>
          </a:bodyPr>
          <a:lstStyle/>
          <a:p>
            <a:r>
              <a:rPr lang="zh-CN" altLang="en-US" dirty="0">
                <a:latin typeface="微软 雅黑"/>
              </a:rPr>
              <a:t>静态接触角</a:t>
            </a:r>
            <a:endParaRPr lang="en-US" altLang="zh-CN" dirty="0">
              <a:latin typeface="微软 雅黑"/>
            </a:endParaRPr>
          </a:p>
          <a:p>
            <a:r>
              <a:rPr lang="zh-CN" altLang="en-US" dirty="0">
                <a:latin typeface="微软 雅黑"/>
              </a:rPr>
              <a:t>系统图</a:t>
            </a:r>
          </a:p>
        </p:txBody>
      </p:sp>
      <p:sp>
        <p:nvSpPr>
          <p:cNvPr id="9" name="文本框 8">
            <a:extLst>
              <a:ext uri="{FF2B5EF4-FFF2-40B4-BE49-F238E27FC236}">
                <a16:creationId xmlns:a16="http://schemas.microsoft.com/office/drawing/2014/main" id="{C413F27F-CA53-4626-8E0E-C64501FEBBDC}"/>
              </a:ext>
            </a:extLst>
          </p:cNvPr>
          <p:cNvSpPr txBox="1"/>
          <p:nvPr/>
        </p:nvSpPr>
        <p:spPr>
          <a:xfrm>
            <a:off x="498039" y="3487219"/>
            <a:ext cx="1082348" cy="523220"/>
          </a:xfrm>
          <a:prstGeom prst="rect">
            <a:avLst/>
          </a:prstGeom>
          <a:noFill/>
        </p:spPr>
        <p:txBody>
          <a:bodyPr wrap="none" rtlCol="0">
            <a:spAutoFit/>
          </a:bodyPr>
          <a:lstStyle/>
          <a:p>
            <a:r>
              <a:rPr lang="zh-CN" altLang="en-US" dirty="0">
                <a:latin typeface="微软 雅黑"/>
              </a:rPr>
              <a:t>动态接触角</a:t>
            </a:r>
            <a:endParaRPr lang="en-US" altLang="zh-CN" dirty="0">
              <a:latin typeface="微软 雅黑"/>
            </a:endParaRPr>
          </a:p>
          <a:p>
            <a:r>
              <a:rPr lang="zh-CN" altLang="en-US" dirty="0">
                <a:latin typeface="微软 雅黑"/>
              </a:rPr>
              <a:t>系统图</a:t>
            </a:r>
          </a:p>
        </p:txBody>
      </p:sp>
      <p:pic>
        <p:nvPicPr>
          <p:cNvPr id="7" name="图片 6">
            <a:extLst>
              <a:ext uri="{FF2B5EF4-FFF2-40B4-BE49-F238E27FC236}">
                <a16:creationId xmlns:a16="http://schemas.microsoft.com/office/drawing/2014/main" id="{23CB8D69-96AB-4207-A6B8-B5FBD2A11156}"/>
              </a:ext>
            </a:extLst>
          </p:cNvPr>
          <p:cNvPicPr>
            <a:picLocks noChangeAspect="1"/>
          </p:cNvPicPr>
          <p:nvPr/>
        </p:nvPicPr>
        <p:blipFill rotWithShape="1">
          <a:blip r:embed="rId5"/>
          <a:srcRect l="4211"/>
          <a:stretch/>
        </p:blipFill>
        <p:spPr>
          <a:xfrm>
            <a:off x="4878072" y="771740"/>
            <a:ext cx="2279650" cy="3366085"/>
          </a:xfrm>
          <a:prstGeom prst="rect">
            <a:avLst/>
          </a:prstGeom>
          <a:ln>
            <a:noFill/>
          </a:ln>
          <a:effectLst>
            <a:outerShdw blurRad="190500" algn="tl" rotWithShape="0">
              <a:srgbClr val="000000">
                <a:alpha val="70000"/>
              </a:srgbClr>
            </a:outerShdw>
          </a:effectLst>
        </p:spPr>
      </p:pic>
      <p:pic>
        <p:nvPicPr>
          <p:cNvPr id="11" name="图片 10">
            <a:extLst>
              <a:ext uri="{FF2B5EF4-FFF2-40B4-BE49-F238E27FC236}">
                <a16:creationId xmlns:a16="http://schemas.microsoft.com/office/drawing/2014/main" id="{CF42D327-8273-4CEC-A230-62625052403A}"/>
              </a:ext>
            </a:extLst>
          </p:cNvPr>
          <p:cNvPicPr>
            <a:picLocks noChangeAspect="1"/>
          </p:cNvPicPr>
          <p:nvPr/>
        </p:nvPicPr>
        <p:blipFill rotWithShape="1">
          <a:blip r:embed="rId6"/>
          <a:srcRect l="3572" r="2518" b="1006"/>
          <a:stretch/>
        </p:blipFill>
        <p:spPr>
          <a:xfrm>
            <a:off x="6190836" y="1844555"/>
            <a:ext cx="2165764" cy="3229138"/>
          </a:xfrm>
          <a:prstGeom prst="rect">
            <a:avLst/>
          </a:prstGeom>
          <a:ln>
            <a:noFill/>
          </a:ln>
          <a:effectLst>
            <a:outerShdw blurRad="190500" algn="tl" rotWithShape="0">
              <a:srgbClr val="000000">
                <a:alpha val="70000"/>
              </a:srgbClr>
            </a:outerShdw>
          </a:effectLst>
        </p:spPr>
      </p:pic>
      <p:sp>
        <p:nvSpPr>
          <p:cNvPr id="12" name="灯片编号占位符 11">
            <a:extLst>
              <a:ext uri="{FF2B5EF4-FFF2-40B4-BE49-F238E27FC236}">
                <a16:creationId xmlns:a16="http://schemas.microsoft.com/office/drawing/2014/main" id="{C9142346-B0DF-48B5-81A2-980E685B445F}"/>
              </a:ext>
            </a:extLst>
          </p:cNvPr>
          <p:cNvSpPr>
            <a:spLocks noGrp="1"/>
          </p:cNvSpPr>
          <p:nvPr>
            <p:ph type="sldNum" idx="12"/>
          </p:nvPr>
        </p:nvSpPr>
        <p:spPr/>
        <p:txBody>
          <a:bodyPr/>
          <a:lstStyle/>
          <a:p>
            <a:fld id="{00000000-1234-1234-1234-123412341234}" type="slidenum">
              <a:rPr lang="en" smtClean="0"/>
              <a:pPr/>
              <a:t>14</a:t>
            </a:fld>
            <a:r>
              <a:rPr lang="en-US" altLang="zh-CN"/>
              <a:t>/18</a:t>
            </a:r>
            <a:endParaRPr lang="en" dirty="0"/>
          </a:p>
        </p:txBody>
      </p:sp>
    </p:spTree>
    <p:extLst>
      <p:ext uri="{BB962C8B-B14F-4D97-AF65-F5344CB8AC3E}">
        <p14:creationId xmlns:p14="http://schemas.microsoft.com/office/powerpoint/2010/main" val="3464133653"/>
      </p:ext>
    </p:extLst>
  </p:cSld>
  <p:clrMapOvr>
    <a:masterClrMapping/>
  </p:clrMapOvr>
  <mc:AlternateContent xmlns:mc="http://schemas.openxmlformats.org/markup-compatibility/2006" xmlns:p14="http://schemas.microsoft.com/office/powerpoint/2010/main">
    <mc:Choice Requires="p14">
      <p:transition spd="slow" p14:dur="2000" advTm="4430"/>
    </mc:Choice>
    <mc:Fallback xmlns="">
      <p:transition spd="slow" advTm="443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Shape 139"/>
          <p:cNvSpPr txBox="1">
            <a:spLocks noGrp="1"/>
          </p:cNvSpPr>
          <p:nvPr>
            <p:ph type="title"/>
          </p:nvPr>
        </p:nvSpPr>
        <p:spPr>
          <a:xfrm>
            <a:off x="0" y="0"/>
            <a:ext cx="8222100" cy="673100"/>
          </a:xfrm>
          <a:prstGeom prst="rect">
            <a:avLst/>
          </a:prstGeom>
        </p:spPr>
        <p:txBody>
          <a:bodyPr spcFirstLastPara="1" wrap="square" lIns="91425" tIns="91425" rIns="91425" bIns="91425" anchor="b" anchorCtr="0">
            <a:noAutofit/>
          </a:bodyPr>
          <a:lstStyle/>
          <a:p>
            <a:r>
              <a:rPr lang="en-US" altLang="zh-CN" b="1" dirty="0">
                <a:latin typeface="微软雅黑" panose="020B0503020204020204" pitchFamily="34" charset="-122"/>
                <a:ea typeface="微软雅黑" panose="020B0503020204020204" pitchFamily="34" charset="-122"/>
              </a:rPr>
              <a:t>3.2 </a:t>
            </a:r>
            <a:r>
              <a:rPr lang="zh-CN" altLang="en-US" b="1" dirty="0">
                <a:latin typeface="微软雅黑" panose="020B0503020204020204" pitchFamily="34" charset="-122"/>
                <a:ea typeface="微软雅黑" panose="020B0503020204020204" pitchFamily="34" charset="-122"/>
              </a:rPr>
              <a:t>项目经历（本科论文）</a:t>
            </a:r>
            <a:endParaRPr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482599" y="889165"/>
            <a:ext cx="8299175" cy="2631490"/>
          </a:xfrm>
          <a:prstGeom prst="rect">
            <a:avLst/>
          </a:prstGeom>
          <a:noFill/>
        </p:spPr>
        <p:txBody>
          <a:bodyPr wrap="square" rtlCol="0">
            <a:spAutoFit/>
          </a:bodyPr>
          <a:lstStyle/>
          <a:p>
            <a:r>
              <a:rPr lang="zh-CN" altLang="en-US" sz="1800" dirty="0">
                <a:latin typeface="+mn-lt"/>
              </a:rPr>
              <a:t>论文题目：</a:t>
            </a:r>
            <a:r>
              <a:rPr lang="zh-CN" altLang="zh-CN" sz="1800" dirty="0">
                <a:latin typeface="+mn-lt"/>
              </a:rPr>
              <a:t>风冷冰箱内流场的数值模拟研究</a:t>
            </a:r>
            <a:r>
              <a:rPr lang="zh-CN" altLang="en-US" sz="1800" dirty="0">
                <a:latin typeface="+mn-lt"/>
              </a:rPr>
              <a:t>　（校级优秀毕业论文）</a:t>
            </a:r>
            <a:endParaRPr lang="en-US" altLang="zh-CN" sz="1800" dirty="0">
              <a:latin typeface="+mn-lt"/>
            </a:endParaRPr>
          </a:p>
          <a:p>
            <a:pPr>
              <a:lnSpc>
                <a:spcPct val="150000"/>
              </a:lnSpc>
            </a:pPr>
            <a:r>
              <a:rPr lang="zh-CN" altLang="en-US" sz="1800" dirty="0">
                <a:latin typeface="+mn-lt"/>
              </a:rPr>
              <a:t>主要研究内容：</a:t>
            </a:r>
            <a:r>
              <a:rPr lang="zh-CN" altLang="zh-CN" sz="1600" dirty="0">
                <a:latin typeface="+mn-lt"/>
              </a:rPr>
              <a:t>利用计算流体力学模拟冷藏室和冷藏风道的内部流场状况，通过分析内流场得出原始设计方案中存在的由于结构特征设计缺陷</a:t>
            </a:r>
            <a:r>
              <a:rPr lang="en-US" altLang="zh-CN" sz="1600" dirty="0">
                <a:latin typeface="+mn-lt"/>
              </a:rPr>
              <a:t>,</a:t>
            </a:r>
            <a:r>
              <a:rPr lang="zh-CN" altLang="zh-CN" sz="1600" dirty="0">
                <a:latin typeface="+mn-lt"/>
              </a:rPr>
              <a:t>此为基础对该风冷冰箱风道和冷藏室进行结构改型设计，并提出合理的改进建议，提高风冷冰箱的性能</a:t>
            </a:r>
            <a:r>
              <a:rPr lang="zh-CN" altLang="en-US" sz="1600" dirty="0">
                <a:latin typeface="+mn-lt"/>
              </a:rPr>
              <a:t>。</a:t>
            </a:r>
            <a:endParaRPr lang="en-US" altLang="zh-CN" sz="1600" dirty="0">
              <a:latin typeface="+mn-lt"/>
            </a:endParaRPr>
          </a:p>
          <a:p>
            <a:pPr>
              <a:lnSpc>
                <a:spcPct val="150000"/>
              </a:lnSpc>
            </a:pPr>
            <a:endParaRPr lang="en-US" altLang="zh-CN" sz="1600" dirty="0">
              <a:latin typeface="微软 雅黑"/>
            </a:endParaRPr>
          </a:p>
          <a:p>
            <a:pPr>
              <a:lnSpc>
                <a:spcPct val="150000"/>
              </a:lnSpc>
            </a:pPr>
            <a:endParaRPr lang="en-US" altLang="zh-CN" sz="1600" dirty="0">
              <a:latin typeface="微软 雅黑"/>
            </a:endParaRPr>
          </a:p>
          <a:p>
            <a:pPr>
              <a:lnSpc>
                <a:spcPct val="150000"/>
              </a:lnSpc>
            </a:pPr>
            <a:endParaRPr lang="zh-CN" altLang="en-US" sz="1600" dirty="0">
              <a:latin typeface="微软 雅黑"/>
            </a:endParaRPr>
          </a:p>
        </p:txBody>
      </p:sp>
      <p:pic>
        <p:nvPicPr>
          <p:cNvPr id="10" name="图片 9"/>
          <p:cNvPicPr>
            <a:picLocks noChangeAspect="1"/>
          </p:cNvPicPr>
          <p:nvPr/>
        </p:nvPicPr>
        <p:blipFill>
          <a:blip r:embed="rId3"/>
          <a:stretch>
            <a:fillRect/>
          </a:stretch>
        </p:blipFill>
        <p:spPr>
          <a:xfrm>
            <a:off x="227872" y="2632331"/>
            <a:ext cx="2673626" cy="2359827"/>
          </a:xfrm>
          <a:prstGeom prst="rect">
            <a:avLst/>
          </a:prstGeom>
        </p:spPr>
      </p:pic>
      <p:pic>
        <p:nvPicPr>
          <p:cNvPr id="11" name="图片 10"/>
          <p:cNvPicPr>
            <a:picLocks noChangeAspect="1"/>
          </p:cNvPicPr>
          <p:nvPr/>
        </p:nvPicPr>
        <p:blipFill>
          <a:blip r:embed="rId4"/>
          <a:stretch>
            <a:fillRect/>
          </a:stretch>
        </p:blipFill>
        <p:spPr>
          <a:xfrm>
            <a:off x="3021799" y="3158429"/>
            <a:ext cx="2128051" cy="1095906"/>
          </a:xfrm>
          <a:prstGeom prst="rect">
            <a:avLst/>
          </a:prstGeom>
        </p:spPr>
      </p:pic>
      <p:pic>
        <p:nvPicPr>
          <p:cNvPr id="12" name="图片 11"/>
          <p:cNvPicPr>
            <a:picLocks noChangeAspect="1"/>
          </p:cNvPicPr>
          <p:nvPr/>
        </p:nvPicPr>
        <p:blipFill>
          <a:blip r:embed="rId5"/>
          <a:stretch>
            <a:fillRect/>
          </a:stretch>
        </p:blipFill>
        <p:spPr>
          <a:xfrm>
            <a:off x="5270151" y="2676781"/>
            <a:ext cx="3842989" cy="1983592"/>
          </a:xfrm>
          <a:prstGeom prst="rect">
            <a:avLst/>
          </a:prstGeom>
        </p:spPr>
      </p:pic>
      <p:sp>
        <p:nvSpPr>
          <p:cNvPr id="4" name="灯片编号占位符 3">
            <a:extLst>
              <a:ext uri="{FF2B5EF4-FFF2-40B4-BE49-F238E27FC236}">
                <a16:creationId xmlns:a16="http://schemas.microsoft.com/office/drawing/2014/main" id="{F0223FE2-D8A3-41F7-A986-57C98125B106}"/>
              </a:ext>
            </a:extLst>
          </p:cNvPr>
          <p:cNvSpPr>
            <a:spLocks noGrp="1"/>
          </p:cNvSpPr>
          <p:nvPr>
            <p:ph type="sldNum" idx="12"/>
          </p:nvPr>
        </p:nvSpPr>
        <p:spPr/>
        <p:txBody>
          <a:bodyPr/>
          <a:lstStyle/>
          <a:p>
            <a:fld id="{00000000-1234-1234-1234-123412341234}" type="slidenum">
              <a:rPr lang="en" smtClean="0"/>
              <a:pPr/>
              <a:t>15</a:t>
            </a:fld>
            <a:r>
              <a:rPr lang="en-US" altLang="zh-CN"/>
              <a:t>/18</a:t>
            </a:r>
            <a:endParaRPr lang="en" dirty="0"/>
          </a:p>
        </p:txBody>
      </p:sp>
    </p:spTree>
    <p:extLst>
      <p:ext uri="{BB962C8B-B14F-4D97-AF65-F5344CB8AC3E}">
        <p14:creationId xmlns:p14="http://schemas.microsoft.com/office/powerpoint/2010/main" val="1700506871"/>
      </p:ext>
    </p:extLst>
  </p:cSld>
  <p:clrMapOvr>
    <a:masterClrMapping/>
  </p:clrMapOvr>
  <mc:AlternateContent xmlns:mc="http://schemas.openxmlformats.org/markup-compatibility/2006" xmlns:p14="http://schemas.microsoft.com/office/powerpoint/2010/main">
    <mc:Choice Requires="p14">
      <p:transition spd="slow" p14:dur="2000" advTm="14439"/>
    </mc:Choice>
    <mc:Fallback xmlns="">
      <p:transition spd="slow" advTm="1443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8" name="Shape 139"/>
          <p:cNvSpPr txBox="1">
            <a:spLocks noGrp="1"/>
          </p:cNvSpPr>
          <p:nvPr>
            <p:ph type="title"/>
          </p:nvPr>
        </p:nvSpPr>
        <p:spPr>
          <a:xfrm>
            <a:off x="0" y="1"/>
            <a:ext cx="8222100" cy="647700"/>
          </a:xfrm>
          <a:prstGeom prst="rect">
            <a:avLst/>
          </a:prstGeom>
        </p:spPr>
        <p:txBody>
          <a:bodyPr spcFirstLastPara="1" wrap="square" lIns="91425" tIns="91425" rIns="91425" bIns="91425" anchor="b" anchorCtr="0">
            <a:noAutofit/>
          </a:bodyPr>
          <a:lstStyle/>
          <a:p>
            <a:r>
              <a:rPr lang="zh-CN" altLang="en-US" b="1" dirty="0">
                <a:latin typeface="微软雅黑" panose="020B0503020204020204" pitchFamily="34" charset="-122"/>
                <a:ea typeface="微软雅黑" panose="020B0503020204020204" pitchFamily="34" charset="-122"/>
              </a:rPr>
              <a:t>４ 其他信息</a:t>
            </a:r>
            <a:endParaRPr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457199" y="1133061"/>
            <a:ext cx="8299175" cy="830997"/>
          </a:xfrm>
          <a:prstGeom prst="rect">
            <a:avLst/>
          </a:prstGeom>
          <a:noFill/>
        </p:spPr>
        <p:txBody>
          <a:bodyPr wrap="square" rtlCol="0">
            <a:spAutoFit/>
          </a:bodyPr>
          <a:lstStyle/>
          <a:p>
            <a:pPr>
              <a:lnSpc>
                <a:spcPct val="150000"/>
              </a:lnSpc>
            </a:pPr>
            <a:endParaRPr lang="en-US" altLang="zh-CN" sz="1600" dirty="0">
              <a:latin typeface="微软 雅黑"/>
            </a:endParaRPr>
          </a:p>
          <a:p>
            <a:pPr>
              <a:lnSpc>
                <a:spcPct val="150000"/>
              </a:lnSpc>
            </a:pPr>
            <a:endParaRPr lang="zh-CN" altLang="en-US" sz="1600" dirty="0">
              <a:latin typeface="微软 雅黑"/>
            </a:endParaRPr>
          </a:p>
        </p:txBody>
      </p:sp>
      <p:sp>
        <p:nvSpPr>
          <p:cNvPr id="6" name="文本框 5"/>
          <p:cNvSpPr txBox="1"/>
          <p:nvPr/>
        </p:nvSpPr>
        <p:spPr>
          <a:xfrm>
            <a:off x="724175" y="1548559"/>
            <a:ext cx="8299175" cy="1705403"/>
          </a:xfrm>
          <a:prstGeom prst="rect">
            <a:avLst/>
          </a:prstGeom>
          <a:noFill/>
        </p:spPr>
        <p:txBody>
          <a:bodyPr wrap="square" rtlCol="0">
            <a:spAutoFit/>
          </a:bodyPr>
          <a:lstStyle/>
          <a:p>
            <a:pPr lvl="0">
              <a:lnSpc>
                <a:spcPct val="150000"/>
              </a:lnSpc>
            </a:pPr>
            <a:r>
              <a:rPr lang="zh-CN" altLang="en-US" sz="1800" dirty="0"/>
              <a:t>英语水平</a:t>
            </a:r>
            <a:r>
              <a:rPr lang="zh-CN" altLang="zh-CN" sz="1800" dirty="0"/>
              <a:t>：</a:t>
            </a:r>
            <a:r>
              <a:rPr lang="en-US" altLang="zh-CN" dirty="0"/>
              <a:t>CET-6</a:t>
            </a:r>
            <a:r>
              <a:rPr lang="zh-CN" altLang="zh-CN" dirty="0"/>
              <a:t>（</a:t>
            </a:r>
            <a:r>
              <a:rPr lang="en-US" altLang="zh-CN" dirty="0"/>
              <a:t>482</a:t>
            </a:r>
            <a:r>
              <a:rPr lang="zh-CN" altLang="zh-CN" dirty="0"/>
              <a:t>）</a:t>
            </a:r>
            <a:r>
              <a:rPr lang="zh-CN" altLang="en-US" dirty="0"/>
              <a:t>，能正常阅读理解英文文献</a:t>
            </a:r>
            <a:endParaRPr lang="zh-CN" altLang="zh-CN" dirty="0"/>
          </a:p>
          <a:p>
            <a:pPr lvl="0">
              <a:lnSpc>
                <a:spcPct val="150000"/>
              </a:lnSpc>
            </a:pPr>
            <a:r>
              <a:rPr lang="zh-CN" altLang="zh-CN" sz="1800" dirty="0"/>
              <a:t>计算机： </a:t>
            </a:r>
            <a:r>
              <a:rPr lang="zh-CN" altLang="en-US" dirty="0"/>
              <a:t>掌握编程语言 </a:t>
            </a:r>
            <a:r>
              <a:rPr lang="en-US" altLang="zh-CN" dirty="0"/>
              <a:t>C++</a:t>
            </a:r>
            <a:r>
              <a:rPr lang="zh-CN" altLang="zh-CN" dirty="0"/>
              <a:t>、</a:t>
            </a:r>
            <a:r>
              <a:rPr lang="zh-CN" altLang="en-US" dirty="0"/>
              <a:t>熟悉常用</a:t>
            </a:r>
            <a:r>
              <a:rPr lang="zh-CN" altLang="zh-CN" dirty="0"/>
              <a:t>数据结构与算法、开发工具</a:t>
            </a:r>
            <a:r>
              <a:rPr lang="en-US" altLang="zh-CN" dirty="0"/>
              <a:t>Visual Studio</a:t>
            </a:r>
            <a:r>
              <a:rPr lang="zh-CN" altLang="en-US" dirty="0"/>
              <a:t>和</a:t>
            </a:r>
            <a:r>
              <a:rPr lang="en-US" altLang="zh-CN" dirty="0"/>
              <a:t>Qt Creator</a:t>
            </a:r>
            <a:r>
              <a:rPr lang="zh-CN" altLang="zh-CN" dirty="0"/>
              <a:t>；</a:t>
            </a:r>
            <a:endParaRPr lang="en-US" altLang="zh-CN" dirty="0"/>
          </a:p>
          <a:p>
            <a:pPr lvl="0">
              <a:lnSpc>
                <a:spcPct val="150000"/>
              </a:lnSpc>
            </a:pPr>
            <a:r>
              <a:rPr lang="en-US" altLang="zh-CN" sz="1800" dirty="0"/>
              <a:t>CAE</a:t>
            </a:r>
            <a:r>
              <a:rPr lang="zh-CN" altLang="en-US" sz="1800" dirty="0"/>
              <a:t>软件开发经验</a:t>
            </a:r>
            <a:r>
              <a:rPr lang="zh-CN" altLang="en-US" dirty="0"/>
              <a:t>：</a:t>
            </a:r>
            <a:r>
              <a:rPr lang="en-US" altLang="zh-CN" dirty="0"/>
              <a:t>5</a:t>
            </a:r>
            <a:r>
              <a:rPr lang="zh-CN" altLang="en-US" dirty="0"/>
              <a:t>年行业经验，掌握开源库</a:t>
            </a:r>
            <a:r>
              <a:rPr lang="en-US" altLang="zh-CN" dirty="0"/>
              <a:t>OCC</a:t>
            </a:r>
            <a:r>
              <a:rPr lang="zh-CN" altLang="en-US" dirty="0"/>
              <a:t>、 </a:t>
            </a:r>
            <a:r>
              <a:rPr lang="en-US" altLang="zh-CN" dirty="0"/>
              <a:t>VTK</a:t>
            </a:r>
            <a:r>
              <a:rPr lang="zh-CN" altLang="en-US" dirty="0"/>
              <a:t>、</a:t>
            </a:r>
            <a:r>
              <a:rPr lang="en-US" altLang="zh-CN" dirty="0"/>
              <a:t>Qt</a:t>
            </a:r>
            <a:r>
              <a:rPr lang="zh-CN" altLang="en-US" dirty="0"/>
              <a:t>、</a:t>
            </a:r>
            <a:r>
              <a:rPr lang="en-US" altLang="zh-CN" dirty="0"/>
              <a:t>Salome</a:t>
            </a:r>
            <a:r>
              <a:rPr lang="zh-CN" altLang="en-US" dirty="0"/>
              <a:t>、</a:t>
            </a:r>
            <a:r>
              <a:rPr lang="en-US" altLang="zh-CN" dirty="0" err="1"/>
              <a:t>FastCAE</a:t>
            </a:r>
            <a:endParaRPr lang="zh-CN" altLang="zh-CN" dirty="0"/>
          </a:p>
          <a:p>
            <a:pPr lvl="0">
              <a:lnSpc>
                <a:spcPct val="150000"/>
              </a:lnSpc>
            </a:pPr>
            <a:r>
              <a:rPr lang="zh-CN" altLang="zh-CN" sz="1800" dirty="0"/>
              <a:t>应用软件：</a:t>
            </a:r>
            <a:r>
              <a:rPr lang="en-US" altLang="zh-CN" dirty="0"/>
              <a:t>Microsoft office</a:t>
            </a:r>
            <a:r>
              <a:rPr lang="zh-CN" altLang="zh-CN" dirty="0"/>
              <a:t>，三维绘图软件</a:t>
            </a:r>
            <a:r>
              <a:rPr lang="en-US" altLang="zh-CN" dirty="0"/>
              <a:t>(Core)</a:t>
            </a:r>
            <a:r>
              <a:rPr lang="zh-CN" altLang="en-US" dirty="0"/>
              <a:t>、透平设计软件（</a:t>
            </a:r>
            <a:r>
              <a:rPr lang="en-US" altLang="zh-CN" dirty="0"/>
              <a:t>CN</a:t>
            </a:r>
            <a:r>
              <a:rPr lang="zh-CN" altLang="en-US" dirty="0"/>
              <a:t>）</a:t>
            </a:r>
            <a:endParaRPr lang="zh-CN" altLang="en-US" sz="1600" dirty="0">
              <a:latin typeface="微软 雅黑"/>
            </a:endParaRPr>
          </a:p>
        </p:txBody>
      </p:sp>
      <p:sp>
        <p:nvSpPr>
          <p:cNvPr id="4" name="灯片编号占位符 3">
            <a:extLst>
              <a:ext uri="{FF2B5EF4-FFF2-40B4-BE49-F238E27FC236}">
                <a16:creationId xmlns:a16="http://schemas.microsoft.com/office/drawing/2014/main" id="{D5E29164-7E99-4728-8461-424871D4BB5F}"/>
              </a:ext>
            </a:extLst>
          </p:cNvPr>
          <p:cNvSpPr>
            <a:spLocks noGrp="1"/>
          </p:cNvSpPr>
          <p:nvPr>
            <p:ph type="sldNum" idx="12"/>
          </p:nvPr>
        </p:nvSpPr>
        <p:spPr/>
        <p:txBody>
          <a:bodyPr/>
          <a:lstStyle/>
          <a:p>
            <a:fld id="{00000000-1234-1234-1234-123412341234}" type="slidenum">
              <a:rPr lang="en" smtClean="0"/>
              <a:pPr/>
              <a:t>16</a:t>
            </a:fld>
            <a:r>
              <a:rPr lang="en-US" altLang="zh-CN"/>
              <a:t>/18</a:t>
            </a:r>
            <a:endParaRPr lang="en" dirty="0"/>
          </a:p>
        </p:txBody>
      </p:sp>
    </p:spTree>
    <p:extLst>
      <p:ext uri="{BB962C8B-B14F-4D97-AF65-F5344CB8AC3E}">
        <p14:creationId xmlns:p14="http://schemas.microsoft.com/office/powerpoint/2010/main" val="1975206990"/>
      </p:ext>
    </p:extLst>
  </p:cSld>
  <p:clrMapOvr>
    <a:masterClrMapping/>
  </p:clrMapOvr>
  <mc:AlternateContent xmlns:mc="http://schemas.openxmlformats.org/markup-compatibility/2006" xmlns:p14="http://schemas.microsoft.com/office/powerpoint/2010/main">
    <mc:Choice Requires="p14">
      <p:transition spd="slow" p14:dur="2000" advTm="45052"/>
    </mc:Choice>
    <mc:Fallback xmlns="">
      <p:transition spd="slow" advTm="4505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Shape 145"/>
          <p:cNvSpPr txBox="1">
            <a:spLocks noGrp="1"/>
          </p:cNvSpPr>
          <p:nvPr>
            <p:ph type="title"/>
          </p:nvPr>
        </p:nvSpPr>
        <p:spPr>
          <a:xfrm>
            <a:off x="265500" y="1912650"/>
            <a:ext cx="4045200" cy="1318200"/>
          </a:xfrm>
          <a:prstGeom prst="rect">
            <a:avLst/>
          </a:prstGeom>
        </p:spPr>
        <p:txBody>
          <a:bodyPr spcFirstLastPara="1" wrap="square" lIns="91425" tIns="91425" rIns="91425" bIns="91425" anchor="ctr" anchorCtr="0">
            <a:noAutofit/>
          </a:bodyPr>
          <a:lstStyle/>
          <a:p>
            <a:r>
              <a:rPr lang="zh-CN" altLang="en-US" dirty="0"/>
              <a:t>谢谢！</a:t>
            </a:r>
            <a:endParaRPr dirty="0"/>
          </a:p>
        </p:txBody>
      </p:sp>
      <p:sp>
        <p:nvSpPr>
          <p:cNvPr id="4" name="灯片编号占位符 3">
            <a:extLst>
              <a:ext uri="{FF2B5EF4-FFF2-40B4-BE49-F238E27FC236}">
                <a16:creationId xmlns:a16="http://schemas.microsoft.com/office/drawing/2014/main" id="{C90A76C1-88E4-428F-AD64-C0B54C5CF22F}"/>
              </a:ext>
            </a:extLst>
          </p:cNvPr>
          <p:cNvSpPr>
            <a:spLocks noGrp="1"/>
          </p:cNvSpPr>
          <p:nvPr>
            <p:ph type="sldNum" idx="12"/>
          </p:nvPr>
        </p:nvSpPr>
        <p:spPr/>
        <p:txBody>
          <a:bodyPr/>
          <a:lstStyle/>
          <a:p>
            <a:fld id="{00000000-1234-1234-1234-123412341234}" type="slidenum">
              <a:rPr lang="en" smtClean="0"/>
              <a:pPr/>
              <a:t>17</a:t>
            </a:fld>
            <a:endParaRPr lang="en"/>
          </a:p>
        </p:txBody>
      </p:sp>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17514</TotalTime>
  <Words>1130</Words>
  <Application>Microsoft Office PowerPoint</Application>
  <PresentationFormat>全屏显示(16:9)</PresentationFormat>
  <Paragraphs>120</Paragraphs>
  <Slides>17</Slides>
  <Notes>17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黑体</vt:lpstr>
      <vt:lpstr>Calibri</vt:lpstr>
      <vt:lpstr>微软雅黑</vt:lpstr>
      <vt:lpstr>Wingdings</vt:lpstr>
      <vt:lpstr>Times New Roman</vt:lpstr>
      <vt:lpstr>微软 雅黑</vt:lpstr>
      <vt:lpstr>Roboto</vt:lpstr>
      <vt:lpstr>Arial</vt:lpstr>
      <vt:lpstr>宋体</vt:lpstr>
      <vt:lpstr>Material</vt:lpstr>
      <vt:lpstr>工作经验 </vt:lpstr>
      <vt:lpstr>目录</vt:lpstr>
      <vt:lpstr>２项目经历</vt:lpstr>
      <vt:lpstr>２项目经历（CUMS前处理几何建模开发）</vt:lpstr>
      <vt:lpstr>PowerPoint 演示文稿</vt:lpstr>
      <vt:lpstr>２.2 项目经历（一维数字化智能设计模块）</vt:lpstr>
      <vt:lpstr>２.2 项目经历（一维数字化智能设计模块）</vt:lpstr>
      <vt:lpstr>２.3 项目经历（二维通流和叶片间流场仿真）</vt:lpstr>
      <vt:lpstr>２.3 项目经历（二维通流和叶片间流场仿真）</vt:lpstr>
      <vt:lpstr>2.4 项目经历（飞机线束三维设计协同平台）</vt:lpstr>
      <vt:lpstr>２.4 项目经历（飞机线束三维设计协同平台）</vt:lpstr>
      <vt:lpstr>２.5 项目经历（CUMS数据处理服务系统）</vt:lpstr>
      <vt:lpstr>3.1  科研经历（硕士研究）</vt:lpstr>
      <vt:lpstr>3.1 科研经历（硕士研究）</vt:lpstr>
      <vt:lpstr>3.2 项目经历（本科论文）</vt:lpstr>
      <vt:lpstr>４ 其他信息</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Status Report: Rankine cycle and ORC</dc:title>
  <dc:creator>yzq</dc:creator>
  <cp:lastModifiedBy>ye ziqiang</cp:lastModifiedBy>
  <cp:revision>690</cp:revision>
  <dcterms:modified xsi:type="dcterms:W3CDTF">2022-11-30T08:48:23Z</dcterms:modified>
</cp:coreProperties>
</file>