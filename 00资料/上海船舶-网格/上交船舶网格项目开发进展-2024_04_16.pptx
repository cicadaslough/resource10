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486" r:id="rId5"/>
    <p:sldId id="574" r:id="rId6"/>
    <p:sldId id="584" r:id="rId7"/>
    <p:sldId id="592" r:id="rId8"/>
    <p:sldId id="595" r:id="rId9"/>
    <p:sldId id="596" r:id="rId10"/>
    <p:sldId id="612" r:id="rId11"/>
    <p:sldId id="597" r:id="rId12"/>
    <p:sldId id="599" r:id="rId13"/>
    <p:sldId id="600" r:id="rId14"/>
    <p:sldId id="594" r:id="rId15"/>
    <p:sldId id="601" r:id="rId16"/>
    <p:sldId id="554" r:id="rId17"/>
    <p:sldId id="583" r:id="rId18"/>
    <p:sldId id="585" r:id="rId19"/>
    <p:sldId id="586" r:id="rId20"/>
    <p:sldId id="587" r:id="rId21"/>
    <p:sldId id="588" r:id="rId22"/>
    <p:sldId id="590" r:id="rId23"/>
    <p:sldId id="589" r:id="rId24"/>
    <p:sldId id="591"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1590BD"/>
    <a:srgbClr val="E0CFE7"/>
    <a:srgbClr val="CED0D2"/>
    <a:srgbClr val="CDD0D2"/>
    <a:srgbClr val="6E7EA8"/>
    <a:srgbClr val="0C2D67"/>
    <a:srgbClr val="061A37"/>
    <a:srgbClr val="1891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06" autoAdjust="0"/>
    <p:restoredTop sz="93284" autoAdjust="0"/>
  </p:normalViewPr>
  <p:slideViewPr>
    <p:cSldViewPr snapToGrid="0">
      <p:cViewPr varScale="1">
        <p:scale>
          <a:sx n="107" d="100"/>
          <a:sy n="107" d="100"/>
        </p:scale>
        <p:origin x="996"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封面">
    <p:spTree>
      <p:nvGrpSpPr>
        <p:cNvPr id="1" name=""/>
        <p:cNvGrpSpPr/>
        <p:nvPr/>
      </p:nvGrpSpPr>
      <p:grpSpPr>
        <a:xfrm>
          <a:off x="0" y="0"/>
          <a:ext cx="0" cy="0"/>
          <a:chOff x="0" y="0"/>
          <a:chExt cx="0" cy="0"/>
        </a:xfrm>
      </p:grpSpPr>
      <p:pic>
        <p:nvPicPr>
          <p:cNvPr id="8" name="图片 7" descr="E:\熊猫\1.索为\1.ME的工作\2.魏春芳\2017.03.01-索为系统VI\模板\PPT\PPT封面-1.jpgPPT封面-1"/>
          <p:cNvPicPr>
            <a:picLocks noChangeAspect="1"/>
          </p:cNvPicPr>
          <p:nvPr userDrawn="1"/>
        </p:nvPicPr>
        <p:blipFill>
          <a:blip r:embed="rId2"/>
          <a:srcRect/>
          <a:stretch>
            <a:fillRect/>
          </a:stretch>
        </p:blipFill>
        <p:spPr>
          <a:xfrm>
            <a:off x="-6985" y="-3810"/>
            <a:ext cx="12226925" cy="68662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178"/>
            <a:ext cx="12192000" cy="6849643"/>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4178"/>
            <a:ext cx="12192000" cy="6849643"/>
          </a:xfrm>
          <a:prstGeom prst="rect">
            <a:avLst/>
          </a:prstGeom>
        </p:spPr>
      </p:pic>
      <p:pic>
        <p:nvPicPr>
          <p:cNvPr id="7" name="图片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1910" y="4178"/>
            <a:ext cx="12192000" cy="684964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前言">
    <p:spTree>
      <p:nvGrpSpPr>
        <p:cNvPr id="1" name=""/>
        <p:cNvGrpSpPr/>
        <p:nvPr/>
      </p:nvGrpSpPr>
      <p:grpSpPr>
        <a:xfrm>
          <a:off x="0" y="0"/>
          <a:ext cx="0" cy="0"/>
          <a:chOff x="0" y="0"/>
          <a:chExt cx="0" cy="0"/>
        </a:xfrm>
      </p:grpSpPr>
      <p:cxnSp>
        <p:nvCxnSpPr>
          <p:cNvPr id="15" name="直接连接符 14"/>
          <p:cNvCxnSpPr/>
          <p:nvPr userDrawn="1"/>
        </p:nvCxnSpPr>
        <p:spPr>
          <a:xfrm>
            <a:off x="754380" y="400050"/>
            <a:ext cx="916876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标题 1"/>
          <p:cNvSpPr>
            <a:spLocks noGrp="1"/>
          </p:cNvSpPr>
          <p:nvPr>
            <p:ph type="title" hasCustomPrompt="1"/>
          </p:nvPr>
        </p:nvSpPr>
        <p:spPr>
          <a:xfrm>
            <a:off x="864870" y="991767"/>
            <a:ext cx="10515600" cy="664506"/>
          </a:xfrm>
          <a:prstGeom prst="rect">
            <a:avLst/>
          </a:prstGeom>
        </p:spPr>
        <p:txBody>
          <a:bodyPr/>
          <a:lstStyle>
            <a:lvl1pPr>
              <a:defRPr lang="zh-CN" altLang="en-US" sz="3200" b="1" kern="1200" dirty="0">
                <a:solidFill>
                  <a:schemeClr val="accent2"/>
                </a:solidFill>
                <a:latin typeface="微软雅黑" panose="020B0503020204020204" charset="-122"/>
                <a:ea typeface="微软雅黑" panose="020B0503020204020204" charset="-122"/>
                <a:cs typeface="+mn-cs"/>
              </a:defRPr>
            </a:lvl1pPr>
          </a:lstStyle>
          <a:p>
            <a:r>
              <a:rPr lang="zh-CN" altLang="en-US" dirty="0"/>
              <a:t>前言</a:t>
            </a:r>
            <a:endParaRPr lang="zh-CN" altLang="en-US" dirty="0"/>
          </a:p>
        </p:txBody>
      </p:sp>
      <p:sp>
        <p:nvSpPr>
          <p:cNvPr id="5" name="文本占位符 10"/>
          <p:cNvSpPr>
            <a:spLocks noGrp="1"/>
          </p:cNvSpPr>
          <p:nvPr>
            <p:ph type="body" sz="quarter" idx="10" hasCustomPrompt="1"/>
          </p:nvPr>
        </p:nvSpPr>
        <p:spPr>
          <a:xfrm>
            <a:off x="838200" y="2628900"/>
            <a:ext cx="10515600" cy="1990725"/>
          </a:xfrm>
          <a:prstGeom prst="rect">
            <a:avLst/>
          </a:prstGeom>
        </p:spPr>
        <p:txBody>
          <a:bodyPr/>
          <a:lstStyle>
            <a:lvl1pPr marL="0" marR="0" indent="0" algn="l" defTabSz="914400" rtl="0" eaLnBrk="1" fontAlgn="auto" latinLnBrk="0" hangingPunct="1">
              <a:lnSpc>
                <a:spcPct val="150000"/>
              </a:lnSpc>
              <a:spcBef>
                <a:spcPct val="0"/>
              </a:spcBef>
              <a:spcAft>
                <a:spcPts val="0"/>
              </a:spcAft>
              <a:buClrTx/>
              <a:buSzTx/>
              <a:buFontTx/>
              <a:buNone/>
              <a:defRPr lang="zh-CN" altLang="en-US" sz="1400" b="0" kern="1200">
                <a:solidFill>
                  <a:schemeClr val="tx1">
                    <a:lumMod val="85000"/>
                    <a:lumOff val="15000"/>
                  </a:schemeClr>
                </a:solidFill>
                <a:latin typeface="微软雅黑" panose="020B0503020204020204" charset="-122"/>
                <a:ea typeface="微软雅黑" panose="020B0503020204020204" charset="-122"/>
                <a:cs typeface="+mn-cs"/>
              </a:defRPr>
            </a:lvl1pPr>
          </a:lstStyle>
          <a:p>
            <a:pPr marL="0" marR="0" lvl="0" indent="0" algn="l" defTabSz="914400" rtl="0" eaLnBrk="1" fontAlgn="auto" latinLnBrk="0" hangingPunct="1">
              <a:lnSpc>
                <a:spcPct val="150000"/>
              </a:lnSpc>
              <a:spcBef>
                <a:spcPct val="0"/>
              </a:spcBef>
              <a:spcAft>
                <a:spcPts val="0"/>
              </a:spcAft>
              <a:buClrTx/>
              <a:buSzTx/>
              <a:buFontTx/>
              <a:buNone/>
              <a:defRPr/>
            </a:pPr>
            <a:r>
              <a:rPr lang="zh-CN" altLang="en-US" sz="1400" b="0" kern="1200" dirty="0">
                <a:solidFill>
                  <a:schemeClr val="tx1">
                    <a:lumMod val="85000"/>
                    <a:lumOff val="15000"/>
                  </a:schemeClr>
                </a:solidFill>
                <a:latin typeface="微软雅黑" panose="020B0503020204020204" charset="-122"/>
                <a:ea typeface="微软雅黑" panose="020B0503020204020204" charset="-122"/>
                <a:cs typeface="+mn-cs"/>
              </a:rPr>
              <a:t>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单击此处编辑正文</a:t>
            </a:r>
            <a:endParaRPr lang="zh-CN" altLang="en-US" sz="1400" b="0" kern="1200" dirty="0">
              <a:solidFill>
                <a:schemeClr val="tx1">
                  <a:lumMod val="85000"/>
                  <a:lumOff val="15000"/>
                </a:schemeClr>
              </a:solidFill>
              <a:latin typeface="微软雅黑" panose="020B0503020204020204" charset="-122"/>
              <a:ea typeface="微软雅黑" panose="020B050302020402020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cxnSp>
        <p:nvCxnSpPr>
          <p:cNvPr id="4" name="直接连接符 3"/>
          <p:cNvCxnSpPr/>
          <p:nvPr userDrawn="1"/>
        </p:nvCxnSpPr>
        <p:spPr>
          <a:xfrm>
            <a:off x="754380" y="400050"/>
            <a:ext cx="916876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等腰三角形 4"/>
          <p:cNvSpPr/>
          <p:nvPr userDrawn="1"/>
        </p:nvSpPr>
        <p:spPr>
          <a:xfrm>
            <a:off x="3440430" y="1797050"/>
            <a:ext cx="1101725" cy="1106170"/>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6" name="等腰三角形 5"/>
          <p:cNvSpPr/>
          <p:nvPr userDrawn="1"/>
        </p:nvSpPr>
        <p:spPr>
          <a:xfrm flipV="1">
            <a:off x="234315" y="3114040"/>
            <a:ext cx="1101725" cy="1106170"/>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7" name="矩形 6"/>
          <p:cNvSpPr/>
          <p:nvPr userDrawn="1"/>
        </p:nvSpPr>
        <p:spPr>
          <a:xfrm>
            <a:off x="-8255" y="2056765"/>
            <a:ext cx="12207875" cy="1898650"/>
          </a:xfrm>
          <a:prstGeom prst="rect">
            <a:avLst/>
          </a:prstGeom>
          <a:solidFill>
            <a:srgbClr val="CED0D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8" name="平行四边形 7"/>
          <p:cNvSpPr/>
          <p:nvPr userDrawn="1"/>
        </p:nvSpPr>
        <p:spPr>
          <a:xfrm>
            <a:off x="782955" y="1797050"/>
            <a:ext cx="3213735" cy="2416175"/>
          </a:xfrm>
          <a:prstGeom prst="parallelogram">
            <a:avLst>
              <a:gd name="adj" fmla="val 48207"/>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9" name="文本占位符 17"/>
          <p:cNvSpPr>
            <a:spLocks noGrp="1"/>
          </p:cNvSpPr>
          <p:nvPr>
            <p:ph type="body" sz="quarter" idx="13" hasCustomPrompt="1"/>
          </p:nvPr>
        </p:nvSpPr>
        <p:spPr>
          <a:xfrm>
            <a:off x="1708020" y="2400810"/>
            <a:ext cx="1363605" cy="1209924"/>
          </a:xfrm>
          <a:prstGeom prst="rect">
            <a:avLst/>
          </a:prstGeom>
        </p:spPr>
        <p:txBody>
          <a:bodyPr anchor="ctr" anchorCtr="0"/>
          <a:lstStyle>
            <a:lvl1pPr marL="0" indent="0" algn="ctr">
              <a:buNone/>
              <a:defRPr lang="zh-CN" altLang="en-US" sz="6000" kern="1200" dirty="0" smtClean="0">
                <a:solidFill>
                  <a:schemeClr val="bg1"/>
                </a:solidFill>
                <a:latin typeface="Impact" panose="020B0806030902050204" pitchFamily="34" charset="0"/>
                <a:ea typeface="+mn-ea"/>
                <a:cs typeface="+mn-cs"/>
              </a:defRPr>
            </a:lvl1pPr>
          </a:lstStyle>
          <a:p>
            <a:pPr lvl="0"/>
            <a:r>
              <a:rPr lang="en-US" altLang="zh-CN" dirty="0"/>
              <a:t>01</a:t>
            </a:r>
            <a:endParaRPr lang="zh-CN" altLang="en-US" dirty="0"/>
          </a:p>
        </p:txBody>
      </p:sp>
      <p:sp>
        <p:nvSpPr>
          <p:cNvPr id="10" name="文本占位符 21"/>
          <p:cNvSpPr>
            <a:spLocks noGrp="1"/>
          </p:cNvSpPr>
          <p:nvPr>
            <p:ph type="body" sz="quarter" idx="14" hasCustomPrompt="1"/>
          </p:nvPr>
        </p:nvSpPr>
        <p:spPr>
          <a:xfrm>
            <a:off x="3851399" y="3086388"/>
            <a:ext cx="6200775" cy="485775"/>
          </a:xfrm>
          <a:prstGeom prst="rect">
            <a:avLst/>
          </a:prstGeom>
        </p:spPr>
        <p:txBody>
          <a:bodyPr/>
          <a:lstStyle>
            <a:lvl1pPr marL="0" indent="0">
              <a:buNone/>
              <a:defRPr lang="zh-CN" altLang="en-US" sz="1400" kern="1200" dirty="0">
                <a:solidFill>
                  <a:schemeClr val="tx1">
                    <a:lumMod val="75000"/>
                    <a:lumOff val="25000"/>
                  </a:schemeClr>
                </a:solidFill>
                <a:latin typeface="微软雅黑" panose="020B0503020204020204" charset="-122"/>
                <a:ea typeface="微软雅黑" panose="020B0503020204020204" charset="-122"/>
                <a:cs typeface="+mn-cs"/>
              </a:defRPr>
            </a:lvl1pPr>
          </a:lstStyle>
          <a:p>
            <a:pPr eaLnBrk="0" hangingPunct="0"/>
            <a:r>
              <a:rPr lang="zh-CN" altLang="en-US" sz="1400" dirty="0">
                <a:solidFill>
                  <a:schemeClr val="tx1">
                    <a:lumMod val="75000"/>
                    <a:lumOff val="25000"/>
                  </a:schemeClr>
                </a:solidFill>
                <a:latin typeface="微软雅黑" panose="020B0503020204020204" charset="-122"/>
                <a:ea typeface="微软雅黑" panose="020B0503020204020204" charset="-122"/>
                <a:sym typeface="微软雅黑" panose="020B0503020204020204" charset="-122"/>
              </a:rPr>
              <a:t>点击此处添加副标题文本内容</a:t>
            </a:r>
            <a:endParaRPr lang="zh-CN" altLang="en-US" sz="1400" dirty="0">
              <a:solidFill>
                <a:schemeClr val="tx1">
                  <a:lumMod val="75000"/>
                  <a:lumOff val="25000"/>
                </a:schemeClr>
              </a:solidFill>
              <a:latin typeface="微软雅黑" panose="020B0503020204020204" charset="-122"/>
              <a:ea typeface="微软雅黑" panose="020B0503020204020204" charset="-122"/>
              <a:sym typeface="微软雅黑" panose="020B0503020204020204" charset="-122"/>
            </a:endParaRPr>
          </a:p>
        </p:txBody>
      </p:sp>
      <p:sp>
        <p:nvSpPr>
          <p:cNvPr id="11" name="文本占位符 24"/>
          <p:cNvSpPr>
            <a:spLocks noGrp="1"/>
          </p:cNvSpPr>
          <p:nvPr>
            <p:ph type="body" sz="quarter" idx="15" hasCustomPrompt="1"/>
          </p:nvPr>
        </p:nvSpPr>
        <p:spPr>
          <a:xfrm>
            <a:off x="3851275" y="2406650"/>
            <a:ext cx="6435725" cy="574675"/>
          </a:xfrm>
          <a:prstGeom prst="rect">
            <a:avLst/>
          </a:prstGeom>
        </p:spPr>
        <p:txBody>
          <a:bodyPr/>
          <a:lstStyle>
            <a:lvl1pPr marL="0" indent="0">
              <a:buNone/>
              <a:defRPr lang="zh-CN" altLang="en-US" sz="3200" b="1" kern="1200" dirty="0">
                <a:solidFill>
                  <a:schemeClr val="tx1">
                    <a:lumMod val="75000"/>
                    <a:lumOff val="25000"/>
                  </a:schemeClr>
                </a:solidFill>
                <a:latin typeface="微软雅黑" panose="020B0503020204020204" charset="-122"/>
                <a:ea typeface="微软雅黑" panose="020B0503020204020204" charset="-122"/>
                <a:cs typeface="+mn-cs"/>
              </a:defRPr>
            </a:lvl1pPr>
            <a:lvl2pPr marL="457200" indent="0">
              <a:buNone/>
              <a:defRPr/>
            </a:lvl2pPr>
          </a:lstStyle>
          <a:p>
            <a:pPr lvl="0"/>
            <a:r>
              <a:rPr lang="zh-CN" altLang="en-US" dirty="0"/>
              <a:t>编辑大标题</a:t>
            </a:r>
            <a:endParaRPr lang="en-US" altLang="zh-CN" dirty="0"/>
          </a:p>
          <a:p>
            <a:pPr lvl="0"/>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内页版式1">
    <p:spTree>
      <p:nvGrpSpPr>
        <p:cNvPr id="1" name=""/>
        <p:cNvGrpSpPr/>
        <p:nvPr/>
      </p:nvGrpSpPr>
      <p:grpSpPr>
        <a:xfrm>
          <a:off x="0" y="0"/>
          <a:ext cx="0" cy="0"/>
          <a:chOff x="0" y="0"/>
          <a:chExt cx="0" cy="0"/>
        </a:xfrm>
      </p:grpSpPr>
      <p:cxnSp>
        <p:nvCxnSpPr>
          <p:cNvPr id="4" name="直接连接符 3"/>
          <p:cNvCxnSpPr/>
          <p:nvPr userDrawn="1"/>
        </p:nvCxnSpPr>
        <p:spPr>
          <a:xfrm>
            <a:off x="754380" y="400050"/>
            <a:ext cx="916876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内页版式2">
    <p:spTree>
      <p:nvGrpSpPr>
        <p:cNvPr id="1" name=""/>
        <p:cNvGrpSpPr/>
        <p:nvPr/>
      </p:nvGrpSpPr>
      <p:grpSpPr>
        <a:xfrm>
          <a:off x="0" y="0"/>
          <a:ext cx="0" cy="0"/>
          <a:chOff x="0" y="0"/>
          <a:chExt cx="0" cy="0"/>
        </a:xfrm>
      </p:grpSpPr>
      <p:cxnSp>
        <p:nvCxnSpPr>
          <p:cNvPr id="3" name="直接连接符 2"/>
          <p:cNvCxnSpPr/>
          <p:nvPr userDrawn="1"/>
        </p:nvCxnSpPr>
        <p:spPr>
          <a:xfrm>
            <a:off x="714375" y="781871"/>
            <a:ext cx="1082357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 name="Group 7"/>
          <p:cNvGrpSpPr/>
          <p:nvPr userDrawn="1"/>
        </p:nvGrpSpPr>
        <p:grpSpPr bwMode="auto">
          <a:xfrm>
            <a:off x="323528" y="319565"/>
            <a:ext cx="390372" cy="205979"/>
            <a:chOff x="0" y="0"/>
            <a:chExt cx="1041399" cy="549275"/>
          </a:xfrm>
        </p:grpSpPr>
        <p:sp>
          <p:nvSpPr>
            <p:cNvPr id="5"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9" name="标题 4"/>
          <p:cNvSpPr>
            <a:spLocks noGrp="1"/>
          </p:cNvSpPr>
          <p:nvPr>
            <p:ph type="title"/>
          </p:nvPr>
        </p:nvSpPr>
        <p:spPr>
          <a:xfrm>
            <a:off x="725562" y="226089"/>
            <a:ext cx="10515600" cy="1325563"/>
          </a:xfrm>
          <a:prstGeom prst="rect">
            <a:avLst/>
          </a:prstGeom>
        </p:spPr>
        <p:txBody>
          <a:bodyPr/>
          <a:lstStyle>
            <a:lvl1pPr>
              <a:defRPr lang="zh-CN" altLang="en-US" sz="3200" b="1" kern="1200" dirty="0">
                <a:solidFill>
                  <a:schemeClr val="tx1">
                    <a:lumMod val="75000"/>
                    <a:lumOff val="25000"/>
                  </a:schemeClr>
                </a:solidFill>
                <a:latin typeface="微软雅黑" panose="020B0503020204020204" charset="-122"/>
                <a:ea typeface="微软雅黑" panose="020B0503020204020204" charset="-122"/>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单击此处编辑母版标题样式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内页版式3">
    <p:spTree>
      <p:nvGrpSpPr>
        <p:cNvPr id="1" name=""/>
        <p:cNvGrpSpPr/>
        <p:nvPr/>
      </p:nvGrpSpPr>
      <p:grpSpPr>
        <a:xfrm>
          <a:off x="0" y="0"/>
          <a:ext cx="0" cy="0"/>
          <a:chOff x="0" y="0"/>
          <a:chExt cx="0" cy="0"/>
        </a:xfrm>
      </p:grpSpPr>
      <p:cxnSp>
        <p:nvCxnSpPr>
          <p:cNvPr id="3" name="直接连接符 2"/>
          <p:cNvCxnSpPr/>
          <p:nvPr userDrawn="1"/>
        </p:nvCxnSpPr>
        <p:spPr>
          <a:xfrm>
            <a:off x="714375" y="781871"/>
            <a:ext cx="1082357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 name="Group 7"/>
          <p:cNvGrpSpPr/>
          <p:nvPr userDrawn="1"/>
        </p:nvGrpSpPr>
        <p:grpSpPr bwMode="auto">
          <a:xfrm>
            <a:off x="323528" y="319565"/>
            <a:ext cx="390372" cy="205979"/>
            <a:chOff x="0" y="0"/>
            <a:chExt cx="1041399" cy="549275"/>
          </a:xfrm>
        </p:grpSpPr>
        <p:sp>
          <p:nvSpPr>
            <p:cNvPr id="5"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9" name="内容占位符 2"/>
          <p:cNvSpPr>
            <a:spLocks noGrp="1"/>
          </p:cNvSpPr>
          <p:nvPr>
            <p:ph sz="quarter" idx="13" hasCustomPrompt="1"/>
          </p:nvPr>
        </p:nvSpPr>
        <p:spPr>
          <a:xfrm>
            <a:off x="914878" y="3479381"/>
            <a:ext cx="5267325" cy="905468"/>
          </a:xfrm>
          <a:prstGeom prst="rect">
            <a:avLst/>
          </a:prstGeom>
        </p:spPr>
        <p:txBody>
          <a:bodyPr/>
          <a:lstStyle>
            <a:lvl1pPr marL="228600" indent="-228600">
              <a:buClr>
                <a:srgbClr val="ED7D31"/>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85800" indent="-228600">
              <a:buClr>
                <a:srgbClr val="ED7D31"/>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buFont typeface="Wingdings" panose="05000000000000000000" pitchFamily="2" charset="2"/>
              <a:buChar char="Ø"/>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3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en-US" altLang="zh-CN" dirty="0"/>
          </a:p>
          <a:p>
            <a:pPr lvl="2"/>
            <a:endParaRPr lang="en-US" altLang="zh-CN" dirty="0"/>
          </a:p>
          <a:p>
            <a:pPr lvl="2"/>
            <a:endParaRPr lang="zh-CN" altLang="en-US" dirty="0"/>
          </a:p>
        </p:txBody>
      </p:sp>
      <p:sp>
        <p:nvSpPr>
          <p:cNvPr id="10" name="文本占位符 3"/>
          <p:cNvSpPr>
            <a:spLocks noGrp="1"/>
          </p:cNvSpPr>
          <p:nvPr>
            <p:ph type="body" sz="quarter" idx="14" hasCustomPrompt="1"/>
          </p:nvPr>
        </p:nvSpPr>
        <p:spPr>
          <a:xfrm>
            <a:off x="914878" y="1420807"/>
            <a:ext cx="5267325" cy="893004"/>
          </a:xfrm>
          <a:prstGeom prst="rect">
            <a:avLst/>
          </a:prstGeom>
        </p:spPr>
        <p:txBody>
          <a:bodyPr/>
          <a:lstStyle>
            <a:lvl1pPr marL="228600" indent="-228600">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en-US" altLang="zh-CN" dirty="0"/>
          </a:p>
        </p:txBody>
      </p:sp>
      <p:sp>
        <p:nvSpPr>
          <p:cNvPr id="11" name="标题 4"/>
          <p:cNvSpPr>
            <a:spLocks noGrp="1"/>
          </p:cNvSpPr>
          <p:nvPr>
            <p:ph type="title"/>
          </p:nvPr>
        </p:nvSpPr>
        <p:spPr>
          <a:xfrm>
            <a:off x="725562" y="226089"/>
            <a:ext cx="10515600" cy="1325563"/>
          </a:xfrm>
          <a:prstGeom prst="rect">
            <a:avLst/>
          </a:prstGeom>
        </p:spPr>
        <p:txBody>
          <a:bodyPr/>
          <a:lstStyle>
            <a:lvl1pPr>
              <a:defRPr lang="zh-CN" altLang="en-US" sz="3200" b="1" kern="1200" dirty="0">
                <a:solidFill>
                  <a:schemeClr val="tx1">
                    <a:lumMod val="75000"/>
                    <a:lumOff val="25000"/>
                  </a:schemeClr>
                </a:solidFill>
                <a:latin typeface="微软雅黑" panose="020B0503020204020204" charset="-122"/>
                <a:ea typeface="微软雅黑" panose="020B0503020204020204" charset="-122"/>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单击此处编辑母版标题样式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25" name="直接连接符 24"/>
          <p:cNvCxnSpPr/>
          <p:nvPr userDrawn="1"/>
        </p:nvCxnSpPr>
        <p:spPr>
          <a:xfrm>
            <a:off x="714375" y="607060"/>
            <a:ext cx="1082357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6" name="Group 7"/>
          <p:cNvGrpSpPr/>
          <p:nvPr userDrawn="1"/>
        </p:nvGrpSpPr>
        <p:grpSpPr bwMode="auto">
          <a:xfrm>
            <a:off x="323528" y="319565"/>
            <a:ext cx="390372" cy="205979"/>
            <a:chOff x="0" y="0"/>
            <a:chExt cx="1041399" cy="549275"/>
          </a:xfrm>
        </p:grpSpPr>
        <p:sp>
          <p:nvSpPr>
            <p:cNvPr id="27"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8"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9"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封底">
    <p:spTree>
      <p:nvGrpSpPr>
        <p:cNvPr id="1" name=""/>
        <p:cNvGrpSpPr/>
        <p:nvPr/>
      </p:nvGrpSpPr>
      <p:grpSpPr>
        <a:xfrm>
          <a:off x="0" y="0"/>
          <a:ext cx="0" cy="0"/>
          <a:chOff x="0" y="0"/>
          <a:chExt cx="0" cy="0"/>
        </a:xfrm>
      </p:grpSpPr>
      <p:pic>
        <p:nvPicPr>
          <p:cNvPr id="7" name="图片 6" descr="PPT封面-1"/>
          <p:cNvPicPr>
            <a:picLocks noChangeAspect="1"/>
          </p:cNvPicPr>
          <p:nvPr userDrawn="1"/>
        </p:nvPicPr>
        <p:blipFill>
          <a:blip r:embed="rId2"/>
          <a:stretch>
            <a:fillRect/>
          </a:stretch>
        </p:blipFill>
        <p:spPr>
          <a:xfrm>
            <a:off x="-9525" y="-635"/>
            <a:ext cx="12207240" cy="6866890"/>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178"/>
            <a:ext cx="12192000" cy="6849643"/>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4178"/>
            <a:ext cx="12192000" cy="6849643"/>
          </a:xfrm>
          <a:prstGeom prst="rect">
            <a:avLst/>
          </a:prstGeom>
        </p:spPr>
      </p:pic>
      <p:pic>
        <p:nvPicPr>
          <p:cNvPr id="8" name="图片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4178"/>
            <a:ext cx="12192000" cy="684964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nvSpPr>
        <p:spPr>
          <a:xfrm>
            <a:off x="7965504" y="4305793"/>
            <a:ext cx="3402903" cy="74898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sz="2800" dirty="0">
              <a:solidFill>
                <a:schemeClr val="bg1"/>
              </a:solidFill>
              <a:latin typeface="微软雅黑" panose="020B0503020204020204" charset="-122"/>
              <a:ea typeface="微软雅黑" panose="020B0503020204020204" charset="-122"/>
            </a:endParaRPr>
          </a:p>
        </p:txBody>
      </p:sp>
      <p:sp>
        <p:nvSpPr>
          <p:cNvPr id="11" name="文本框 10"/>
          <p:cNvSpPr txBox="1"/>
          <p:nvPr userDrawn="1"/>
        </p:nvSpPr>
        <p:spPr>
          <a:xfrm>
            <a:off x="618859" y="2467176"/>
            <a:ext cx="10954281" cy="1198880"/>
          </a:xfrm>
          <a:prstGeom prst="rect">
            <a:avLst/>
          </a:prstGeom>
          <a:noFill/>
        </p:spPr>
        <p:txBody>
          <a:bodyPr wrap="square" rtlCol="0">
            <a:spAutoFit/>
          </a:bodyPr>
          <a:lstStyle/>
          <a:p>
            <a:pPr algn="ctr">
              <a:lnSpc>
                <a:spcPct val="150000"/>
              </a:lnSpc>
            </a:pPr>
            <a:r>
              <a:rPr lang="zh-CN" altLang="en-US" sz="48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上交船舶网格项目进展汇报</a:t>
            </a:r>
            <a:endParaRPr lang="zh-CN" altLang="en-US" sz="48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 name="文本框 1"/>
          <p:cNvSpPr txBox="1"/>
          <p:nvPr/>
        </p:nvSpPr>
        <p:spPr>
          <a:xfrm>
            <a:off x="9006840" y="5318760"/>
            <a:ext cx="1450340" cy="368300"/>
          </a:xfrm>
          <a:prstGeom prst="rect">
            <a:avLst/>
          </a:prstGeom>
          <a:noFill/>
        </p:spPr>
        <p:txBody>
          <a:bodyPr wrap="none" rtlCol="0">
            <a:spAutoFit/>
          </a:bodyPr>
          <a:lstStyle/>
          <a:p>
            <a:r>
              <a:rPr lang="en-US" altLang="zh-CN" sz="1800" dirty="0">
                <a:solidFill>
                  <a:schemeClr val="bg1">
                    <a:lumMod val="85000"/>
                  </a:schemeClr>
                </a:solidFill>
                <a:latin typeface="微软雅黑" panose="020B0503020204020204" charset="-122"/>
                <a:ea typeface="微软雅黑" panose="020B0503020204020204" charset="-122"/>
              </a:rPr>
              <a:t>2024/04/16</a:t>
            </a:r>
            <a:endParaRPr lang="zh-CN" altLang="en-US" sz="1800" dirty="0">
              <a:solidFill>
                <a:schemeClr val="bg1">
                  <a:lumMod val="85000"/>
                </a:schemeClr>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2" name="矩形: 圆角 3"/>
          <p:cNvSpPr/>
          <p:nvPr/>
        </p:nvSpPr>
        <p:spPr>
          <a:xfrm>
            <a:off x="3547745" y="2333625"/>
            <a:ext cx="4758690" cy="993775"/>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marL="571500" indent="-571500" algn="just">
              <a:buFont typeface="+mj-ea"/>
              <a:buAutoNum type="ea1JpnChsDbPeriod"/>
            </a:pPr>
            <a:r>
              <a:rPr lang="zh-CN" altLang="en-US" sz="2600" b="1" dirty="0">
                <a:solidFill>
                  <a:schemeClr val="bg1"/>
                </a:solidFill>
                <a:latin typeface="微软雅黑" panose="020B0503020204020204" charset="-122"/>
                <a:ea typeface="微软雅黑" panose="020B0503020204020204" charset="-122"/>
              </a:rPr>
              <a:t>Wigley结构化网格介绍</a:t>
            </a:r>
            <a:endParaRPr lang="zh-CN" altLang="en-US" sz="2600" b="1" dirty="0">
              <a:solidFill>
                <a:schemeClr val="bg1"/>
              </a:solidFill>
              <a:latin typeface="微软雅黑" panose="020B0503020204020204" charset="-122"/>
              <a:ea typeface="微软雅黑" panose="020B0503020204020204" charset="-122"/>
            </a:endParaRPr>
          </a:p>
        </p:txBody>
      </p:sp>
      <p:sp>
        <p:nvSpPr>
          <p:cNvPr id="3" name="矩形: 圆角 3"/>
          <p:cNvSpPr/>
          <p:nvPr/>
        </p:nvSpPr>
        <p:spPr>
          <a:xfrm>
            <a:off x="3547745" y="3836035"/>
            <a:ext cx="4758690" cy="993775"/>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marL="571500" indent="-571500" algn="just">
              <a:buFont typeface="+mj-ea"/>
              <a:buAutoNum type="ea1JpnChsDbPeriod" startAt="2"/>
            </a:pPr>
            <a:r>
              <a:rPr lang="zh-CN" altLang="en-US" sz="2600" b="1" dirty="0">
                <a:solidFill>
                  <a:schemeClr val="bg1"/>
                </a:solidFill>
                <a:latin typeface="微软雅黑" panose="020B0503020204020204" charset="-122"/>
                <a:ea typeface="微软雅黑" panose="020B0503020204020204" charset="-122"/>
              </a:rPr>
              <a:t>船舶非结构化多面体网格开发进展</a:t>
            </a:r>
            <a:endParaRPr lang="zh-CN" altLang="en-US" sz="2600"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5" name="矩形: 圆角 3"/>
          <p:cNvSpPr/>
          <p:nvPr/>
        </p:nvSpPr>
        <p:spPr>
          <a:xfrm>
            <a:off x="4559935" y="2101850"/>
            <a:ext cx="2936875" cy="469900"/>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600" b="1" dirty="0">
                <a:solidFill>
                  <a:schemeClr val="bg1"/>
                </a:solidFill>
                <a:latin typeface="微软雅黑" panose="020B0503020204020204" charset="-122"/>
                <a:ea typeface="微软雅黑" panose="020B0503020204020204" charset="-122"/>
              </a:rPr>
              <a:t>开发流程</a:t>
            </a:r>
            <a:endParaRPr lang="zh-CN" altLang="en-US" sz="2600" b="1" dirty="0">
              <a:solidFill>
                <a:schemeClr val="bg1"/>
              </a:solidFill>
              <a:latin typeface="微软雅黑" panose="020B0503020204020204" charset="-122"/>
              <a:ea typeface="微软雅黑" panose="020B0503020204020204" charset="-122"/>
            </a:endParaRPr>
          </a:p>
        </p:txBody>
      </p:sp>
      <p:cxnSp>
        <p:nvCxnSpPr>
          <p:cNvPr id="6" name="肘形连接符 5"/>
          <p:cNvCxnSpPr>
            <a:stCxn id="5" idx="2"/>
            <a:endCxn id="21" idx="0"/>
          </p:cNvCxnSpPr>
          <p:nvPr/>
        </p:nvCxnSpPr>
        <p:spPr>
          <a:xfrm rot="5400000">
            <a:off x="3106420" y="741680"/>
            <a:ext cx="1092200" cy="4752340"/>
          </a:xfrm>
          <a:prstGeom prst="bentConnector3">
            <a:avLst>
              <a:gd name="adj1" fmla="val 50000"/>
            </a:avLst>
          </a:prstGeom>
          <a:ln>
            <a:tailEnd type="arrow" w="med" len="med"/>
          </a:ln>
        </p:spPr>
        <p:style>
          <a:lnRef idx="3">
            <a:schemeClr val="accent1"/>
          </a:lnRef>
          <a:fillRef idx="0">
            <a:srgbClr val="FFFFFF"/>
          </a:fillRef>
          <a:effectRef idx="0">
            <a:srgbClr val="FFFFFF"/>
          </a:effectRef>
          <a:fontRef idx="minor">
            <a:schemeClr val="tx1"/>
          </a:fontRef>
        </p:style>
      </p:cxnSp>
      <p:sp>
        <p:nvSpPr>
          <p:cNvPr id="9" name="矩形: 圆角 3"/>
          <p:cNvSpPr/>
          <p:nvPr/>
        </p:nvSpPr>
        <p:spPr>
          <a:xfrm>
            <a:off x="5205730" y="367411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rPr>
              <a:t>3</a:t>
            </a:r>
            <a:r>
              <a:rPr lang="zh-CN" altLang="en-US" sz="1600" b="1" dirty="0">
                <a:solidFill>
                  <a:schemeClr val="bg1"/>
                </a:solidFill>
                <a:latin typeface="微软雅黑" panose="020B0503020204020204" charset="-122"/>
                <a:ea typeface="微软雅黑" panose="020B0503020204020204" charset="-122"/>
              </a:rPr>
              <a:t>、</a:t>
            </a:r>
            <a:r>
              <a:rPr lang="en-US" altLang="zh-CN" sz="1600" b="1" dirty="0">
                <a:solidFill>
                  <a:schemeClr val="bg1"/>
                </a:solidFill>
                <a:latin typeface="微软雅黑" panose="020B0503020204020204" charset="-122"/>
                <a:ea typeface="微软雅黑" panose="020B0503020204020204" charset="-122"/>
                <a:sym typeface="+mn-ea"/>
              </a:rPr>
              <a:t>CGNS</a:t>
            </a:r>
            <a:r>
              <a:rPr lang="zh-CN" altLang="en-US" sz="1600" b="1" dirty="0">
                <a:solidFill>
                  <a:schemeClr val="bg1"/>
                </a:solidFill>
                <a:latin typeface="微软雅黑" panose="020B0503020204020204" charset="-122"/>
                <a:ea typeface="微软雅黑" panose="020B0503020204020204" charset="-122"/>
                <a:sym typeface="+mn-ea"/>
              </a:rPr>
              <a:t>格式网格文件导出</a:t>
            </a:r>
            <a:endParaRPr lang="en-US" altLang="zh-CN" sz="1600" b="1" dirty="0">
              <a:solidFill>
                <a:schemeClr val="bg1"/>
              </a:solidFill>
              <a:latin typeface="微软雅黑" panose="020B0503020204020204" charset="-122"/>
              <a:ea typeface="微软雅黑" panose="020B0503020204020204" charset="-122"/>
            </a:endParaRPr>
          </a:p>
        </p:txBody>
      </p:sp>
      <p:cxnSp>
        <p:nvCxnSpPr>
          <p:cNvPr id="10" name="肘形连接符 9"/>
          <p:cNvCxnSpPr>
            <a:stCxn id="5" idx="2"/>
            <a:endCxn id="22" idx="0"/>
          </p:cNvCxnSpPr>
          <p:nvPr/>
        </p:nvCxnSpPr>
        <p:spPr>
          <a:xfrm rot="5400000">
            <a:off x="4299585" y="1924685"/>
            <a:ext cx="1082040" cy="2376170"/>
          </a:xfrm>
          <a:prstGeom prst="bentConnector3">
            <a:avLst>
              <a:gd name="adj1" fmla="val 50000"/>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1" name="肘形连接符 10"/>
          <p:cNvCxnSpPr>
            <a:stCxn id="5" idx="2"/>
            <a:endCxn id="9" idx="0"/>
          </p:cNvCxnSpPr>
          <p:nvPr/>
        </p:nvCxnSpPr>
        <p:spPr>
          <a:xfrm rot="5400000" flipV="1">
            <a:off x="5477510" y="3122930"/>
            <a:ext cx="1102360" cy="3175"/>
          </a:xfrm>
          <a:prstGeom prst="bentConnector2">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3" name="肘形连接符 12"/>
          <p:cNvCxnSpPr>
            <a:stCxn id="5" idx="2"/>
            <a:endCxn id="23" idx="0"/>
          </p:cNvCxnSpPr>
          <p:nvPr/>
        </p:nvCxnSpPr>
        <p:spPr>
          <a:xfrm rot="5400000" flipV="1">
            <a:off x="6675755" y="1924685"/>
            <a:ext cx="1082040" cy="2376170"/>
          </a:xfrm>
          <a:prstGeom prst="bentConnector3">
            <a:avLst>
              <a:gd name="adj1" fmla="val 50000"/>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8" name="肘形连接符 17"/>
          <p:cNvCxnSpPr>
            <a:stCxn id="5" idx="2"/>
            <a:endCxn id="24" idx="0"/>
          </p:cNvCxnSpPr>
          <p:nvPr/>
        </p:nvCxnSpPr>
        <p:spPr>
          <a:xfrm rot="5400000" flipV="1">
            <a:off x="7858760" y="741680"/>
            <a:ext cx="1092200" cy="4752340"/>
          </a:xfrm>
          <a:prstGeom prst="bentConnector3">
            <a:avLst>
              <a:gd name="adj1" fmla="val 50000"/>
            </a:avLst>
          </a:prstGeom>
          <a:ln>
            <a:tailEnd type="arrow" w="med" len="med"/>
          </a:ln>
        </p:spPr>
        <p:style>
          <a:lnRef idx="3">
            <a:schemeClr val="accent1"/>
          </a:lnRef>
          <a:fillRef idx="0">
            <a:srgbClr val="FFFFFF"/>
          </a:fillRef>
          <a:effectRef idx="0">
            <a:srgbClr val="FFFFFF"/>
          </a:effectRef>
          <a:fontRef idx="minor">
            <a:schemeClr val="tx1"/>
          </a:fontRef>
        </p:style>
      </p:cxnSp>
      <p:sp>
        <p:nvSpPr>
          <p:cNvPr id="21" name="矩形: 圆角 3"/>
          <p:cNvSpPr/>
          <p:nvPr/>
        </p:nvSpPr>
        <p:spPr>
          <a:xfrm>
            <a:off x="453390" y="366395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en-US" altLang="zh-CN" sz="1600" b="1" dirty="0">
                <a:solidFill>
                  <a:schemeClr val="bg1"/>
                </a:solidFill>
                <a:latin typeface="微软雅黑" panose="020B0503020204020204" charset="-122"/>
                <a:ea typeface="微软雅黑" panose="020B0503020204020204" charset="-122"/>
                <a:sym typeface="+mn-ea"/>
              </a:rPr>
              <a:t>1</a:t>
            </a:r>
            <a:r>
              <a:rPr lang="zh-CN" altLang="en-US" sz="1600" b="1" dirty="0">
                <a:solidFill>
                  <a:schemeClr val="bg1"/>
                </a:solidFill>
                <a:latin typeface="微软雅黑" panose="020B0503020204020204" charset="-122"/>
                <a:ea typeface="微软雅黑" panose="020B0503020204020204" charset="-122"/>
                <a:sym typeface="+mn-ea"/>
              </a:rPr>
              <a:t>、Wigley网格生成算法</a:t>
            </a:r>
            <a:endParaRPr lang="zh-CN" altLang="en-US" sz="1600" b="1" dirty="0">
              <a:solidFill>
                <a:schemeClr val="bg1"/>
              </a:solidFill>
              <a:latin typeface="微软雅黑" panose="020B0503020204020204" charset="-122"/>
              <a:ea typeface="微软雅黑" panose="020B0503020204020204" charset="-122"/>
              <a:sym typeface="+mn-ea"/>
            </a:endParaRPr>
          </a:p>
        </p:txBody>
      </p:sp>
      <p:sp>
        <p:nvSpPr>
          <p:cNvPr id="22" name="矩形: 圆角 3"/>
          <p:cNvSpPr/>
          <p:nvPr/>
        </p:nvSpPr>
        <p:spPr>
          <a:xfrm>
            <a:off x="2829560"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2</a:t>
            </a:r>
            <a:r>
              <a:rPr lang="zh-CN" altLang="en-US" sz="1600" b="1" dirty="0">
                <a:solidFill>
                  <a:schemeClr val="bg1"/>
                </a:solidFill>
                <a:latin typeface="微软雅黑" panose="020B0503020204020204" charset="-122"/>
                <a:ea typeface="微软雅黑" panose="020B0503020204020204" charset="-122"/>
                <a:sym typeface="+mn-ea"/>
              </a:rPr>
              <a:t>、</a:t>
            </a:r>
            <a:r>
              <a:rPr lang="zh-CN" sz="1600" b="1" dirty="0">
                <a:solidFill>
                  <a:schemeClr val="bg1"/>
                </a:solidFill>
                <a:latin typeface="微软雅黑" panose="020B0503020204020204" charset="-122"/>
                <a:ea typeface="微软雅黑" panose="020B0503020204020204" charset="-122"/>
                <a:sym typeface="+mn-ea"/>
              </a:rPr>
              <a:t>网格生成控制参数</a:t>
            </a:r>
            <a:endParaRPr lang="zh-CN" sz="1600" b="1" dirty="0">
              <a:solidFill>
                <a:schemeClr val="bg1"/>
              </a:solidFill>
              <a:latin typeface="微软雅黑" panose="020B0503020204020204" charset="-122"/>
              <a:ea typeface="微软雅黑" panose="020B0503020204020204" charset="-122"/>
              <a:sym typeface="+mn-ea"/>
            </a:endParaRPr>
          </a:p>
        </p:txBody>
      </p:sp>
      <p:sp>
        <p:nvSpPr>
          <p:cNvPr id="23" name="矩形: 圆角 3"/>
          <p:cNvSpPr/>
          <p:nvPr/>
        </p:nvSpPr>
        <p:spPr>
          <a:xfrm>
            <a:off x="7581900"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4</a:t>
            </a:r>
            <a:r>
              <a:rPr lang="zh-CN" altLang="en-US" sz="1600" b="1" dirty="0">
                <a:solidFill>
                  <a:schemeClr val="bg1"/>
                </a:solidFill>
                <a:latin typeface="微软雅黑" panose="020B0503020204020204" charset="-122"/>
                <a:ea typeface="微软雅黑" panose="020B0503020204020204" charset="-122"/>
                <a:sym typeface="+mn-ea"/>
              </a:rPr>
              <a:t>、</a:t>
            </a:r>
            <a:r>
              <a:rPr lang="zh-CN" altLang="en-US" sz="1600" b="1" dirty="0">
                <a:solidFill>
                  <a:schemeClr val="bg1"/>
                </a:solidFill>
                <a:latin typeface="微软雅黑" panose="020B0503020204020204" charset="-122"/>
                <a:ea typeface="微软雅黑" panose="020B0503020204020204" charset="-122"/>
                <a:sym typeface="+mn-ea"/>
              </a:rPr>
              <a:t>动态库编译</a:t>
            </a:r>
            <a:endParaRPr lang="zh-CN" altLang="en-US" sz="1600" b="1" dirty="0">
              <a:solidFill>
                <a:schemeClr val="bg1"/>
              </a:solidFill>
              <a:latin typeface="微软雅黑" panose="020B0503020204020204" charset="-122"/>
              <a:ea typeface="微软雅黑" panose="020B0503020204020204" charset="-122"/>
            </a:endParaRPr>
          </a:p>
        </p:txBody>
      </p:sp>
      <p:sp>
        <p:nvSpPr>
          <p:cNvPr id="24" name="矩形: 圆角 3"/>
          <p:cNvSpPr/>
          <p:nvPr/>
        </p:nvSpPr>
        <p:spPr>
          <a:xfrm>
            <a:off x="9958070" y="366395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5</a:t>
            </a:r>
            <a:r>
              <a:rPr lang="zh-CN" altLang="en-US" sz="1600" b="1" dirty="0">
                <a:solidFill>
                  <a:schemeClr val="bg1"/>
                </a:solidFill>
                <a:latin typeface="微软雅黑" panose="020B0503020204020204" charset="-122"/>
                <a:ea typeface="微软雅黑" panose="020B0503020204020204" charset="-122"/>
                <a:sym typeface="+mn-ea"/>
              </a:rPr>
              <a:t>、</a:t>
            </a:r>
            <a:r>
              <a:rPr lang="zh-CN" altLang="en-US" sz="1600" b="1" dirty="0">
                <a:solidFill>
                  <a:schemeClr val="bg1"/>
                </a:solidFill>
                <a:latin typeface="微软雅黑" panose="020B0503020204020204" charset="-122"/>
                <a:ea typeface="微软雅黑" panose="020B0503020204020204" charset="-122"/>
                <a:sym typeface="+mn-ea"/>
              </a:rPr>
              <a:t>动态库调用流程</a:t>
            </a:r>
            <a:endParaRPr lang="zh-CN" altLang="en-US" sz="1600"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1</a:t>
            </a:r>
            <a:r>
              <a:rPr lang="zh-CN" altLang="en-US" sz="2000" dirty="0">
                <a:solidFill>
                  <a:schemeClr val="tx1"/>
                </a:solidFill>
                <a:latin typeface="微软雅黑" panose="020B0503020204020204" charset="-122"/>
                <a:ea typeface="微软雅黑" panose="020B0503020204020204" charset="-122"/>
                <a:sym typeface="+mn-ea"/>
              </a:rPr>
              <a:t>、船型介绍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7" name="文本框 6"/>
          <p:cNvSpPr txBox="1"/>
          <p:nvPr/>
        </p:nvSpPr>
        <p:spPr>
          <a:xfrm>
            <a:off x="935990" y="2001520"/>
            <a:ext cx="8740140" cy="1337945"/>
          </a:xfrm>
          <a:prstGeom prst="rect">
            <a:avLst/>
          </a:prstGeom>
          <a:noFill/>
        </p:spPr>
        <p:txBody>
          <a:bodyPr wrap="square" rtlCol="0">
            <a:spAutoFit/>
          </a:bodyPr>
          <a:p>
            <a:pPr indent="457200" algn="just" fontAlgn="auto">
              <a:lnSpc>
                <a:spcPct val="150000"/>
              </a:lnSpc>
            </a:pPr>
            <a:r>
              <a:rPr lang="zh-CN" altLang="en-US"/>
              <a:t>Wigely船型是一类数学船型，在该船型表达下，半船体的y坐标可以视作x坐标与y坐标的函数。即y=f(x,z)。表达式如下给出Wigely船型是一类数学船型，在该船型表达下，半船体的y坐标可以视作x坐标与y坐标的函数。即y=f(x,z)。表达式如下给出：</a:t>
            </a:r>
            <a:endParaRPr lang="zh-CN" altLang="en-US"/>
          </a:p>
        </p:txBody>
      </p:sp>
      <p:pic>
        <p:nvPicPr>
          <p:cNvPr id="3" name="图片 1"/>
          <p:cNvPicPr>
            <a:picLocks noChangeAspect="1"/>
          </p:cNvPicPr>
          <p:nvPr/>
        </p:nvPicPr>
        <p:blipFill>
          <a:blip r:embed="rId1"/>
          <a:stretch>
            <a:fillRect/>
          </a:stretch>
        </p:blipFill>
        <p:spPr>
          <a:xfrm>
            <a:off x="1229995" y="3701415"/>
            <a:ext cx="8297545" cy="17513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、网格生成技术点介绍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935990" y="2001520"/>
            <a:ext cx="8740140" cy="922020"/>
          </a:xfrm>
          <a:prstGeom prst="rect">
            <a:avLst/>
          </a:prstGeom>
          <a:noFill/>
        </p:spPr>
        <p:txBody>
          <a:bodyPr wrap="square" rtlCol="0">
            <a:spAutoFit/>
          </a:bodyPr>
          <a:p>
            <a:pPr indent="457200" algn="just" fontAlgn="auto">
              <a:lnSpc>
                <a:spcPct val="150000"/>
              </a:lnSpc>
            </a:pPr>
            <a:r>
              <a:rPr lang="zh-CN" altLang="en-US"/>
              <a:t>本项目提供</a:t>
            </a:r>
            <a:r>
              <a:rPr lang="en-US" altLang="zh-CN"/>
              <a:t>wigley</a:t>
            </a:r>
            <a:r>
              <a:rPr lang="zh-CN" altLang="en-US"/>
              <a:t>船型结构化网格生成动态链接库，用户可根据需求调用该库生成结构化网格。</a:t>
            </a:r>
            <a:endParaRPr lang="zh-CN" altLang="en-US"/>
          </a:p>
        </p:txBody>
      </p:sp>
      <p:pic>
        <p:nvPicPr>
          <p:cNvPr id="5" name="图片 4"/>
          <p:cNvPicPr>
            <a:picLocks noChangeAspect="1"/>
          </p:cNvPicPr>
          <p:nvPr/>
        </p:nvPicPr>
        <p:blipFill>
          <a:blip r:embed="rId1"/>
          <a:stretch>
            <a:fillRect/>
          </a:stretch>
        </p:blipFill>
        <p:spPr>
          <a:xfrm>
            <a:off x="2660015" y="3429000"/>
            <a:ext cx="2583815" cy="2065020"/>
          </a:xfrm>
          <a:prstGeom prst="rect">
            <a:avLst/>
          </a:prstGeom>
        </p:spPr>
      </p:pic>
      <p:pic>
        <p:nvPicPr>
          <p:cNvPr id="6" name="图片 5"/>
          <p:cNvPicPr>
            <a:picLocks noChangeAspect="1"/>
          </p:cNvPicPr>
          <p:nvPr/>
        </p:nvPicPr>
        <p:blipFill>
          <a:blip r:embed="rId2"/>
          <a:stretch>
            <a:fillRect/>
          </a:stretch>
        </p:blipFill>
        <p:spPr>
          <a:xfrm>
            <a:off x="5619750" y="3429000"/>
            <a:ext cx="2429510" cy="20656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、网格生成技术点介绍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935990" y="2001520"/>
            <a:ext cx="8740140" cy="922020"/>
          </a:xfrm>
          <a:prstGeom prst="rect">
            <a:avLst/>
          </a:prstGeom>
          <a:noFill/>
        </p:spPr>
        <p:txBody>
          <a:bodyPr wrap="square" rtlCol="0">
            <a:spAutoFit/>
          </a:bodyPr>
          <a:p>
            <a:pPr indent="457200" algn="just" fontAlgn="auto">
              <a:lnSpc>
                <a:spcPct val="150000"/>
              </a:lnSpc>
            </a:pPr>
            <a:r>
              <a:rPr lang="zh-CN"/>
              <a:t>将提供的库引入工程后可根据如下示例调用网格生成程序。通过设置</a:t>
            </a:r>
            <a:r>
              <a:rPr lang="en-US" altLang="zh-CN"/>
              <a:t>settings</a:t>
            </a:r>
            <a:r>
              <a:rPr lang="zh-CN" altLang="en-US"/>
              <a:t>类控制网格生成参数。</a:t>
            </a:r>
            <a:endParaRPr lang="zh-CN" altLang="en-US"/>
          </a:p>
        </p:txBody>
      </p:sp>
      <p:pic>
        <p:nvPicPr>
          <p:cNvPr id="7" name="图片 6"/>
          <p:cNvPicPr>
            <a:picLocks noChangeAspect="1"/>
          </p:cNvPicPr>
          <p:nvPr/>
        </p:nvPicPr>
        <p:blipFill>
          <a:blip r:embed="rId1"/>
          <a:stretch>
            <a:fillRect/>
          </a:stretch>
        </p:blipFill>
        <p:spPr>
          <a:xfrm>
            <a:off x="3717290" y="3247390"/>
            <a:ext cx="4576445" cy="330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、网格生成技术点介绍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935990" y="1776095"/>
            <a:ext cx="8740140" cy="1337945"/>
          </a:xfrm>
          <a:prstGeom prst="rect">
            <a:avLst/>
          </a:prstGeom>
          <a:noFill/>
        </p:spPr>
        <p:txBody>
          <a:bodyPr wrap="square" rtlCol="0">
            <a:spAutoFit/>
          </a:bodyPr>
          <a:p>
            <a:pPr indent="457200" algn="just" fontAlgn="auto">
              <a:lnSpc>
                <a:spcPct val="150000"/>
              </a:lnSpc>
            </a:pPr>
            <a:r>
              <a:rPr lang="zh-CN"/>
              <a:t>网格设置类（</a:t>
            </a:r>
            <a:r>
              <a:rPr lang="en-US" altLang="zh-CN"/>
              <a:t>class settings</a:t>
            </a:r>
            <a:r>
              <a:rPr lang="zh-CN"/>
              <a:t>）设置参数如下，用户可随意更改</a:t>
            </a:r>
            <a:r>
              <a:rPr lang="en-US" altLang="zh-CN"/>
              <a:t>wigley</a:t>
            </a:r>
            <a:r>
              <a:rPr lang="zh-CN"/>
              <a:t>船型参数以及网格节点设置参数。网格支持对船前、船身、船尾、船侧以及深度方向网格数进行设置。同时可设置边界层层数、增长率以及自由面附近网格加密。</a:t>
            </a:r>
            <a:endParaRPr lang="zh-CN"/>
          </a:p>
        </p:txBody>
      </p:sp>
      <p:pic>
        <p:nvPicPr>
          <p:cNvPr id="5" name="图片 4"/>
          <p:cNvPicPr>
            <a:picLocks noChangeAspect="1"/>
          </p:cNvPicPr>
          <p:nvPr/>
        </p:nvPicPr>
        <p:blipFill>
          <a:blip r:embed="rId1"/>
          <a:stretch>
            <a:fillRect/>
          </a:stretch>
        </p:blipFill>
        <p:spPr>
          <a:xfrm>
            <a:off x="2964815" y="3213100"/>
            <a:ext cx="5180965" cy="35547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、网格生成技术点介绍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935990" y="1776095"/>
            <a:ext cx="8740140" cy="506730"/>
          </a:xfrm>
          <a:prstGeom prst="rect">
            <a:avLst/>
          </a:prstGeom>
          <a:noFill/>
        </p:spPr>
        <p:txBody>
          <a:bodyPr wrap="square" rtlCol="0">
            <a:spAutoFit/>
          </a:bodyPr>
          <a:p>
            <a:pPr indent="457200" algn="just" fontAlgn="auto">
              <a:lnSpc>
                <a:spcPct val="150000"/>
              </a:lnSpc>
            </a:pPr>
            <a:r>
              <a:rPr lang="zh-CN"/>
              <a:t>网格生成流程如下：</a:t>
            </a:r>
            <a:endParaRPr lang="zh-CN"/>
          </a:p>
        </p:txBody>
      </p:sp>
      <p:sp>
        <p:nvSpPr>
          <p:cNvPr id="21" name="矩形: 圆角 3"/>
          <p:cNvSpPr/>
          <p:nvPr/>
        </p:nvSpPr>
        <p:spPr>
          <a:xfrm>
            <a:off x="2755265" y="2665095"/>
            <a:ext cx="2581910" cy="630555"/>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zh-CN" sz="1600" b="1" dirty="0">
                <a:solidFill>
                  <a:schemeClr val="bg1"/>
                </a:solidFill>
                <a:latin typeface="微软雅黑" panose="020B0503020204020204" charset="-122"/>
                <a:ea typeface="微软雅黑" panose="020B0503020204020204" charset="-122"/>
                <a:sym typeface="+mn-ea"/>
              </a:rPr>
              <a:t>设置相应参数</a:t>
            </a:r>
            <a:endParaRPr lang="zh-CN" sz="1600" b="1" dirty="0">
              <a:solidFill>
                <a:schemeClr val="bg1"/>
              </a:solidFill>
              <a:latin typeface="微软雅黑" panose="020B0503020204020204" charset="-122"/>
              <a:ea typeface="微软雅黑" panose="020B0503020204020204" charset="-122"/>
              <a:sym typeface="+mn-ea"/>
            </a:endParaRPr>
          </a:p>
        </p:txBody>
      </p:sp>
      <p:sp>
        <p:nvSpPr>
          <p:cNvPr id="6" name="矩形: 圆角 3"/>
          <p:cNvSpPr/>
          <p:nvPr/>
        </p:nvSpPr>
        <p:spPr>
          <a:xfrm>
            <a:off x="2755265" y="3667760"/>
            <a:ext cx="2581275" cy="619125"/>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zh-CN" sz="1600" b="1" dirty="0">
                <a:solidFill>
                  <a:schemeClr val="bg1"/>
                </a:solidFill>
                <a:latin typeface="微软雅黑" panose="020B0503020204020204" charset="-122"/>
                <a:ea typeface="微软雅黑" panose="020B0503020204020204" charset="-122"/>
                <a:sym typeface="+mn-ea"/>
              </a:rPr>
              <a:t>计算</a:t>
            </a:r>
            <a:r>
              <a:rPr lang="en-US" altLang="zh-CN" sz="1600" b="1" dirty="0">
                <a:solidFill>
                  <a:schemeClr val="bg1"/>
                </a:solidFill>
                <a:latin typeface="微软雅黑" panose="020B0503020204020204" charset="-122"/>
                <a:ea typeface="微软雅黑" panose="020B0503020204020204" charset="-122"/>
                <a:sym typeface="+mn-ea"/>
              </a:rPr>
              <a:t>symmetry</a:t>
            </a:r>
            <a:r>
              <a:rPr lang="zh-CN" altLang="en-US" sz="1600" b="1" dirty="0">
                <a:solidFill>
                  <a:schemeClr val="bg1"/>
                </a:solidFill>
                <a:latin typeface="微软雅黑" panose="020B0503020204020204" charset="-122"/>
                <a:ea typeface="微软雅黑" panose="020B0503020204020204" charset="-122"/>
                <a:sym typeface="+mn-ea"/>
              </a:rPr>
              <a:t>、</a:t>
            </a:r>
            <a:r>
              <a:rPr lang="en-US" altLang="zh-CN" sz="1600" b="1" dirty="0">
                <a:solidFill>
                  <a:schemeClr val="bg1"/>
                </a:solidFill>
                <a:latin typeface="微软雅黑" panose="020B0503020204020204" charset="-122"/>
                <a:ea typeface="微软雅黑" panose="020B0503020204020204" charset="-122"/>
                <a:sym typeface="+mn-ea"/>
              </a:rPr>
              <a:t>side</a:t>
            </a:r>
            <a:r>
              <a:rPr lang="zh-CN" altLang="en-US" sz="1600" b="1" dirty="0">
                <a:solidFill>
                  <a:schemeClr val="bg1"/>
                </a:solidFill>
                <a:latin typeface="微软雅黑" panose="020B0503020204020204" charset="-122"/>
                <a:ea typeface="微软雅黑" panose="020B0503020204020204" charset="-122"/>
                <a:sym typeface="+mn-ea"/>
              </a:rPr>
              <a:t>和</a:t>
            </a:r>
            <a:r>
              <a:rPr lang="zh-CN" altLang="en-US" sz="1600" b="1" dirty="0">
                <a:solidFill>
                  <a:schemeClr val="bg1"/>
                </a:solidFill>
                <a:latin typeface="微软雅黑" panose="020B0503020204020204" charset="-122"/>
                <a:ea typeface="微软雅黑" panose="020B0503020204020204" charset="-122"/>
                <a:sym typeface="+mn-ea"/>
              </a:rPr>
              <a:t>船面</a:t>
            </a:r>
            <a:r>
              <a:rPr lang="zh-CN" altLang="en-US" sz="1600" b="1" dirty="0">
                <a:solidFill>
                  <a:schemeClr val="bg1"/>
                </a:solidFill>
                <a:latin typeface="微软雅黑" panose="020B0503020204020204" charset="-122"/>
                <a:ea typeface="微软雅黑" panose="020B0503020204020204" charset="-122"/>
                <a:sym typeface="+mn-ea"/>
              </a:rPr>
              <a:t>网格节点坐标</a:t>
            </a:r>
            <a:endParaRPr lang="zh-CN" altLang="en-US" sz="1600" b="1" dirty="0">
              <a:solidFill>
                <a:schemeClr val="bg1"/>
              </a:solidFill>
              <a:latin typeface="微软雅黑" panose="020B0503020204020204" charset="-122"/>
              <a:ea typeface="微软雅黑" panose="020B0503020204020204" charset="-122"/>
              <a:sym typeface="+mn-ea"/>
            </a:endParaRPr>
          </a:p>
        </p:txBody>
      </p:sp>
      <p:sp>
        <p:nvSpPr>
          <p:cNvPr id="7" name="矩形: 圆角 3"/>
          <p:cNvSpPr/>
          <p:nvPr/>
        </p:nvSpPr>
        <p:spPr>
          <a:xfrm>
            <a:off x="2754630" y="4658995"/>
            <a:ext cx="2581910" cy="629285"/>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zh-CN" sz="1600" b="1" dirty="0">
                <a:solidFill>
                  <a:schemeClr val="bg1"/>
                </a:solidFill>
                <a:latin typeface="微软雅黑" panose="020B0503020204020204" charset="-122"/>
                <a:ea typeface="微软雅黑" panose="020B0503020204020204" charset="-122"/>
                <a:sym typeface="+mn-ea"/>
              </a:rPr>
              <a:t>根据两面网格节点构建体网格和各边界面网格</a:t>
            </a:r>
            <a:endParaRPr lang="zh-CN" sz="1600" b="1" dirty="0">
              <a:solidFill>
                <a:schemeClr val="bg1"/>
              </a:solidFill>
              <a:latin typeface="微软雅黑" panose="020B0503020204020204" charset="-122"/>
              <a:ea typeface="微软雅黑" panose="020B0503020204020204" charset="-122"/>
              <a:sym typeface="+mn-ea"/>
            </a:endParaRPr>
          </a:p>
        </p:txBody>
      </p:sp>
      <p:sp>
        <p:nvSpPr>
          <p:cNvPr id="8" name="矩形: 圆角 3"/>
          <p:cNvSpPr/>
          <p:nvPr/>
        </p:nvSpPr>
        <p:spPr>
          <a:xfrm>
            <a:off x="2755265" y="5660390"/>
            <a:ext cx="2581910" cy="629285"/>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zh-CN" sz="1600" b="1" dirty="0">
                <a:solidFill>
                  <a:schemeClr val="bg1"/>
                </a:solidFill>
                <a:latin typeface="微软雅黑" panose="020B0503020204020204" charset="-122"/>
                <a:ea typeface="微软雅黑" panose="020B0503020204020204" charset="-122"/>
                <a:sym typeface="+mn-ea"/>
              </a:rPr>
              <a:t>输出</a:t>
            </a:r>
            <a:r>
              <a:rPr lang="en-US" altLang="zh-CN" sz="1600" b="1" dirty="0">
                <a:solidFill>
                  <a:schemeClr val="bg1"/>
                </a:solidFill>
                <a:latin typeface="微软雅黑" panose="020B0503020204020204" charset="-122"/>
                <a:ea typeface="微软雅黑" panose="020B0503020204020204" charset="-122"/>
                <a:sym typeface="+mn-ea"/>
              </a:rPr>
              <a:t>CGNS</a:t>
            </a:r>
            <a:r>
              <a:rPr lang="zh-CN" altLang="en-US" sz="1600" b="1" dirty="0">
                <a:solidFill>
                  <a:schemeClr val="bg1"/>
                </a:solidFill>
                <a:latin typeface="微软雅黑" panose="020B0503020204020204" charset="-122"/>
                <a:ea typeface="微软雅黑" panose="020B0503020204020204" charset="-122"/>
                <a:sym typeface="+mn-ea"/>
              </a:rPr>
              <a:t>网格文件</a:t>
            </a:r>
            <a:endParaRPr lang="zh-CN" altLang="en-US" sz="1600" b="1" dirty="0">
              <a:solidFill>
                <a:schemeClr val="bg1"/>
              </a:solidFill>
              <a:latin typeface="微软雅黑" panose="020B0503020204020204" charset="-122"/>
              <a:ea typeface="微软雅黑" panose="020B0503020204020204" charset="-122"/>
              <a:sym typeface="+mn-ea"/>
            </a:endParaRPr>
          </a:p>
        </p:txBody>
      </p:sp>
      <p:sp>
        <p:nvSpPr>
          <p:cNvPr id="9" name="矩形: 圆角 3"/>
          <p:cNvSpPr/>
          <p:nvPr/>
        </p:nvSpPr>
        <p:spPr>
          <a:xfrm>
            <a:off x="6960870" y="2567940"/>
            <a:ext cx="2581910" cy="63627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zh-CN" sz="1600" b="1" dirty="0">
                <a:solidFill>
                  <a:schemeClr val="bg1"/>
                </a:solidFill>
                <a:latin typeface="微软雅黑" panose="020B0503020204020204" charset="-122"/>
                <a:ea typeface="微软雅黑" panose="020B0503020204020204" charset="-122"/>
                <a:sym typeface="+mn-ea"/>
              </a:rPr>
              <a:t>计算</a:t>
            </a:r>
            <a:r>
              <a:rPr lang="en-US" altLang="zh-CN" sz="1600" b="1" dirty="0">
                <a:solidFill>
                  <a:schemeClr val="bg1"/>
                </a:solidFill>
                <a:latin typeface="微软雅黑" panose="020B0503020204020204" charset="-122"/>
                <a:ea typeface="微软雅黑" panose="020B0503020204020204" charset="-122"/>
                <a:sym typeface="+mn-ea"/>
              </a:rPr>
              <a:t>x</a:t>
            </a:r>
            <a:r>
              <a:rPr lang="zh-CN" altLang="en-US" sz="1600" b="1" dirty="0">
                <a:solidFill>
                  <a:schemeClr val="bg1"/>
                </a:solidFill>
                <a:latin typeface="微软雅黑" panose="020B0503020204020204" charset="-122"/>
                <a:ea typeface="微软雅黑" panose="020B0503020204020204" charset="-122"/>
                <a:sym typeface="+mn-ea"/>
              </a:rPr>
              <a:t>方向节点分布</a:t>
            </a:r>
            <a:endParaRPr lang="zh-CN" altLang="en-US" sz="1600" b="1" dirty="0">
              <a:solidFill>
                <a:schemeClr val="bg1"/>
              </a:solidFill>
              <a:latin typeface="微软雅黑" panose="020B0503020204020204" charset="-122"/>
              <a:ea typeface="微软雅黑" panose="020B0503020204020204" charset="-122"/>
              <a:sym typeface="+mn-ea"/>
            </a:endParaRPr>
          </a:p>
        </p:txBody>
      </p:sp>
      <p:sp>
        <p:nvSpPr>
          <p:cNvPr id="10" name="矩形: 圆角 3"/>
          <p:cNvSpPr/>
          <p:nvPr/>
        </p:nvSpPr>
        <p:spPr>
          <a:xfrm>
            <a:off x="6960870" y="3557270"/>
            <a:ext cx="2581910" cy="635635"/>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zh-CN" sz="1600" b="1" dirty="0">
                <a:solidFill>
                  <a:schemeClr val="bg1"/>
                </a:solidFill>
                <a:latin typeface="微软雅黑" panose="020B0503020204020204" charset="-122"/>
                <a:ea typeface="微软雅黑" panose="020B0503020204020204" charset="-122"/>
                <a:sym typeface="+mn-ea"/>
              </a:rPr>
              <a:t>计算</a:t>
            </a:r>
            <a:r>
              <a:rPr lang="en-US" altLang="zh-CN" sz="1600" b="1" dirty="0">
                <a:solidFill>
                  <a:schemeClr val="bg1"/>
                </a:solidFill>
                <a:latin typeface="微软雅黑" panose="020B0503020204020204" charset="-122"/>
                <a:ea typeface="微软雅黑" panose="020B0503020204020204" charset="-122"/>
                <a:sym typeface="+mn-ea"/>
              </a:rPr>
              <a:t>z</a:t>
            </a:r>
            <a:r>
              <a:rPr lang="zh-CN" altLang="en-US" sz="1600" b="1" dirty="0">
                <a:solidFill>
                  <a:schemeClr val="bg1"/>
                </a:solidFill>
                <a:latin typeface="微软雅黑" panose="020B0503020204020204" charset="-122"/>
                <a:ea typeface="微软雅黑" panose="020B0503020204020204" charset="-122"/>
                <a:sym typeface="+mn-ea"/>
              </a:rPr>
              <a:t>方向节点分布</a:t>
            </a:r>
            <a:endParaRPr lang="zh-CN" altLang="en-US" sz="1600" b="1" dirty="0">
              <a:solidFill>
                <a:schemeClr val="bg1"/>
              </a:solidFill>
              <a:latin typeface="微软雅黑" panose="020B0503020204020204" charset="-122"/>
              <a:ea typeface="微软雅黑" panose="020B0503020204020204" charset="-122"/>
              <a:sym typeface="+mn-ea"/>
            </a:endParaRPr>
          </a:p>
        </p:txBody>
      </p:sp>
      <p:sp>
        <p:nvSpPr>
          <p:cNvPr id="11" name="矩形: 圆角 3"/>
          <p:cNvSpPr/>
          <p:nvPr/>
        </p:nvSpPr>
        <p:spPr>
          <a:xfrm>
            <a:off x="6960870" y="4545965"/>
            <a:ext cx="2581910" cy="1080135"/>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indent="0" algn="ctr">
              <a:buFont typeface="+mj-lt"/>
              <a:buNone/>
            </a:pPr>
            <a:r>
              <a:rPr lang="zh-CN" sz="1600" b="1" dirty="0">
                <a:solidFill>
                  <a:schemeClr val="bg1"/>
                </a:solidFill>
                <a:latin typeface="微软雅黑" panose="020B0503020204020204" charset="-122"/>
                <a:ea typeface="微软雅黑" panose="020B0503020204020204" charset="-122"/>
                <a:sym typeface="+mn-ea"/>
              </a:rPr>
              <a:t>根据船型公式计算船上节点</a:t>
            </a:r>
            <a:r>
              <a:rPr lang="en-US" altLang="zh-CN" sz="1600" b="1" dirty="0">
                <a:solidFill>
                  <a:schemeClr val="bg1"/>
                </a:solidFill>
                <a:latin typeface="微软雅黑" panose="020B0503020204020204" charset="-122"/>
                <a:ea typeface="微软雅黑" panose="020B0503020204020204" charset="-122"/>
                <a:sym typeface="+mn-ea"/>
              </a:rPr>
              <a:t>y</a:t>
            </a:r>
            <a:r>
              <a:rPr lang="zh-CN" sz="1600" b="1" dirty="0">
                <a:solidFill>
                  <a:schemeClr val="bg1"/>
                </a:solidFill>
                <a:latin typeface="微软雅黑" panose="020B0503020204020204" charset="-122"/>
                <a:ea typeface="微软雅黑" panose="020B0503020204020204" charset="-122"/>
                <a:sym typeface="+mn-ea"/>
              </a:rPr>
              <a:t>坐标值；</a:t>
            </a:r>
            <a:r>
              <a:rPr lang="en-US" altLang="zh-CN" sz="1600" b="1" dirty="0">
                <a:solidFill>
                  <a:schemeClr val="bg1"/>
                </a:solidFill>
                <a:latin typeface="微软雅黑" panose="020B0503020204020204" charset="-122"/>
                <a:ea typeface="微软雅黑" panose="020B0503020204020204" charset="-122"/>
                <a:sym typeface="+mn-ea"/>
              </a:rPr>
              <a:t>symmetry</a:t>
            </a:r>
            <a:r>
              <a:rPr lang="zh-CN" altLang="en-US" sz="1600" b="1" dirty="0">
                <a:solidFill>
                  <a:schemeClr val="bg1"/>
                </a:solidFill>
                <a:latin typeface="微软雅黑" panose="020B0503020204020204" charset="-122"/>
                <a:ea typeface="微软雅黑" panose="020B0503020204020204" charset="-122"/>
                <a:sym typeface="+mn-ea"/>
              </a:rPr>
              <a:t>和</a:t>
            </a:r>
            <a:r>
              <a:rPr lang="en-US" altLang="zh-CN" sz="1600" b="1" dirty="0">
                <a:solidFill>
                  <a:schemeClr val="bg1"/>
                </a:solidFill>
                <a:latin typeface="微软雅黑" panose="020B0503020204020204" charset="-122"/>
                <a:ea typeface="微软雅黑" panose="020B0503020204020204" charset="-122"/>
                <a:sym typeface="+mn-ea"/>
              </a:rPr>
              <a:t>side</a:t>
            </a:r>
            <a:r>
              <a:rPr lang="zh-CN" altLang="en-US" sz="1600" b="1" dirty="0">
                <a:solidFill>
                  <a:schemeClr val="bg1"/>
                </a:solidFill>
                <a:latin typeface="微软雅黑" panose="020B0503020204020204" charset="-122"/>
                <a:ea typeface="微软雅黑" panose="020B0503020204020204" charset="-122"/>
                <a:sym typeface="+mn-ea"/>
              </a:rPr>
              <a:t>面上</a:t>
            </a:r>
            <a:r>
              <a:rPr lang="en-US" altLang="zh-CN" sz="1600" b="1" dirty="0">
                <a:solidFill>
                  <a:schemeClr val="bg1"/>
                </a:solidFill>
                <a:latin typeface="微软雅黑" panose="020B0503020204020204" charset="-122"/>
                <a:ea typeface="微软雅黑" panose="020B0503020204020204" charset="-122"/>
                <a:sym typeface="+mn-ea"/>
              </a:rPr>
              <a:t>y</a:t>
            </a:r>
            <a:r>
              <a:rPr lang="zh-CN" altLang="en-US" sz="1600" b="1" dirty="0">
                <a:solidFill>
                  <a:schemeClr val="bg1"/>
                </a:solidFill>
                <a:latin typeface="微软雅黑" panose="020B0503020204020204" charset="-122"/>
                <a:ea typeface="微软雅黑" panose="020B0503020204020204" charset="-122"/>
                <a:sym typeface="+mn-ea"/>
              </a:rPr>
              <a:t>坐标可直接根据设置赋值</a:t>
            </a:r>
            <a:endParaRPr lang="zh-CN" altLang="en-US" sz="1600" b="1" dirty="0">
              <a:solidFill>
                <a:schemeClr val="bg1"/>
              </a:solidFill>
              <a:latin typeface="微软雅黑" panose="020B0503020204020204" charset="-122"/>
              <a:ea typeface="微软雅黑" panose="020B0503020204020204" charset="-122"/>
              <a:sym typeface="+mn-ea"/>
            </a:endParaRPr>
          </a:p>
        </p:txBody>
      </p:sp>
      <p:cxnSp>
        <p:nvCxnSpPr>
          <p:cNvPr id="12" name="直接箭头连接符 11"/>
          <p:cNvCxnSpPr>
            <a:stCxn id="21" idx="2"/>
            <a:endCxn id="6" idx="0"/>
          </p:cNvCxnSpPr>
          <p:nvPr/>
        </p:nvCxnSpPr>
        <p:spPr>
          <a:xfrm>
            <a:off x="4046220" y="3295650"/>
            <a:ext cx="0" cy="372110"/>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3" name="直接箭头连接符 12"/>
          <p:cNvCxnSpPr>
            <a:stCxn id="6" idx="2"/>
            <a:endCxn id="7" idx="0"/>
          </p:cNvCxnSpPr>
          <p:nvPr/>
        </p:nvCxnSpPr>
        <p:spPr>
          <a:xfrm flipH="1">
            <a:off x="4045585" y="4286885"/>
            <a:ext cx="635" cy="372110"/>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4" name="直接箭头连接符 13"/>
          <p:cNvCxnSpPr>
            <a:stCxn id="7" idx="2"/>
            <a:endCxn id="8" idx="0"/>
          </p:cNvCxnSpPr>
          <p:nvPr/>
        </p:nvCxnSpPr>
        <p:spPr>
          <a:xfrm>
            <a:off x="4045585" y="5288280"/>
            <a:ext cx="635" cy="372110"/>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7" name="肘形连接符 16"/>
          <p:cNvCxnSpPr>
            <a:endCxn id="9" idx="1"/>
          </p:cNvCxnSpPr>
          <p:nvPr/>
        </p:nvCxnSpPr>
        <p:spPr>
          <a:xfrm flipV="1">
            <a:off x="5335905" y="2886075"/>
            <a:ext cx="1624965" cy="944880"/>
          </a:xfrm>
          <a:prstGeom prst="bentConnector3">
            <a:avLst>
              <a:gd name="adj1" fmla="val 50020"/>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8" name="肘形连接符 17"/>
          <p:cNvCxnSpPr>
            <a:stCxn id="9" idx="2"/>
            <a:endCxn id="10" idx="0"/>
          </p:cNvCxnSpPr>
          <p:nvPr/>
        </p:nvCxnSpPr>
        <p:spPr>
          <a:xfrm rot="5400000" flipV="1">
            <a:off x="8075295" y="3380740"/>
            <a:ext cx="353060" cy="3175"/>
          </a:xfrm>
          <a:prstGeom prst="bentConnector2">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9" name="肘形连接符 18"/>
          <p:cNvCxnSpPr>
            <a:stCxn id="10" idx="2"/>
            <a:endCxn id="11" idx="0"/>
          </p:cNvCxnSpPr>
          <p:nvPr/>
        </p:nvCxnSpPr>
        <p:spPr>
          <a:xfrm rot="5400000" flipV="1">
            <a:off x="8075295" y="4369435"/>
            <a:ext cx="353060" cy="3175"/>
          </a:xfrm>
          <a:prstGeom prst="bentConnector2">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20" name="肘形连接符 19"/>
          <p:cNvCxnSpPr>
            <a:stCxn id="11" idx="2"/>
          </p:cNvCxnSpPr>
          <p:nvPr/>
        </p:nvCxnSpPr>
        <p:spPr>
          <a:xfrm rot="5400000" flipH="1">
            <a:off x="6035040" y="3409315"/>
            <a:ext cx="1504950" cy="2928620"/>
          </a:xfrm>
          <a:prstGeom prst="bentConnector4">
            <a:avLst>
              <a:gd name="adj1" fmla="val -15823"/>
              <a:gd name="adj2" fmla="val 72029"/>
            </a:avLst>
          </a:prstGeom>
          <a:ln>
            <a:tailEnd type="arrow" w="med" len="med"/>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、网格生成技术点介绍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935990" y="2001520"/>
            <a:ext cx="8740140" cy="922020"/>
          </a:xfrm>
          <a:prstGeom prst="rect">
            <a:avLst/>
          </a:prstGeom>
          <a:noFill/>
        </p:spPr>
        <p:txBody>
          <a:bodyPr wrap="square" rtlCol="0">
            <a:spAutoFit/>
          </a:bodyPr>
          <a:p>
            <a:pPr indent="457200" algn="just" fontAlgn="auto">
              <a:lnSpc>
                <a:spcPct val="150000"/>
              </a:lnSpc>
            </a:pPr>
            <a:r>
              <a:rPr lang="zh-CN"/>
              <a:t>生成的网格会在用户设置的路径下输出</a:t>
            </a:r>
            <a:r>
              <a:rPr lang="en-US" altLang="zh-CN"/>
              <a:t>CGNS</a:t>
            </a:r>
            <a:r>
              <a:rPr lang="zh-CN" altLang="en-US"/>
              <a:t>格式网格文件，该文件可在其它软件中导入并进行</a:t>
            </a:r>
            <a:r>
              <a:rPr lang="en-US" altLang="zh-CN"/>
              <a:t>CFD</a:t>
            </a:r>
            <a:r>
              <a:rPr lang="zh-CN" altLang="en-US"/>
              <a:t>计算。</a:t>
            </a:r>
            <a:endParaRPr lang="zh-CN" altLang="en-US"/>
          </a:p>
        </p:txBody>
      </p:sp>
      <p:pic>
        <p:nvPicPr>
          <p:cNvPr id="6" name="图片 5"/>
          <p:cNvPicPr>
            <a:picLocks noChangeAspect="1"/>
          </p:cNvPicPr>
          <p:nvPr/>
        </p:nvPicPr>
        <p:blipFill>
          <a:blip r:embed="rId1"/>
          <a:stretch>
            <a:fillRect/>
          </a:stretch>
        </p:blipFill>
        <p:spPr>
          <a:xfrm>
            <a:off x="1605915" y="3228340"/>
            <a:ext cx="8756015" cy="3124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、网格生成技术点介绍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935990" y="2001520"/>
            <a:ext cx="9340215" cy="506730"/>
          </a:xfrm>
          <a:prstGeom prst="rect">
            <a:avLst/>
          </a:prstGeom>
          <a:noFill/>
        </p:spPr>
        <p:txBody>
          <a:bodyPr wrap="square" rtlCol="0">
            <a:spAutoFit/>
          </a:bodyPr>
          <a:p>
            <a:pPr indent="457200" algn="just" fontAlgn="auto">
              <a:lnSpc>
                <a:spcPct val="150000"/>
              </a:lnSpc>
            </a:pPr>
            <a:r>
              <a:rPr lang="zh-CN"/>
              <a:t>船身附近根据用户设置生成相应的边界层网格。边界层第一层厚度默认为船长的</a:t>
            </a:r>
            <a:r>
              <a:rPr lang="en-US" altLang="zh-CN"/>
              <a:t>1/1000</a:t>
            </a:r>
            <a:r>
              <a:rPr lang="zh-CN" altLang="en-US"/>
              <a:t>。</a:t>
            </a:r>
            <a:endParaRPr lang="zh-CN" altLang="en-US"/>
          </a:p>
        </p:txBody>
      </p:sp>
      <p:pic>
        <p:nvPicPr>
          <p:cNvPr id="5" name="图片 4"/>
          <p:cNvPicPr>
            <a:picLocks noChangeAspect="1"/>
          </p:cNvPicPr>
          <p:nvPr/>
        </p:nvPicPr>
        <p:blipFill>
          <a:blip r:embed="rId1"/>
          <a:stretch>
            <a:fillRect/>
          </a:stretch>
        </p:blipFill>
        <p:spPr>
          <a:xfrm>
            <a:off x="6686550" y="2892425"/>
            <a:ext cx="4742815" cy="3434715"/>
          </a:xfrm>
          <a:prstGeom prst="rect">
            <a:avLst/>
          </a:prstGeom>
        </p:spPr>
      </p:pic>
      <p:pic>
        <p:nvPicPr>
          <p:cNvPr id="7" name="图片 6"/>
          <p:cNvPicPr>
            <a:picLocks noChangeAspect="1"/>
          </p:cNvPicPr>
          <p:nvPr/>
        </p:nvPicPr>
        <p:blipFill>
          <a:blip r:embed="rId2"/>
          <a:stretch>
            <a:fillRect/>
          </a:stretch>
        </p:blipFill>
        <p:spPr>
          <a:xfrm>
            <a:off x="499745" y="3267710"/>
            <a:ext cx="5812155" cy="25425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、网格生成技术点介绍</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935990" y="2001520"/>
            <a:ext cx="9340215" cy="506730"/>
          </a:xfrm>
          <a:prstGeom prst="rect">
            <a:avLst/>
          </a:prstGeom>
          <a:noFill/>
        </p:spPr>
        <p:txBody>
          <a:bodyPr wrap="square" rtlCol="0">
            <a:spAutoFit/>
          </a:bodyPr>
          <a:p>
            <a:pPr indent="457200" algn="just" fontAlgn="auto">
              <a:lnSpc>
                <a:spcPct val="150000"/>
              </a:lnSpc>
            </a:pPr>
            <a:r>
              <a:rPr lang="zh-CN"/>
              <a:t>自由面附近根据用户设置对网格进行相应的加密。</a:t>
            </a:r>
            <a:endParaRPr lang="zh-CN" altLang="en-US"/>
          </a:p>
        </p:txBody>
      </p:sp>
      <p:pic>
        <p:nvPicPr>
          <p:cNvPr id="6" name="图片 5"/>
          <p:cNvPicPr>
            <a:picLocks noChangeAspect="1"/>
          </p:cNvPicPr>
          <p:nvPr/>
        </p:nvPicPr>
        <p:blipFill>
          <a:blip r:embed="rId1"/>
          <a:stretch>
            <a:fillRect/>
          </a:stretch>
        </p:blipFill>
        <p:spPr>
          <a:xfrm>
            <a:off x="423545" y="3169285"/>
            <a:ext cx="5676900" cy="3045460"/>
          </a:xfrm>
          <a:prstGeom prst="rect">
            <a:avLst/>
          </a:prstGeom>
        </p:spPr>
      </p:pic>
      <p:pic>
        <p:nvPicPr>
          <p:cNvPr id="8" name="图片 7"/>
          <p:cNvPicPr>
            <a:picLocks noChangeAspect="1"/>
          </p:cNvPicPr>
          <p:nvPr/>
        </p:nvPicPr>
        <p:blipFill>
          <a:blip r:embed="rId2"/>
          <a:stretch>
            <a:fillRect/>
          </a:stretch>
        </p:blipFill>
        <p:spPr>
          <a:xfrm>
            <a:off x="6525895" y="3096260"/>
            <a:ext cx="4410710" cy="31908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3</a:t>
            </a:r>
            <a:r>
              <a:rPr lang="zh-CN" altLang="en-US" sz="2000" dirty="0">
                <a:solidFill>
                  <a:schemeClr val="tx1"/>
                </a:solidFill>
                <a:latin typeface="微软雅黑" panose="020B0503020204020204" charset="-122"/>
                <a:ea typeface="微软雅黑" panose="020B0503020204020204" charset="-122"/>
                <a:sym typeface="+mn-ea"/>
              </a:rPr>
              <a:t>、</a:t>
            </a:r>
            <a:r>
              <a:rPr lang="en-US" altLang="zh-CN" sz="2000" dirty="0">
                <a:solidFill>
                  <a:schemeClr val="tx1"/>
                </a:solidFill>
                <a:latin typeface="微软雅黑" panose="020B0503020204020204" charset="-122"/>
                <a:ea typeface="微软雅黑" panose="020B0503020204020204" charset="-122"/>
                <a:sym typeface="+mn-ea"/>
              </a:rPr>
              <a:t>CGNS</a:t>
            </a:r>
            <a:r>
              <a:rPr lang="zh-CN" altLang="en-US" sz="2000" dirty="0">
                <a:solidFill>
                  <a:schemeClr val="tx1"/>
                </a:solidFill>
                <a:latin typeface="微软雅黑" panose="020B0503020204020204" charset="-122"/>
                <a:ea typeface="微软雅黑" panose="020B0503020204020204" charset="-122"/>
                <a:sym typeface="+mn-ea"/>
              </a:rPr>
              <a:t>格式网格导出</a:t>
            </a:r>
            <a:endParaRPr lang="zh-CN" altLang="en-US" sz="2000" dirty="0">
              <a:solidFill>
                <a:schemeClr val="tx1"/>
              </a:solidFill>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1"/>
          <a:stretch>
            <a:fillRect/>
          </a:stretch>
        </p:blipFill>
        <p:spPr>
          <a:xfrm>
            <a:off x="2059305" y="3042920"/>
            <a:ext cx="5895975" cy="2809875"/>
          </a:xfrm>
          <a:prstGeom prst="rect">
            <a:avLst/>
          </a:prstGeom>
        </p:spPr>
      </p:pic>
      <p:sp>
        <p:nvSpPr>
          <p:cNvPr id="5" name="文本框 4"/>
          <p:cNvSpPr txBox="1"/>
          <p:nvPr/>
        </p:nvSpPr>
        <p:spPr>
          <a:xfrm>
            <a:off x="935990" y="2001520"/>
            <a:ext cx="9340215" cy="922020"/>
          </a:xfrm>
          <a:prstGeom prst="rect">
            <a:avLst/>
          </a:prstGeom>
          <a:noFill/>
        </p:spPr>
        <p:txBody>
          <a:bodyPr wrap="square" rtlCol="0">
            <a:spAutoFit/>
          </a:bodyPr>
          <a:p>
            <a:pPr indent="457200" algn="just" fontAlgn="auto">
              <a:lnSpc>
                <a:spcPct val="150000"/>
              </a:lnSpc>
            </a:pPr>
            <a:r>
              <a:rPr lang="zh-CN" altLang="en-US"/>
              <a:t>在调用网格生成程序时会先将网格保存在该库中的网格数据结构中（</a:t>
            </a:r>
            <a:r>
              <a:rPr lang="en-US" altLang="zh-CN"/>
              <a:t>class meshBlock</a:t>
            </a:r>
            <a:r>
              <a:rPr lang="zh-CN" altLang="en-US"/>
              <a:t>），然后调用</a:t>
            </a:r>
            <a:r>
              <a:rPr lang="en-US" altLang="zh-CN"/>
              <a:t>CGNS</a:t>
            </a:r>
            <a:r>
              <a:rPr lang="zh-CN" altLang="en-US"/>
              <a:t>库输出</a:t>
            </a:r>
            <a:r>
              <a:rPr lang="en-US" altLang="zh-CN"/>
              <a:t>CGNS</a:t>
            </a:r>
            <a:r>
              <a:rPr lang="zh-CN" altLang="en-US"/>
              <a:t>格式网格文件。</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lang="zh-CN" altLang="en-US" sz="2000" b="0" dirty="0"/>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一</a:t>
            </a:r>
            <a:r>
              <a:rPr kumimoji="1" lang="zh-CN" altLang="en-US" sz="2500" dirty="0"/>
              <a:t>、</a:t>
            </a:r>
            <a:r>
              <a:rPr kumimoji="1" sz="2500">
                <a:sym typeface="+mn-ea"/>
              </a:rPr>
              <a:t>Wigley结构化网格介绍</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3</a:t>
            </a:r>
            <a:r>
              <a:rPr lang="zh-CN" altLang="en-US" sz="2000" dirty="0">
                <a:solidFill>
                  <a:schemeClr val="tx1"/>
                </a:solidFill>
                <a:latin typeface="微软雅黑" panose="020B0503020204020204" charset="-122"/>
                <a:ea typeface="微软雅黑" panose="020B0503020204020204" charset="-122"/>
                <a:sym typeface="+mn-ea"/>
              </a:rPr>
              <a:t>、</a:t>
            </a:r>
            <a:r>
              <a:rPr lang="en-US" altLang="zh-CN" sz="2000" dirty="0">
                <a:solidFill>
                  <a:schemeClr val="tx1"/>
                </a:solidFill>
                <a:latin typeface="微软雅黑" panose="020B0503020204020204" charset="-122"/>
                <a:ea typeface="微软雅黑" panose="020B0503020204020204" charset="-122"/>
                <a:sym typeface="+mn-ea"/>
              </a:rPr>
              <a:t>CGNS</a:t>
            </a:r>
            <a:r>
              <a:rPr lang="zh-CN" altLang="en-US" sz="2000" dirty="0">
                <a:solidFill>
                  <a:schemeClr val="tx1"/>
                </a:solidFill>
                <a:latin typeface="微软雅黑" panose="020B0503020204020204" charset="-122"/>
                <a:ea typeface="微软雅黑" panose="020B0503020204020204" charset="-122"/>
                <a:sym typeface="+mn-ea"/>
              </a:rPr>
              <a:t>格式网格导出</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5" name="文本框 4"/>
          <p:cNvSpPr txBox="1"/>
          <p:nvPr/>
        </p:nvSpPr>
        <p:spPr>
          <a:xfrm>
            <a:off x="935990" y="2001520"/>
            <a:ext cx="9340215" cy="1753235"/>
          </a:xfrm>
          <a:prstGeom prst="rect">
            <a:avLst/>
          </a:prstGeom>
          <a:noFill/>
        </p:spPr>
        <p:txBody>
          <a:bodyPr wrap="square" rtlCol="0">
            <a:spAutoFit/>
          </a:bodyPr>
          <a:p>
            <a:pPr indent="457200" algn="just" fontAlgn="auto">
              <a:lnSpc>
                <a:spcPct val="150000"/>
              </a:lnSpc>
            </a:pPr>
            <a:r>
              <a:rPr lang="zh-CN" altLang="en-US"/>
              <a:t>在调用网格生成程序时会先将网格保存在该库中的网格数据结构中（</a:t>
            </a:r>
            <a:r>
              <a:rPr lang="en-US" altLang="zh-CN"/>
              <a:t>class meshBlock</a:t>
            </a:r>
            <a:r>
              <a:rPr lang="zh-CN" altLang="en-US"/>
              <a:t>），然后调用</a:t>
            </a:r>
            <a:r>
              <a:rPr lang="en-US" altLang="zh-CN"/>
              <a:t>CGNS</a:t>
            </a:r>
            <a:r>
              <a:rPr lang="zh-CN" altLang="en-US"/>
              <a:t>库输出</a:t>
            </a:r>
            <a:r>
              <a:rPr lang="en-US" altLang="zh-CN"/>
              <a:t>CGNS</a:t>
            </a:r>
            <a:r>
              <a:rPr lang="zh-CN" altLang="en-US"/>
              <a:t>格式网格文件。</a:t>
            </a:r>
            <a:endParaRPr lang="zh-CN" altLang="en-US"/>
          </a:p>
          <a:p>
            <a:pPr indent="457200" algn="just" fontAlgn="auto">
              <a:lnSpc>
                <a:spcPct val="150000"/>
              </a:lnSpc>
            </a:pPr>
            <a:r>
              <a:rPr lang="en-US" altLang="zh-CN"/>
              <a:t>CGNS</a:t>
            </a:r>
            <a:r>
              <a:rPr lang="zh-CN" altLang="en-US"/>
              <a:t>支持多种类型网格，生成的</a:t>
            </a:r>
            <a:r>
              <a:rPr lang="en-US" altLang="zh-CN"/>
              <a:t>wigley</a:t>
            </a:r>
            <a:r>
              <a:rPr lang="zh-CN" altLang="en-US"/>
              <a:t>船型结构化网格可全部转换为</a:t>
            </a:r>
            <a:r>
              <a:rPr lang="en-US" altLang="zh-CN"/>
              <a:t>HEXA_8</a:t>
            </a:r>
            <a:r>
              <a:rPr lang="zh-CN" altLang="en-US"/>
              <a:t>类型网格导出文件。</a:t>
            </a:r>
            <a:endParaRPr lang="zh-CN" altLang="en-US"/>
          </a:p>
        </p:txBody>
      </p:sp>
      <p:pic>
        <p:nvPicPr>
          <p:cNvPr id="6" name="图片 5"/>
          <p:cNvPicPr>
            <a:picLocks noChangeAspect="1"/>
          </p:cNvPicPr>
          <p:nvPr/>
        </p:nvPicPr>
        <p:blipFill>
          <a:blip r:embed="rId1"/>
          <a:stretch>
            <a:fillRect/>
          </a:stretch>
        </p:blipFill>
        <p:spPr>
          <a:xfrm>
            <a:off x="4107180" y="3699510"/>
            <a:ext cx="3753485" cy="29984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5" name="矩形: 圆角 3"/>
          <p:cNvSpPr/>
          <p:nvPr/>
        </p:nvSpPr>
        <p:spPr>
          <a:xfrm>
            <a:off x="4627245" y="2101850"/>
            <a:ext cx="2936875" cy="469900"/>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600" b="1" dirty="0">
                <a:solidFill>
                  <a:schemeClr val="bg1"/>
                </a:solidFill>
                <a:latin typeface="微软雅黑" panose="020B0503020204020204" charset="-122"/>
                <a:ea typeface="微软雅黑" panose="020B0503020204020204" charset="-122"/>
              </a:rPr>
              <a:t>网格生成流程</a:t>
            </a:r>
            <a:endParaRPr lang="zh-CN" altLang="en-US" sz="2600" b="1" dirty="0">
              <a:solidFill>
                <a:schemeClr val="bg1"/>
              </a:solidFill>
              <a:latin typeface="微软雅黑" panose="020B0503020204020204" charset="-122"/>
              <a:ea typeface="微软雅黑" panose="020B0503020204020204" charset="-122"/>
            </a:endParaRPr>
          </a:p>
        </p:txBody>
      </p:sp>
      <p:cxnSp>
        <p:nvCxnSpPr>
          <p:cNvPr id="6" name="肘形连接符 5"/>
          <p:cNvCxnSpPr>
            <a:stCxn id="5" idx="2"/>
            <a:endCxn id="21" idx="0"/>
          </p:cNvCxnSpPr>
          <p:nvPr/>
        </p:nvCxnSpPr>
        <p:spPr>
          <a:xfrm rot="5400000">
            <a:off x="2994978" y="552768"/>
            <a:ext cx="1082040" cy="5120005"/>
          </a:xfrm>
          <a:prstGeom prst="bentConnector3">
            <a:avLst>
              <a:gd name="adj1" fmla="val 49971"/>
            </a:avLst>
          </a:prstGeom>
          <a:ln>
            <a:tailEnd type="arrow" w="med" len="med"/>
          </a:ln>
        </p:spPr>
        <p:style>
          <a:lnRef idx="3">
            <a:schemeClr val="accent1"/>
          </a:lnRef>
          <a:fillRef idx="0">
            <a:srgbClr val="FFFFFF"/>
          </a:fillRef>
          <a:effectRef idx="0">
            <a:srgbClr val="FFFFFF"/>
          </a:effectRef>
          <a:fontRef idx="minor">
            <a:schemeClr val="tx1"/>
          </a:fontRef>
        </p:style>
      </p:cxnSp>
      <p:sp>
        <p:nvSpPr>
          <p:cNvPr id="9" name="矩形: 圆角 3"/>
          <p:cNvSpPr/>
          <p:nvPr/>
        </p:nvSpPr>
        <p:spPr>
          <a:xfrm>
            <a:off x="4252595"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rPr>
              <a:t>3</a:t>
            </a:r>
            <a:r>
              <a:rPr lang="zh-CN" altLang="en-US" sz="1600" b="1" dirty="0">
                <a:solidFill>
                  <a:schemeClr val="bg1"/>
                </a:solidFill>
                <a:latin typeface="微软雅黑" panose="020B0503020204020204" charset="-122"/>
                <a:ea typeface="微软雅黑" panose="020B0503020204020204" charset="-122"/>
              </a:rPr>
              <a:t>、配置网格参数控制文件</a:t>
            </a:r>
            <a:endParaRPr lang="zh-CN" altLang="en-US" sz="1600" b="1" dirty="0">
              <a:solidFill>
                <a:schemeClr val="bg1"/>
              </a:solidFill>
              <a:latin typeface="微软雅黑" panose="020B0503020204020204" charset="-122"/>
              <a:ea typeface="微软雅黑" panose="020B0503020204020204" charset="-122"/>
            </a:endParaRPr>
          </a:p>
        </p:txBody>
      </p:sp>
      <p:cxnSp>
        <p:nvCxnSpPr>
          <p:cNvPr id="10" name="肘形连接符 9"/>
          <p:cNvCxnSpPr>
            <a:stCxn id="5" idx="2"/>
            <a:endCxn id="22" idx="0"/>
          </p:cNvCxnSpPr>
          <p:nvPr/>
        </p:nvCxnSpPr>
        <p:spPr>
          <a:xfrm rot="5400000">
            <a:off x="4019868" y="1577658"/>
            <a:ext cx="1082040" cy="3070225"/>
          </a:xfrm>
          <a:prstGeom prst="bentConnector3">
            <a:avLst>
              <a:gd name="adj1" fmla="val 4997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1" name="肘形连接符 10"/>
          <p:cNvCxnSpPr>
            <a:stCxn id="5" idx="2"/>
            <a:endCxn id="9" idx="0"/>
          </p:cNvCxnSpPr>
          <p:nvPr/>
        </p:nvCxnSpPr>
        <p:spPr>
          <a:xfrm rot="5400000">
            <a:off x="5044758" y="2602548"/>
            <a:ext cx="1082040" cy="1020445"/>
          </a:xfrm>
          <a:prstGeom prst="bentConnector3">
            <a:avLst>
              <a:gd name="adj1" fmla="val 4997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3" name="肘形连接符 12"/>
          <p:cNvCxnSpPr>
            <a:stCxn id="5" idx="2"/>
            <a:endCxn id="23" idx="0"/>
          </p:cNvCxnSpPr>
          <p:nvPr/>
        </p:nvCxnSpPr>
        <p:spPr>
          <a:xfrm rot="5400000" flipV="1">
            <a:off x="6069648" y="2598103"/>
            <a:ext cx="1082040" cy="1029335"/>
          </a:xfrm>
          <a:prstGeom prst="bentConnector3">
            <a:avLst>
              <a:gd name="adj1" fmla="val 4997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18" name="肘形连接符 17"/>
          <p:cNvCxnSpPr>
            <a:stCxn id="5" idx="2"/>
            <a:endCxn id="24" idx="0"/>
          </p:cNvCxnSpPr>
          <p:nvPr/>
        </p:nvCxnSpPr>
        <p:spPr>
          <a:xfrm rot="5400000" flipV="1">
            <a:off x="7094538" y="1573213"/>
            <a:ext cx="1082040" cy="3079115"/>
          </a:xfrm>
          <a:prstGeom prst="bentConnector3">
            <a:avLst>
              <a:gd name="adj1" fmla="val 49971"/>
            </a:avLst>
          </a:prstGeom>
          <a:ln>
            <a:tailEnd type="arrow" w="med" len="med"/>
          </a:ln>
        </p:spPr>
        <p:style>
          <a:lnRef idx="3">
            <a:schemeClr val="accent1"/>
          </a:lnRef>
          <a:fillRef idx="0">
            <a:srgbClr val="FFFFFF"/>
          </a:fillRef>
          <a:effectRef idx="0">
            <a:srgbClr val="FFFFFF"/>
          </a:effectRef>
          <a:fontRef idx="minor">
            <a:schemeClr val="tx1"/>
          </a:fontRef>
        </p:style>
      </p:cxnSp>
      <p:cxnSp>
        <p:nvCxnSpPr>
          <p:cNvPr id="20" name="肘形连接符 19"/>
          <p:cNvCxnSpPr>
            <a:stCxn id="5" idx="2"/>
            <a:endCxn id="25" idx="0"/>
          </p:cNvCxnSpPr>
          <p:nvPr/>
        </p:nvCxnSpPr>
        <p:spPr>
          <a:xfrm rot="5400000" flipV="1">
            <a:off x="8119428" y="548323"/>
            <a:ext cx="1082040" cy="5128895"/>
          </a:xfrm>
          <a:prstGeom prst="bentConnector3">
            <a:avLst>
              <a:gd name="adj1" fmla="val 49971"/>
            </a:avLst>
          </a:prstGeom>
          <a:ln>
            <a:tailEnd type="arrow" w="med" len="med"/>
          </a:ln>
        </p:spPr>
        <p:style>
          <a:lnRef idx="3">
            <a:schemeClr val="accent1"/>
          </a:lnRef>
          <a:fillRef idx="0">
            <a:srgbClr val="FFFFFF"/>
          </a:fillRef>
          <a:effectRef idx="0">
            <a:srgbClr val="FFFFFF"/>
          </a:effectRef>
          <a:fontRef idx="minor">
            <a:schemeClr val="tx1"/>
          </a:fontRef>
        </p:style>
      </p:cxnSp>
      <p:sp>
        <p:nvSpPr>
          <p:cNvPr id="21" name="矩形: 圆角 3"/>
          <p:cNvSpPr/>
          <p:nvPr/>
        </p:nvSpPr>
        <p:spPr>
          <a:xfrm>
            <a:off x="153035"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1</a:t>
            </a:r>
            <a:r>
              <a:rPr lang="zh-CN" altLang="en-US" sz="1600" b="1" dirty="0">
                <a:solidFill>
                  <a:schemeClr val="bg1"/>
                </a:solidFill>
                <a:latin typeface="微软雅黑" panose="020B0503020204020204" charset="-122"/>
                <a:ea typeface="微软雅黑" panose="020B0503020204020204" charset="-122"/>
                <a:sym typeface="+mn-ea"/>
              </a:rPr>
              <a:t>、导入模型</a:t>
            </a:r>
            <a:endParaRPr lang="zh-CN" altLang="en-US" sz="1600" b="1" dirty="0">
              <a:solidFill>
                <a:schemeClr val="bg1"/>
              </a:solidFill>
              <a:latin typeface="微软雅黑" panose="020B0503020204020204" charset="-122"/>
              <a:ea typeface="微软雅黑" panose="020B0503020204020204" charset="-122"/>
            </a:endParaRPr>
          </a:p>
        </p:txBody>
      </p:sp>
      <p:sp>
        <p:nvSpPr>
          <p:cNvPr id="22" name="矩形: 圆角 3"/>
          <p:cNvSpPr/>
          <p:nvPr/>
        </p:nvSpPr>
        <p:spPr>
          <a:xfrm>
            <a:off x="2202815"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2</a:t>
            </a:r>
            <a:r>
              <a:rPr lang="zh-CN" altLang="en-US" sz="1600" b="1" dirty="0">
                <a:solidFill>
                  <a:schemeClr val="bg1"/>
                </a:solidFill>
                <a:latin typeface="微软雅黑" panose="020B0503020204020204" charset="-122"/>
                <a:ea typeface="微软雅黑" panose="020B0503020204020204" charset="-122"/>
                <a:sym typeface="+mn-ea"/>
              </a:rPr>
              <a:t>、网格参数输入界面</a:t>
            </a:r>
            <a:endParaRPr lang="zh-CN" altLang="en-US" sz="1600" b="1" dirty="0">
              <a:solidFill>
                <a:schemeClr val="bg1"/>
              </a:solidFill>
              <a:latin typeface="微软雅黑" panose="020B0503020204020204" charset="-122"/>
              <a:ea typeface="微软雅黑" panose="020B0503020204020204" charset="-122"/>
            </a:endParaRPr>
          </a:p>
        </p:txBody>
      </p:sp>
      <p:sp>
        <p:nvSpPr>
          <p:cNvPr id="23" name="矩形: 圆角 3"/>
          <p:cNvSpPr/>
          <p:nvPr/>
        </p:nvSpPr>
        <p:spPr>
          <a:xfrm>
            <a:off x="6302375"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4</a:t>
            </a:r>
            <a:r>
              <a:rPr lang="zh-CN" altLang="en-US" sz="1600" b="1" dirty="0">
                <a:solidFill>
                  <a:schemeClr val="bg1"/>
                </a:solidFill>
                <a:latin typeface="微软雅黑" panose="020B0503020204020204" charset="-122"/>
                <a:ea typeface="微软雅黑" panose="020B0503020204020204" charset="-122"/>
                <a:sym typeface="+mn-ea"/>
              </a:rPr>
              <a:t>、调用网格生成模块</a:t>
            </a:r>
            <a:endParaRPr lang="zh-CN" altLang="en-US" sz="1600" b="1" dirty="0">
              <a:solidFill>
                <a:schemeClr val="bg1"/>
              </a:solidFill>
              <a:latin typeface="微软雅黑" panose="020B0503020204020204" charset="-122"/>
              <a:ea typeface="微软雅黑" panose="020B0503020204020204" charset="-122"/>
            </a:endParaRPr>
          </a:p>
        </p:txBody>
      </p:sp>
      <p:sp>
        <p:nvSpPr>
          <p:cNvPr id="24" name="矩形: 圆角 3"/>
          <p:cNvSpPr/>
          <p:nvPr/>
        </p:nvSpPr>
        <p:spPr>
          <a:xfrm>
            <a:off x="8352155"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5</a:t>
            </a:r>
            <a:r>
              <a:rPr lang="zh-CN" altLang="en-US" sz="1600" b="1" dirty="0">
                <a:solidFill>
                  <a:schemeClr val="bg1"/>
                </a:solidFill>
                <a:latin typeface="微软雅黑" panose="020B0503020204020204" charset="-122"/>
                <a:ea typeface="微软雅黑" panose="020B0503020204020204" charset="-122"/>
                <a:sym typeface="+mn-ea"/>
              </a:rPr>
              <a:t>、网格显示</a:t>
            </a:r>
            <a:endParaRPr lang="zh-CN" altLang="en-US" sz="1600" b="1" dirty="0">
              <a:solidFill>
                <a:schemeClr val="bg1"/>
              </a:solidFill>
              <a:latin typeface="微软雅黑" panose="020B0503020204020204" charset="-122"/>
              <a:ea typeface="微软雅黑" panose="020B0503020204020204" charset="-122"/>
            </a:endParaRPr>
          </a:p>
        </p:txBody>
      </p:sp>
      <p:sp>
        <p:nvSpPr>
          <p:cNvPr id="25" name="矩形: 圆角 3"/>
          <p:cNvSpPr/>
          <p:nvPr/>
        </p:nvSpPr>
        <p:spPr>
          <a:xfrm>
            <a:off x="10401935" y="3653790"/>
            <a:ext cx="1645285" cy="955040"/>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b="1" dirty="0">
                <a:solidFill>
                  <a:schemeClr val="bg1"/>
                </a:solidFill>
                <a:latin typeface="微软雅黑" panose="020B0503020204020204" charset="-122"/>
                <a:ea typeface="微软雅黑" panose="020B0503020204020204" charset="-122"/>
                <a:sym typeface="+mn-ea"/>
              </a:rPr>
              <a:t>6</a:t>
            </a:r>
            <a:r>
              <a:rPr lang="zh-CN" altLang="en-US" sz="1600" b="1" dirty="0">
                <a:solidFill>
                  <a:schemeClr val="bg1"/>
                </a:solidFill>
                <a:latin typeface="微软雅黑" panose="020B0503020204020204" charset="-122"/>
                <a:ea typeface="微软雅黑" panose="020B0503020204020204" charset="-122"/>
                <a:sym typeface="+mn-ea"/>
              </a:rPr>
              <a:t>、网格导出</a:t>
            </a:r>
            <a:endParaRPr lang="zh-CN" altLang="en-US" sz="1600"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2" name="文本框 1"/>
          <p:cNvSpPr txBox="1"/>
          <p:nvPr/>
        </p:nvSpPr>
        <p:spPr>
          <a:xfrm>
            <a:off x="725805" y="1478915"/>
            <a:ext cx="2991485" cy="398780"/>
          </a:xfrm>
          <a:prstGeom prst="rect">
            <a:avLst/>
          </a:prstGeom>
          <a:noFill/>
        </p:spPr>
        <p:txBody>
          <a:bodyPr wrap="square" rtlCol="0" anchor="t">
            <a:spAutoFit/>
          </a:bodyPr>
          <a:p>
            <a:r>
              <a:rPr lang="en-US" altLang="zh-CN" sz="2000" dirty="0">
                <a:solidFill>
                  <a:schemeClr val="tx1"/>
                </a:solidFill>
                <a:latin typeface="微软雅黑" panose="020B0503020204020204" charset="-122"/>
                <a:ea typeface="微软雅黑" panose="020B0503020204020204" charset="-122"/>
                <a:sym typeface="+mn-ea"/>
              </a:rPr>
              <a:t>1</a:t>
            </a:r>
            <a:r>
              <a:rPr lang="zh-CN" altLang="en-US" sz="2000" dirty="0">
                <a:solidFill>
                  <a:schemeClr val="tx1"/>
                </a:solidFill>
                <a:latin typeface="微软雅黑" panose="020B0503020204020204" charset="-122"/>
                <a:ea typeface="微软雅黑" panose="020B0503020204020204" charset="-122"/>
                <a:sym typeface="+mn-ea"/>
              </a:rPr>
              <a:t>、导入模型（已完成）</a:t>
            </a:r>
            <a:endParaRPr lang="zh-CN" altLang="en-US" sz="2000" dirty="0">
              <a:solidFill>
                <a:schemeClr val="tx1"/>
              </a:solidFill>
              <a:latin typeface="微软雅黑" panose="020B0503020204020204" charset="-122"/>
              <a:ea typeface="微软雅黑" panose="020B0503020204020204" charset="-122"/>
              <a:sym typeface="+mn-ea"/>
            </a:endParaRPr>
          </a:p>
        </p:txBody>
      </p:sp>
      <p:sp>
        <p:nvSpPr>
          <p:cNvPr id="7" name="文本框 6"/>
          <p:cNvSpPr txBox="1"/>
          <p:nvPr/>
        </p:nvSpPr>
        <p:spPr>
          <a:xfrm>
            <a:off x="593090" y="1877695"/>
            <a:ext cx="3368675" cy="1753235"/>
          </a:xfrm>
          <a:prstGeom prst="rect">
            <a:avLst/>
          </a:prstGeom>
          <a:noFill/>
        </p:spPr>
        <p:txBody>
          <a:bodyPr wrap="square" rtlCol="0">
            <a:spAutoFit/>
          </a:bodyPr>
          <a:p>
            <a:pPr indent="457200" algn="just" fontAlgn="auto">
              <a:lnSpc>
                <a:spcPct val="150000"/>
              </a:lnSpc>
            </a:pPr>
            <a:r>
              <a:rPr lang="zh-CN" altLang="en-US"/>
              <a:t>可支持.igs和.stp等几何格式导入。导入的几何可在三维几何显示窗口显示，用户可通过鼠标拖动、缩放等操作查看。</a:t>
            </a:r>
            <a:endParaRPr lang="zh-CN" altLang="en-US"/>
          </a:p>
        </p:txBody>
      </p:sp>
      <p:pic>
        <p:nvPicPr>
          <p:cNvPr id="8" name="图片 7"/>
          <p:cNvPicPr>
            <a:picLocks noChangeAspect="1"/>
          </p:cNvPicPr>
          <p:nvPr/>
        </p:nvPicPr>
        <p:blipFill>
          <a:blip r:embed="rId1"/>
          <a:stretch>
            <a:fillRect/>
          </a:stretch>
        </p:blipFill>
        <p:spPr>
          <a:xfrm>
            <a:off x="3961765" y="1938020"/>
            <a:ext cx="8220075" cy="4434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2" name="文本框 1"/>
          <p:cNvSpPr txBox="1"/>
          <p:nvPr/>
        </p:nvSpPr>
        <p:spPr>
          <a:xfrm>
            <a:off x="725805" y="1478915"/>
            <a:ext cx="4828540" cy="398780"/>
          </a:xfrm>
          <a:prstGeom prst="rect">
            <a:avLst/>
          </a:prstGeom>
          <a:noFill/>
        </p:spPr>
        <p:txBody>
          <a:bodyPr wrap="square" rtlCol="0" anchor="t">
            <a:spAutoFit/>
          </a:bodyPr>
          <a:p>
            <a:r>
              <a:rPr sz="2000" dirty="0">
                <a:solidFill>
                  <a:schemeClr val="tx1"/>
                </a:solidFill>
                <a:latin typeface="微软雅黑" panose="020B0503020204020204" charset="-122"/>
                <a:ea typeface="微软雅黑" panose="020B0503020204020204" charset="-122"/>
                <a:sym typeface="+mn-ea"/>
              </a:rPr>
              <a:t>2、网格</a:t>
            </a:r>
            <a:r>
              <a:rPr lang="zh-CN" sz="2000" dirty="0">
                <a:solidFill>
                  <a:schemeClr val="tx1"/>
                </a:solidFill>
                <a:latin typeface="微软雅黑" panose="020B0503020204020204" charset="-122"/>
                <a:ea typeface="微软雅黑" panose="020B0503020204020204" charset="-122"/>
                <a:sym typeface="+mn-ea"/>
              </a:rPr>
              <a:t>控制</a:t>
            </a:r>
            <a:r>
              <a:rPr sz="2000" dirty="0">
                <a:solidFill>
                  <a:schemeClr val="tx1"/>
                </a:solidFill>
                <a:latin typeface="微软雅黑" panose="020B0503020204020204" charset="-122"/>
                <a:ea typeface="微软雅黑" panose="020B0503020204020204" charset="-122"/>
                <a:sym typeface="+mn-ea"/>
              </a:rPr>
              <a:t>参数输入界面</a:t>
            </a:r>
            <a:r>
              <a:rPr lang="zh-CN" sz="2000" dirty="0">
                <a:solidFill>
                  <a:schemeClr val="tx1"/>
                </a:solidFill>
                <a:latin typeface="微软雅黑" panose="020B0503020204020204" charset="-122"/>
                <a:ea typeface="微软雅黑" panose="020B0503020204020204" charset="-122"/>
                <a:sym typeface="+mn-ea"/>
              </a:rPr>
              <a:t>（正在进行）</a:t>
            </a:r>
            <a:endParaRPr lang="zh-CN"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725805" y="1985645"/>
            <a:ext cx="3644900" cy="2168525"/>
          </a:xfrm>
          <a:prstGeom prst="rect">
            <a:avLst/>
          </a:prstGeom>
          <a:noFill/>
        </p:spPr>
        <p:txBody>
          <a:bodyPr wrap="square" rtlCol="0">
            <a:spAutoFit/>
          </a:bodyPr>
          <a:p>
            <a:pPr indent="457200" algn="just" fontAlgn="auto">
              <a:lnSpc>
                <a:spcPct val="150000"/>
              </a:lnSpc>
            </a:pPr>
            <a:r>
              <a:rPr lang="zh-CN" altLang="en-US"/>
              <a:t>根据用户需求定制专属界面以供网格参数输入（右图示例）。</a:t>
            </a:r>
            <a:endParaRPr lang="zh-CN" altLang="en-US"/>
          </a:p>
          <a:p>
            <a:pPr indent="457200" algn="just" fontAlgn="auto">
              <a:lnSpc>
                <a:spcPct val="150000"/>
              </a:lnSpc>
            </a:pPr>
            <a:r>
              <a:rPr lang="zh-CN" altLang="en-US"/>
              <a:t>待</a:t>
            </a:r>
            <a:r>
              <a:rPr lang="en-US" altLang="zh-CN">
                <a:sym typeface="+mn-ea"/>
              </a:rPr>
              <a:t>SnappyHexMesh</a:t>
            </a:r>
            <a:r>
              <a:rPr lang="zh-CN" altLang="en-US">
                <a:sym typeface="+mn-ea"/>
              </a:rPr>
              <a:t>调用完成后再详细开发。</a:t>
            </a:r>
            <a:endParaRPr lang="zh-CN" altLang="en-US"/>
          </a:p>
          <a:p>
            <a:pPr indent="457200" fontAlgn="auto">
              <a:lnSpc>
                <a:spcPct val="150000"/>
              </a:lnSpc>
            </a:pPr>
            <a:endParaRPr lang="en-US" altLang="zh-CN"/>
          </a:p>
        </p:txBody>
      </p:sp>
      <p:pic>
        <p:nvPicPr>
          <p:cNvPr id="5" name="图片 4"/>
          <p:cNvPicPr>
            <a:picLocks noChangeAspect="1"/>
          </p:cNvPicPr>
          <p:nvPr/>
        </p:nvPicPr>
        <p:blipFill>
          <a:blip r:embed="rId1"/>
          <a:stretch>
            <a:fillRect/>
          </a:stretch>
        </p:blipFill>
        <p:spPr>
          <a:xfrm>
            <a:off x="5955030" y="1985645"/>
            <a:ext cx="4840605" cy="45643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2" name="文本框 1"/>
          <p:cNvSpPr txBox="1"/>
          <p:nvPr/>
        </p:nvSpPr>
        <p:spPr>
          <a:xfrm>
            <a:off x="725805" y="1478915"/>
            <a:ext cx="4647565" cy="398780"/>
          </a:xfrm>
          <a:prstGeom prst="rect">
            <a:avLst/>
          </a:prstGeom>
          <a:noFill/>
        </p:spPr>
        <p:txBody>
          <a:bodyPr wrap="square" rtlCol="0" anchor="t">
            <a:spAutoFit/>
          </a:bodyPr>
          <a:p>
            <a:r>
              <a:rPr lang="en-US" sz="2000" dirty="0">
                <a:solidFill>
                  <a:schemeClr val="tx1"/>
                </a:solidFill>
                <a:latin typeface="微软雅黑" panose="020B0503020204020204" charset="-122"/>
                <a:ea typeface="微软雅黑" panose="020B0503020204020204" charset="-122"/>
                <a:sym typeface="+mn-ea"/>
              </a:rPr>
              <a:t>3</a:t>
            </a:r>
            <a:r>
              <a:rPr lang="zh-CN" altLang="en-US" sz="2000" dirty="0">
                <a:solidFill>
                  <a:schemeClr val="tx1"/>
                </a:solidFill>
                <a:latin typeface="微软雅黑" panose="020B0503020204020204" charset="-122"/>
                <a:ea typeface="微软雅黑" panose="020B0503020204020204" charset="-122"/>
                <a:sym typeface="+mn-ea"/>
              </a:rPr>
              <a:t>、</a:t>
            </a:r>
            <a:r>
              <a:rPr sz="2000" dirty="0">
                <a:solidFill>
                  <a:schemeClr val="tx1"/>
                </a:solidFill>
                <a:latin typeface="微软雅黑" panose="020B0503020204020204" charset="-122"/>
                <a:ea typeface="微软雅黑" panose="020B0503020204020204" charset="-122"/>
                <a:sym typeface="+mn-ea"/>
              </a:rPr>
              <a:t>配置网格参数控制文件</a:t>
            </a:r>
            <a:r>
              <a:rPr lang="zh-CN" sz="2000" dirty="0">
                <a:solidFill>
                  <a:schemeClr val="tx1"/>
                </a:solidFill>
                <a:latin typeface="微软雅黑" panose="020B0503020204020204" charset="-122"/>
                <a:ea typeface="微软雅黑" panose="020B0503020204020204" charset="-122"/>
                <a:sym typeface="+mn-ea"/>
              </a:rPr>
              <a:t>（正在进行）</a:t>
            </a:r>
            <a:endParaRPr lang="zh-CN"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725805" y="2252345"/>
            <a:ext cx="3701415" cy="1753235"/>
          </a:xfrm>
          <a:prstGeom prst="rect">
            <a:avLst/>
          </a:prstGeom>
          <a:noFill/>
        </p:spPr>
        <p:txBody>
          <a:bodyPr wrap="square" rtlCol="0">
            <a:spAutoFit/>
          </a:bodyPr>
          <a:p>
            <a:pPr indent="457200" algn="just" fontAlgn="auto">
              <a:lnSpc>
                <a:spcPct val="150000"/>
              </a:lnSpc>
            </a:pPr>
            <a:r>
              <a:rPr lang="zh-CN" altLang="en-US"/>
              <a:t>根据用户参数设置配置相关控制文件并保存在工作路径中。该文件作为后续调用</a:t>
            </a:r>
            <a:r>
              <a:rPr lang="en-US" altLang="zh-CN"/>
              <a:t>SnappyHexMesh</a:t>
            </a:r>
            <a:r>
              <a:rPr lang="zh-CN" altLang="en-US"/>
              <a:t>网格划分功能参数控制输入。</a:t>
            </a:r>
            <a:endParaRPr lang="zh-CN" altLang="en-US"/>
          </a:p>
        </p:txBody>
      </p:sp>
      <p:pic>
        <p:nvPicPr>
          <p:cNvPr id="5" name="图片 4"/>
          <p:cNvPicPr>
            <a:picLocks noChangeAspect="1"/>
          </p:cNvPicPr>
          <p:nvPr/>
        </p:nvPicPr>
        <p:blipFill>
          <a:blip r:embed="rId1"/>
          <a:stretch>
            <a:fillRect/>
          </a:stretch>
        </p:blipFill>
        <p:spPr>
          <a:xfrm>
            <a:off x="1447800" y="4660265"/>
            <a:ext cx="2694940" cy="1311910"/>
          </a:xfrm>
          <a:prstGeom prst="rect">
            <a:avLst/>
          </a:prstGeom>
        </p:spPr>
      </p:pic>
      <p:pic>
        <p:nvPicPr>
          <p:cNvPr id="6" name="图片 5"/>
          <p:cNvPicPr>
            <a:picLocks noChangeAspect="1"/>
          </p:cNvPicPr>
          <p:nvPr/>
        </p:nvPicPr>
        <p:blipFill>
          <a:blip r:embed="rId2"/>
          <a:stretch>
            <a:fillRect/>
          </a:stretch>
        </p:blipFill>
        <p:spPr>
          <a:xfrm>
            <a:off x="7548880" y="1374140"/>
            <a:ext cx="3402965" cy="51822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2" name="文本框 1"/>
          <p:cNvSpPr txBox="1"/>
          <p:nvPr/>
        </p:nvSpPr>
        <p:spPr>
          <a:xfrm>
            <a:off x="725805" y="1478915"/>
            <a:ext cx="4218940" cy="398780"/>
          </a:xfrm>
          <a:prstGeom prst="rect">
            <a:avLst/>
          </a:prstGeom>
          <a:noFill/>
        </p:spPr>
        <p:txBody>
          <a:bodyPr wrap="square" rtlCol="0" anchor="t">
            <a:spAutoFit/>
          </a:bodyPr>
          <a:p>
            <a:r>
              <a:rPr sz="2000" dirty="0">
                <a:solidFill>
                  <a:schemeClr val="tx1"/>
                </a:solidFill>
                <a:latin typeface="微软雅黑" panose="020B0503020204020204" charset="-122"/>
                <a:ea typeface="微软雅黑" panose="020B0503020204020204" charset="-122"/>
                <a:sym typeface="+mn-ea"/>
              </a:rPr>
              <a:t>4、调用网格生成模块</a:t>
            </a:r>
            <a:r>
              <a:rPr lang="zh-CN" sz="2000" dirty="0">
                <a:solidFill>
                  <a:schemeClr val="tx1"/>
                </a:solidFill>
                <a:latin typeface="微软雅黑" panose="020B0503020204020204" charset="-122"/>
                <a:ea typeface="微软雅黑" panose="020B0503020204020204" charset="-122"/>
                <a:sym typeface="+mn-ea"/>
              </a:rPr>
              <a:t>（正在进行）</a:t>
            </a:r>
            <a:endParaRPr lang="zh-CN"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725805" y="1995170"/>
            <a:ext cx="4381500" cy="1337945"/>
          </a:xfrm>
          <a:prstGeom prst="rect">
            <a:avLst/>
          </a:prstGeom>
          <a:noFill/>
        </p:spPr>
        <p:txBody>
          <a:bodyPr wrap="square" rtlCol="0">
            <a:spAutoFit/>
          </a:bodyPr>
          <a:p>
            <a:pPr indent="457200" fontAlgn="auto">
              <a:lnSpc>
                <a:spcPct val="150000"/>
              </a:lnSpc>
            </a:pPr>
            <a:r>
              <a:rPr lang="zh-CN" altLang="en-US"/>
              <a:t>可通过配置</a:t>
            </a:r>
            <a:r>
              <a:rPr lang="en-US" altLang="zh-CN"/>
              <a:t>.bat</a:t>
            </a:r>
            <a:r>
              <a:rPr lang="zh-CN" altLang="en-US"/>
              <a:t>可执行文件或直接运行相应的调用命令直接调</a:t>
            </a:r>
            <a:r>
              <a:rPr lang="en-US" altLang="zh-CN">
                <a:sym typeface="+mn-ea"/>
              </a:rPr>
              <a:t>SnappyHexMesh</a:t>
            </a:r>
            <a:r>
              <a:rPr lang="zh-CN" altLang="en-US">
                <a:sym typeface="+mn-ea"/>
              </a:rPr>
              <a:t>网格划分功能。</a:t>
            </a:r>
            <a:endParaRPr lang="zh-CN" altLang="en-US">
              <a:sym typeface="+mn-ea"/>
            </a:endParaRPr>
          </a:p>
        </p:txBody>
      </p:sp>
      <p:pic>
        <p:nvPicPr>
          <p:cNvPr id="7" name="图片 6"/>
          <p:cNvPicPr>
            <a:picLocks noChangeAspect="1"/>
          </p:cNvPicPr>
          <p:nvPr/>
        </p:nvPicPr>
        <p:blipFill>
          <a:blip r:embed="rId1"/>
          <a:stretch>
            <a:fillRect/>
          </a:stretch>
        </p:blipFill>
        <p:spPr>
          <a:xfrm>
            <a:off x="6005830" y="2193290"/>
            <a:ext cx="4748530" cy="11398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2" name="文本框 1"/>
          <p:cNvSpPr txBox="1"/>
          <p:nvPr/>
        </p:nvSpPr>
        <p:spPr>
          <a:xfrm>
            <a:off x="725805" y="1478915"/>
            <a:ext cx="3315335" cy="398780"/>
          </a:xfrm>
          <a:prstGeom prst="rect">
            <a:avLst/>
          </a:prstGeom>
          <a:noFill/>
        </p:spPr>
        <p:txBody>
          <a:bodyPr wrap="square" rtlCol="0" anchor="t">
            <a:spAutoFit/>
          </a:bodyPr>
          <a:p>
            <a:r>
              <a:rPr sz="2000" dirty="0">
                <a:solidFill>
                  <a:schemeClr val="tx1"/>
                </a:solidFill>
                <a:latin typeface="微软雅黑" panose="020B0503020204020204" charset="-122"/>
                <a:ea typeface="微软雅黑" panose="020B0503020204020204" charset="-122"/>
                <a:sym typeface="+mn-ea"/>
              </a:rPr>
              <a:t>5、网格显示</a:t>
            </a:r>
            <a:r>
              <a:rPr lang="zh-CN" sz="2000" dirty="0">
                <a:solidFill>
                  <a:schemeClr val="tx1"/>
                </a:solidFill>
                <a:latin typeface="微软雅黑" panose="020B0503020204020204" charset="-122"/>
                <a:ea typeface="微软雅黑" panose="020B0503020204020204" charset="-122"/>
                <a:sym typeface="+mn-ea"/>
              </a:rPr>
              <a:t>（正在进行）</a:t>
            </a:r>
            <a:endParaRPr lang="zh-CN"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593090" y="1877695"/>
            <a:ext cx="2987675" cy="2584450"/>
          </a:xfrm>
          <a:prstGeom prst="rect">
            <a:avLst/>
          </a:prstGeom>
          <a:noFill/>
        </p:spPr>
        <p:txBody>
          <a:bodyPr wrap="square" rtlCol="0">
            <a:spAutoFit/>
          </a:bodyPr>
          <a:p>
            <a:pPr indent="457200" algn="just" fontAlgn="auto">
              <a:lnSpc>
                <a:spcPct val="150000"/>
              </a:lnSpc>
            </a:pPr>
            <a:r>
              <a:rPr lang="zh-CN" altLang="en-US"/>
              <a:t>读取生成网格文件并配置相关</a:t>
            </a:r>
            <a:r>
              <a:rPr lang="en-US" altLang="zh-CN"/>
              <a:t>vtk</a:t>
            </a:r>
            <a:r>
              <a:rPr lang="zh-CN" altLang="en-US"/>
              <a:t>显示文件并在三维网格显示窗口中显示。</a:t>
            </a:r>
            <a:endParaRPr lang="zh-CN" altLang="en-US"/>
          </a:p>
          <a:p>
            <a:pPr indent="457200" algn="just" fontAlgn="auto">
              <a:lnSpc>
                <a:spcPct val="150000"/>
              </a:lnSpc>
            </a:pPr>
            <a:r>
              <a:rPr lang="zh-CN" altLang="en-US">
                <a:sym typeface="+mn-ea"/>
              </a:rPr>
              <a:t>用户可通过鼠标拖动、缩放等操作在窗口中查看。</a:t>
            </a:r>
            <a:endParaRPr lang="zh-CN" altLang="en-US"/>
          </a:p>
          <a:p>
            <a:pPr indent="457200" fontAlgn="auto">
              <a:lnSpc>
                <a:spcPct val="150000"/>
              </a:lnSpc>
            </a:pPr>
            <a:endParaRPr lang="zh-CN" altLang="en-US"/>
          </a:p>
        </p:txBody>
      </p:sp>
      <p:pic>
        <p:nvPicPr>
          <p:cNvPr id="5" name="图片 4"/>
          <p:cNvPicPr>
            <a:picLocks noChangeAspect="1"/>
          </p:cNvPicPr>
          <p:nvPr/>
        </p:nvPicPr>
        <p:blipFill>
          <a:blip r:embed="rId1"/>
          <a:stretch>
            <a:fillRect/>
          </a:stretch>
        </p:blipFill>
        <p:spPr>
          <a:xfrm>
            <a:off x="3580765" y="2030095"/>
            <a:ext cx="8507095" cy="45891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2" name="文本框 1"/>
          <p:cNvSpPr txBox="1"/>
          <p:nvPr/>
        </p:nvSpPr>
        <p:spPr>
          <a:xfrm>
            <a:off x="725805" y="1478915"/>
            <a:ext cx="3315335" cy="398780"/>
          </a:xfrm>
          <a:prstGeom prst="rect">
            <a:avLst/>
          </a:prstGeom>
          <a:noFill/>
        </p:spPr>
        <p:txBody>
          <a:bodyPr wrap="square" rtlCol="0" anchor="t">
            <a:spAutoFit/>
          </a:bodyPr>
          <a:p>
            <a:r>
              <a:rPr sz="2000" dirty="0">
                <a:solidFill>
                  <a:schemeClr val="tx1"/>
                </a:solidFill>
                <a:latin typeface="微软雅黑" panose="020B0503020204020204" charset="-122"/>
                <a:ea typeface="微软雅黑" panose="020B0503020204020204" charset="-122"/>
                <a:sym typeface="+mn-ea"/>
              </a:rPr>
              <a:t>6、网格导出</a:t>
            </a:r>
            <a:r>
              <a:rPr lang="zh-CN" sz="2000" dirty="0">
                <a:solidFill>
                  <a:schemeClr val="tx1"/>
                </a:solidFill>
                <a:latin typeface="微软雅黑" panose="020B0503020204020204" charset="-122"/>
                <a:ea typeface="微软雅黑" panose="020B0503020204020204" charset="-122"/>
                <a:sym typeface="+mn-ea"/>
              </a:rPr>
              <a:t>（正在进行）</a:t>
            </a:r>
            <a:endParaRPr lang="zh-CN" sz="20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725805" y="1877695"/>
            <a:ext cx="3700780" cy="3415030"/>
          </a:xfrm>
          <a:prstGeom prst="rect">
            <a:avLst/>
          </a:prstGeom>
          <a:noFill/>
        </p:spPr>
        <p:txBody>
          <a:bodyPr wrap="square" rtlCol="0">
            <a:spAutoFit/>
          </a:bodyPr>
          <a:p>
            <a:pPr indent="457200" algn="just" fontAlgn="auto">
              <a:lnSpc>
                <a:spcPct val="150000"/>
              </a:lnSpc>
            </a:pPr>
            <a:r>
              <a:rPr lang="zh-CN" altLang="en-US">
                <a:sym typeface="+mn-ea"/>
              </a:rPr>
              <a:t>读取生成的网格文件并输出</a:t>
            </a:r>
            <a:r>
              <a:rPr lang="en-US" altLang="zh-CN">
                <a:sym typeface="+mn-ea"/>
              </a:rPr>
              <a:t>CGNS</a:t>
            </a:r>
            <a:r>
              <a:rPr lang="zh-CN" altLang="en-US">
                <a:sym typeface="+mn-ea"/>
              </a:rPr>
              <a:t>格式网格文件。</a:t>
            </a:r>
            <a:endParaRPr lang="zh-CN" altLang="en-US">
              <a:sym typeface="+mn-ea"/>
            </a:endParaRPr>
          </a:p>
          <a:p>
            <a:pPr indent="457200" algn="just" fontAlgn="auto">
              <a:lnSpc>
                <a:spcPct val="150000"/>
              </a:lnSpc>
            </a:pPr>
            <a:r>
              <a:rPr lang="zh-CN" altLang="en-US">
                <a:sym typeface="+mn-ea"/>
              </a:rPr>
              <a:t>目前已实现网格文件导入并输出为</a:t>
            </a:r>
            <a:r>
              <a:rPr lang="en-US" altLang="zh-CN">
                <a:sym typeface="+mn-ea"/>
              </a:rPr>
              <a:t>CGNS</a:t>
            </a:r>
            <a:r>
              <a:rPr lang="zh-CN" altLang="en-US">
                <a:sym typeface="+mn-ea"/>
              </a:rPr>
              <a:t>格式网格，导出的</a:t>
            </a:r>
            <a:r>
              <a:rPr lang="en-US" altLang="zh-CN">
                <a:sym typeface="+mn-ea"/>
              </a:rPr>
              <a:t>CGNS</a:t>
            </a:r>
            <a:r>
              <a:rPr lang="zh-CN" altLang="en-US">
                <a:sym typeface="+mn-ea"/>
              </a:rPr>
              <a:t>网格可正常在</a:t>
            </a:r>
            <a:r>
              <a:rPr lang="en-US" altLang="zh-CN">
                <a:sym typeface="+mn-ea"/>
              </a:rPr>
              <a:t>STAR- CCM 2022</a:t>
            </a:r>
            <a:r>
              <a:rPr lang="zh-CN" altLang="en-US">
                <a:sym typeface="+mn-ea"/>
              </a:rPr>
              <a:t>中正常导入并计算（仅验证网格合法性）。</a:t>
            </a:r>
            <a:endParaRPr lang="zh-CN" altLang="en-US">
              <a:sym typeface="+mn-ea"/>
            </a:endParaRPr>
          </a:p>
          <a:p>
            <a:pPr indent="457200" algn="just" fontAlgn="auto">
              <a:lnSpc>
                <a:spcPct val="150000"/>
              </a:lnSpc>
            </a:pPr>
            <a:endParaRPr lang="zh-CN" altLang="en-US">
              <a:sym typeface="+mn-ea"/>
            </a:endParaRPr>
          </a:p>
        </p:txBody>
      </p:sp>
      <p:pic>
        <p:nvPicPr>
          <p:cNvPr id="7" name="图片 6"/>
          <p:cNvPicPr>
            <a:picLocks noChangeAspect="1"/>
          </p:cNvPicPr>
          <p:nvPr/>
        </p:nvPicPr>
        <p:blipFill>
          <a:blip r:embed="rId1"/>
          <a:stretch>
            <a:fillRect/>
          </a:stretch>
        </p:blipFill>
        <p:spPr>
          <a:xfrm>
            <a:off x="4426585" y="1877695"/>
            <a:ext cx="7661275" cy="42157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2" name="文本框 1"/>
          <p:cNvSpPr txBox="1"/>
          <p:nvPr/>
        </p:nvSpPr>
        <p:spPr>
          <a:xfrm>
            <a:off x="725805" y="1478915"/>
            <a:ext cx="3315335" cy="398780"/>
          </a:xfrm>
          <a:prstGeom prst="rect">
            <a:avLst/>
          </a:prstGeom>
          <a:noFill/>
        </p:spPr>
        <p:txBody>
          <a:bodyPr wrap="square" rtlCol="0" anchor="t">
            <a:spAutoFit/>
          </a:bodyPr>
          <a:p>
            <a:r>
              <a:rPr sz="2000" dirty="0">
                <a:solidFill>
                  <a:schemeClr val="tx1"/>
                </a:solidFill>
                <a:latin typeface="微软雅黑" panose="020B0503020204020204" charset="-122"/>
                <a:ea typeface="微软雅黑" panose="020B0503020204020204" charset="-122"/>
                <a:sym typeface="+mn-ea"/>
              </a:rPr>
              <a:t>6、网格导出</a:t>
            </a:r>
            <a:r>
              <a:rPr lang="zh-CN" sz="2000" dirty="0">
                <a:solidFill>
                  <a:schemeClr val="tx1"/>
                </a:solidFill>
                <a:latin typeface="微软雅黑" panose="020B0503020204020204" charset="-122"/>
                <a:ea typeface="微软雅黑" panose="020B0503020204020204" charset="-122"/>
                <a:sym typeface="+mn-ea"/>
              </a:rPr>
              <a:t>（正在进行）</a:t>
            </a:r>
            <a:endParaRPr lang="zh-CN" sz="2000" dirty="0">
              <a:solidFill>
                <a:schemeClr val="tx1"/>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6624320" y="1877695"/>
            <a:ext cx="4711700" cy="4251325"/>
          </a:xfrm>
          <a:prstGeom prst="rect">
            <a:avLst/>
          </a:prstGeom>
        </p:spPr>
      </p:pic>
      <p:sp>
        <p:nvSpPr>
          <p:cNvPr id="6" name="文本框 5"/>
          <p:cNvSpPr txBox="1"/>
          <p:nvPr/>
        </p:nvSpPr>
        <p:spPr>
          <a:xfrm>
            <a:off x="725805" y="1982470"/>
            <a:ext cx="3886835" cy="3830955"/>
          </a:xfrm>
          <a:prstGeom prst="rect">
            <a:avLst/>
          </a:prstGeom>
          <a:noFill/>
        </p:spPr>
        <p:txBody>
          <a:bodyPr wrap="square" rtlCol="0" anchor="t">
            <a:spAutoFit/>
          </a:bodyPr>
          <a:p>
            <a:pPr indent="457200" algn="just" fontAlgn="auto">
              <a:lnSpc>
                <a:spcPct val="150000"/>
              </a:lnSpc>
            </a:pPr>
            <a:r>
              <a:rPr lang="en-US" altLang="zh-CN">
                <a:sym typeface="+mn-ea"/>
              </a:rPr>
              <a:t>STAR- CCM 2020</a:t>
            </a:r>
            <a:r>
              <a:rPr lang="zh-CN" altLang="en-US">
                <a:sym typeface="+mn-ea"/>
              </a:rPr>
              <a:t>中导入后网格内部面无法被正常识别和隐藏。</a:t>
            </a:r>
            <a:endParaRPr lang="zh-CN" altLang="en-US">
              <a:sym typeface="+mn-ea"/>
            </a:endParaRPr>
          </a:p>
          <a:p>
            <a:pPr indent="457200" algn="just" fontAlgn="auto">
              <a:lnSpc>
                <a:spcPct val="150000"/>
              </a:lnSpc>
            </a:pPr>
            <a:r>
              <a:rPr lang="zh-CN" altLang="en-US">
                <a:sym typeface="+mn-ea"/>
              </a:rPr>
              <a:t>可能原因：</a:t>
            </a:r>
            <a:endParaRPr lang="zh-CN" altLang="en-US">
              <a:sym typeface="+mn-ea"/>
            </a:endParaRPr>
          </a:p>
          <a:p>
            <a:pPr indent="457200" algn="just" fontAlgn="auto">
              <a:lnSpc>
                <a:spcPct val="150000"/>
              </a:lnSpc>
            </a:pPr>
            <a:r>
              <a:rPr lang="en-US" altLang="zh-CN">
                <a:sym typeface="+mn-ea"/>
              </a:rPr>
              <a:t>1.STAR- CCM 2020</a:t>
            </a:r>
            <a:r>
              <a:rPr lang="zh-CN" altLang="en-US">
                <a:sym typeface="+mn-ea"/>
              </a:rPr>
              <a:t>使用</a:t>
            </a:r>
            <a:r>
              <a:rPr lang="en-US" altLang="zh-CN">
                <a:sym typeface="+mn-ea"/>
              </a:rPr>
              <a:t>CGNS 3.2.1</a:t>
            </a:r>
            <a:r>
              <a:rPr lang="zh-CN" altLang="en-US">
                <a:sym typeface="+mn-ea"/>
              </a:rPr>
              <a:t>版本库，</a:t>
            </a:r>
            <a:r>
              <a:rPr lang="zh-CN" altLang="en-US" b="1">
                <a:sym typeface="+mn-ea"/>
              </a:rPr>
              <a:t>版本不匹配</a:t>
            </a:r>
            <a:r>
              <a:rPr lang="zh-CN" altLang="en-US">
                <a:sym typeface="+mn-ea"/>
              </a:rPr>
              <a:t>。后续编译低版本库尝试。</a:t>
            </a:r>
            <a:endParaRPr lang="zh-CN" altLang="en-US">
              <a:sym typeface="+mn-ea"/>
            </a:endParaRPr>
          </a:p>
          <a:p>
            <a:pPr indent="457200" algn="just" fontAlgn="auto">
              <a:lnSpc>
                <a:spcPct val="150000"/>
              </a:lnSpc>
            </a:pPr>
            <a:r>
              <a:rPr lang="en-US" altLang="zh-CN">
                <a:sym typeface="+mn-ea"/>
              </a:rPr>
              <a:t>2.STAR- CCM 2020</a:t>
            </a:r>
            <a:r>
              <a:rPr lang="zh-CN" altLang="en-US">
                <a:sym typeface="+mn-ea"/>
              </a:rPr>
              <a:t>对外部导入的</a:t>
            </a:r>
            <a:r>
              <a:rPr lang="en-US" altLang="zh-CN">
                <a:sym typeface="+mn-ea"/>
              </a:rPr>
              <a:t>CGNS</a:t>
            </a:r>
            <a:r>
              <a:rPr lang="zh-CN" altLang="en-US">
                <a:sym typeface="+mn-ea"/>
              </a:rPr>
              <a:t>格式多面体和多边形网格</a:t>
            </a:r>
            <a:r>
              <a:rPr lang="zh-CN" altLang="en-US" b="1">
                <a:sym typeface="+mn-ea"/>
              </a:rPr>
              <a:t>无法正确识别内部面</a:t>
            </a:r>
            <a:r>
              <a:rPr lang="zh-CN" altLang="en-US">
                <a:sym typeface="+mn-ea"/>
              </a:rPr>
              <a:t>。</a:t>
            </a:r>
            <a:endParaRPr lang="zh-CN" altLang="en-US">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725562" y="226090"/>
            <a:ext cx="10515600" cy="598370"/>
          </a:xfrm>
        </p:spPr>
        <p:txBody>
          <a:bodyPr/>
          <a:lstStyle/>
          <a:p>
            <a:r>
              <a:rPr sz="2000" b="0">
                <a:sym typeface="+mn-ea"/>
              </a:rPr>
              <a:t>上交船舶网格项目</a:t>
            </a:r>
            <a:endParaRPr lang="zh-CN" altLang="en-US" sz="2000" b="0" dirty="0"/>
          </a:p>
        </p:txBody>
      </p:sp>
      <p:sp>
        <p:nvSpPr>
          <p:cNvPr id="16" name="文本占位符 2"/>
          <p:cNvSpPr>
            <a:spLocks noGrp="1"/>
          </p:cNvSpPr>
          <p:nvPr/>
        </p:nvSpPr>
        <p:spPr>
          <a:xfrm>
            <a:off x="592951" y="716883"/>
            <a:ext cx="10648211" cy="834011"/>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n"/>
              <a:defRPr lang="zh-CN" altLang="en-US" sz="2400" b="1"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1pPr>
            <a:lvl2pPr marL="628650" indent="-171450" algn="l" defTabSz="914400" rtl="0" eaLnBrk="1" latinLnBrk="0" hangingPunct="1">
              <a:lnSpc>
                <a:spcPct val="90000"/>
              </a:lnSpc>
              <a:spcBef>
                <a:spcPts val="500"/>
              </a:spcBef>
              <a:buClr>
                <a:schemeClr val="accent2"/>
              </a:buClr>
              <a:buFont typeface="Wingdings" panose="05000000000000000000" pitchFamily="2" charset="2"/>
              <a:buChar char="u"/>
              <a:defRPr lang="zh-CN" altLang="en-US" sz="1400" b="0" kern="1200" baseline="0" dirty="0" smtClean="0">
                <a:solidFill>
                  <a:schemeClr val="tx1">
                    <a:lumMod val="75000"/>
                    <a:lumOff val="2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Ø"/>
              <a:defRPr lang="en-US" altLang="zh-CN" sz="1400" b="0" kern="1200" baseline="0" dirty="0">
                <a:solidFill>
                  <a:schemeClr val="tx1">
                    <a:lumMod val="75000"/>
                    <a:lumOff val="2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kumimoji="1" sz="2500" dirty="0"/>
              <a:t>二</a:t>
            </a:r>
            <a:r>
              <a:rPr kumimoji="1" lang="zh-CN" altLang="en-US" sz="2500" dirty="0"/>
              <a:t>、</a:t>
            </a:r>
            <a:r>
              <a:rPr kumimoji="1" sz="2500" dirty="0"/>
              <a:t>船舶非结构化多面体网格开发进展</a:t>
            </a:r>
            <a:endParaRPr kumimoji="1" sz="2500" dirty="0"/>
          </a:p>
        </p:txBody>
      </p:sp>
      <p:sp>
        <p:nvSpPr>
          <p:cNvPr id="8" name="文本框 7"/>
          <p:cNvSpPr txBox="1"/>
          <p:nvPr/>
        </p:nvSpPr>
        <p:spPr>
          <a:xfrm>
            <a:off x="593090" y="2175510"/>
            <a:ext cx="5753100" cy="3415030"/>
          </a:xfrm>
          <a:prstGeom prst="rect">
            <a:avLst/>
          </a:prstGeom>
          <a:noFill/>
        </p:spPr>
        <p:txBody>
          <a:bodyPr wrap="square" rtlCol="0" anchor="t">
            <a:spAutoFit/>
          </a:bodyPr>
          <a:p>
            <a:pPr marL="342900" indent="-342900" algn="just" fontAlgn="auto">
              <a:lnSpc>
                <a:spcPct val="150000"/>
              </a:lnSpc>
              <a:buFont typeface="+mj-lt"/>
              <a:buAutoNum type="arabicPeriod"/>
            </a:pPr>
            <a:r>
              <a:rPr>
                <a:sym typeface="+mn-ea"/>
              </a:rPr>
              <a:t>导入模型（已完成）</a:t>
            </a:r>
            <a:endParaRPr>
              <a:sym typeface="+mn-ea"/>
            </a:endParaRPr>
          </a:p>
          <a:p>
            <a:pPr marL="342900" indent="-342900" algn="just" fontAlgn="auto">
              <a:lnSpc>
                <a:spcPct val="150000"/>
              </a:lnSpc>
              <a:buFont typeface="+mj-lt"/>
              <a:buAutoNum type="arabicPeriod"/>
            </a:pPr>
            <a:r>
              <a:rPr>
                <a:sym typeface="+mn-ea"/>
              </a:rPr>
              <a:t>网格控制参数输入界面（正在进行）</a:t>
            </a:r>
            <a:endParaRPr>
              <a:sym typeface="+mn-ea"/>
            </a:endParaRPr>
          </a:p>
          <a:p>
            <a:pPr marL="342900" indent="-342900" algn="just" fontAlgn="auto">
              <a:lnSpc>
                <a:spcPct val="150000"/>
              </a:lnSpc>
              <a:buFont typeface="+mj-lt"/>
              <a:buAutoNum type="arabicPeriod"/>
            </a:pPr>
            <a:r>
              <a:rPr>
                <a:sym typeface="+mn-ea"/>
              </a:rPr>
              <a:t>配置网格参数控制文件（正在进行）</a:t>
            </a:r>
            <a:endParaRPr>
              <a:sym typeface="+mn-ea"/>
            </a:endParaRPr>
          </a:p>
          <a:p>
            <a:pPr marL="342900" indent="-342900" algn="just" fontAlgn="auto">
              <a:lnSpc>
                <a:spcPct val="150000"/>
              </a:lnSpc>
              <a:buFont typeface="+mj-lt"/>
              <a:buAutoNum type="arabicPeriod"/>
            </a:pPr>
            <a:r>
              <a:rPr>
                <a:sym typeface="+mn-ea"/>
              </a:rPr>
              <a:t>调用网格生成模块（基本完成）</a:t>
            </a:r>
            <a:endParaRPr>
              <a:sym typeface="+mn-ea"/>
            </a:endParaRPr>
          </a:p>
          <a:p>
            <a:pPr marL="342900" indent="-342900" algn="just" fontAlgn="auto">
              <a:lnSpc>
                <a:spcPct val="150000"/>
              </a:lnSpc>
              <a:buFont typeface="+mj-lt"/>
              <a:buAutoNum type="arabicPeriod"/>
            </a:pPr>
            <a:r>
              <a:rPr>
                <a:sym typeface="+mn-ea"/>
              </a:rPr>
              <a:t>网格显示（基本完成）</a:t>
            </a:r>
            <a:endParaRPr>
              <a:sym typeface="+mn-ea"/>
            </a:endParaRPr>
          </a:p>
          <a:p>
            <a:pPr marL="342900" indent="-342900" algn="just" fontAlgn="auto">
              <a:lnSpc>
                <a:spcPct val="150000"/>
              </a:lnSpc>
              <a:buFont typeface="+mj-lt"/>
              <a:buAutoNum type="arabicPeriod"/>
            </a:pPr>
            <a:r>
              <a:rPr>
                <a:sym typeface="+mn-ea"/>
              </a:rPr>
              <a:t>网格导出（基本完成）</a:t>
            </a:r>
            <a:endParaRPr>
              <a:sym typeface="+mn-ea"/>
            </a:endParaRPr>
          </a:p>
          <a:p>
            <a:pPr indent="457200" algn="just" fontAlgn="auto">
              <a:lnSpc>
                <a:spcPct val="150000"/>
              </a:lnSpc>
              <a:buFont typeface="+mj-lt"/>
              <a:buNone/>
            </a:pPr>
            <a:r>
              <a:rPr lang="zh-CN">
                <a:sym typeface="+mn-ea"/>
              </a:rPr>
              <a:t>后续先完成网格生成过程</a:t>
            </a:r>
            <a:r>
              <a:rPr lang="zh-CN" b="1">
                <a:sym typeface="+mn-ea"/>
              </a:rPr>
              <a:t>全流程</a:t>
            </a:r>
            <a:r>
              <a:rPr lang="zh-CN">
                <a:sym typeface="+mn-ea"/>
              </a:rPr>
              <a:t>开发，再针对各个</a:t>
            </a:r>
            <a:r>
              <a:rPr lang="zh-CN" b="1">
                <a:sym typeface="+mn-ea"/>
              </a:rPr>
              <a:t>功能细节</a:t>
            </a:r>
            <a:r>
              <a:rPr lang="zh-CN">
                <a:sym typeface="+mn-ea"/>
              </a:rPr>
              <a:t>进行开发。</a:t>
            </a:r>
            <a:endParaRPr lang="zh-CN">
              <a:sym typeface="+mn-ea"/>
            </a:endParaRPr>
          </a:p>
        </p:txBody>
      </p:sp>
      <p:sp>
        <p:nvSpPr>
          <p:cNvPr id="2" name="文本框 1"/>
          <p:cNvSpPr txBox="1"/>
          <p:nvPr/>
        </p:nvSpPr>
        <p:spPr>
          <a:xfrm>
            <a:off x="725805" y="1478915"/>
            <a:ext cx="3315335" cy="398780"/>
          </a:xfrm>
          <a:prstGeom prst="rect">
            <a:avLst/>
          </a:prstGeom>
          <a:noFill/>
        </p:spPr>
        <p:txBody>
          <a:bodyPr wrap="square" rtlCol="0" anchor="t">
            <a:spAutoFit/>
          </a:bodyPr>
          <a:p>
            <a:r>
              <a:rPr lang="en-US" sz="2000" dirty="0">
                <a:solidFill>
                  <a:schemeClr val="tx1"/>
                </a:solidFill>
                <a:latin typeface="微软雅黑" panose="020B0503020204020204" charset="-122"/>
                <a:ea typeface="微软雅黑" panose="020B0503020204020204" charset="-122"/>
                <a:sym typeface="+mn-ea"/>
              </a:rPr>
              <a:t>7</a:t>
            </a:r>
            <a:r>
              <a:rPr sz="2000" dirty="0">
                <a:solidFill>
                  <a:schemeClr val="tx1"/>
                </a:solidFill>
                <a:latin typeface="微软雅黑" panose="020B0503020204020204" charset="-122"/>
                <a:ea typeface="微软雅黑" panose="020B0503020204020204" charset="-122"/>
                <a:sym typeface="+mn-ea"/>
              </a:rPr>
              <a:t>、</a:t>
            </a:r>
            <a:r>
              <a:rPr lang="zh-CN" sz="2000" dirty="0">
                <a:solidFill>
                  <a:schemeClr val="tx1"/>
                </a:solidFill>
                <a:latin typeface="微软雅黑" panose="020B0503020204020204" charset="-122"/>
                <a:ea typeface="微软雅黑" panose="020B0503020204020204" charset="-122"/>
                <a:sym typeface="+mn-ea"/>
              </a:rPr>
              <a:t>后续工作</a:t>
            </a:r>
            <a:endParaRPr lang="zh-CN" sz="20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COMMONDATA" val="eyJoZGlkIjoiYzI0ZDdjNWFkY2Q3YWIxN2Y5NDIwNTNjZmUxNGMwNj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2234</Words>
  <Application>WPS 演示</Application>
  <PresentationFormat>宽屏</PresentationFormat>
  <Paragraphs>218</Paragraphs>
  <Slides>22</Slides>
  <Notes>23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宋体</vt:lpstr>
      <vt:lpstr>Wingdings</vt:lpstr>
      <vt:lpstr>微软雅黑</vt:lpstr>
      <vt:lpstr>Impact</vt:lpstr>
      <vt:lpstr>Calibri</vt:lpstr>
      <vt:lpstr>Arial Unicode MS</vt:lpstr>
      <vt:lpstr>Calibri</vt:lpstr>
      <vt:lpstr>Office 主题</vt:lpstr>
      <vt:lpstr>PowerPoint 演示文稿</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lpstr>上交船舶网格项目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jingjing</dc:creator>
  <cp:lastModifiedBy>饱得打嗝</cp:lastModifiedBy>
  <cp:revision>611</cp:revision>
  <dcterms:created xsi:type="dcterms:W3CDTF">2015-05-05T08:02:00Z</dcterms:created>
  <dcterms:modified xsi:type="dcterms:W3CDTF">2024-04-15T08:54:44Z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995227C12E32493E9A0D6F80B24413C6</vt:lpwstr>
  </property>
</Properties>
</file>